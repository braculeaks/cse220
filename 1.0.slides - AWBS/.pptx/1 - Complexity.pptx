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y="6858000" cx="12192000"/>
  <p:notesSz cx="6858000" cy="9144000"/>
  <p:embeddedFontLst>
    <p:embeddedFont>
      <p:font typeface="Century Schoolbook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CenturySchoolbook-italic.fntdata"/><Relationship Id="rId72" Type="http://schemas.openxmlformats.org/officeDocument/2006/relationships/font" Target="fonts/CenturySchoolbook-bold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schemas.openxmlformats.org/officeDocument/2006/relationships/font" Target="fonts/CenturySchoolbook-bold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CenturySchoolbook-regular.fntdata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ffe3e87b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ffe3e8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02934c4c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02934c4c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040ef4917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040ef491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040ef4917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040ef491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040ef4917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040ef491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02adcd3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02adcd3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02adcd36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02adcd3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02934c4c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02934c4c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040ef4917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040ef491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040ef4917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040ef4917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40ef4917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040ef4917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040ef4917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040ef491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040ef4917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040ef491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040ef491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040ef49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040ef4917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040ef491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040ef491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040ef49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040ef4917_0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040ef4917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040ef491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040ef49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040ef4917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040ef491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040ef4917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040ef491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040ef4917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040ef491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040ef4917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040ef491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040ef4917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3040ef491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040ef4917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040ef491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040ef4917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040ef491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040ef4917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040ef491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040ef4917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3040ef491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040ef4917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040ef491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3040ef4917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3040ef491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040ef4917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040ef491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040ef4917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3040ef491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3040ef4917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3040ef491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3040ef4917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3040ef49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3040ef4917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3040ef491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3040ef491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3040ef491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040ef4917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3040ef491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040ef4917_0_4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3040ef4917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3040ef4917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3040ef491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3040ef4917_0_5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3040ef4917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040ef4917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3040ef491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3040ef4917_0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3040ef491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040ef4917_0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3040ef4917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3040ef4917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3040ef491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3040ef4917_0_5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3040ef491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3040ef4917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3040ef49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040ef4917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3040ef4917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3040ef4917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3040ef491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3040ef4917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3040ef491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3040ef4917_0_5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3040ef4917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040ef4917_0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040ef4917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3040ef4917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3040ef491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3040ef4917_0_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3040ef491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3040ef4917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3040ef491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3040ef4917_0_5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3040ef4917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3040ef4917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3040ef491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3040ef4917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3040ef491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3040ef4917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3040ef4917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3040ef4917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3040ef4917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3040ef4917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3040ef491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3040ef4917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3040ef491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302adcd36f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302adcd36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3040ef4917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3040ef491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3040ef4917_0_5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3040ef4917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3040ef4917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3040ef4917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302934c4c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302934c4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-4175" y="650109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Relationship Id="rId4" Type="http://schemas.openxmlformats.org/officeDocument/2006/relationships/image" Target="../media/image52.png"/><Relationship Id="rId5" Type="http://schemas.openxmlformats.org/officeDocument/2006/relationships/hyperlink" Target="https://algs4.cs.princeton.edu/lectures/demo/14DemoBinarySearch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Relationship Id="rId4" Type="http://schemas.openxmlformats.org/officeDocument/2006/relationships/hyperlink" Target="https://algs4.cs.princeton.edu/lectures/demo/14DemoBinarySearch.pdf" TargetMode="External"/><Relationship Id="rId5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2.png"/><Relationship Id="rId4" Type="http://schemas.openxmlformats.org/officeDocument/2006/relationships/hyperlink" Target="https://algs4.cs.princeton.edu/lectures/demo/14DemoBinarySearch.pdf" TargetMode="External"/><Relationship Id="rId5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Relationship Id="rId4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Relationship Id="rId4" Type="http://schemas.openxmlformats.org/officeDocument/2006/relationships/image" Target="../media/image1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8.png"/><Relationship Id="rId4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Relationship Id="rId4" Type="http://schemas.openxmlformats.org/officeDocument/2006/relationships/image" Target="../media/image1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Introduction to Time and Space Complexity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4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Topics to Review</a:t>
            </a:r>
            <a:endParaRPr/>
          </a:p>
        </p:txBody>
      </p:sp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838200" y="1825625"/>
            <a:ext cx="10515600" cy="4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Declaration, initialization, and traversal.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Insertion, deletion, and updating elements.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Searching (Linear Search).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Sorting (Bubble Sort, Selection Sort, Insertion Sort).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Declaration, initialization, and traversal.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Row-major and column-major storage.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Common operations (matrix addition, multiplication, transpose).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Pointers (Optional but Useful) – Understanding array-pointer relationship for dynamic memory allocation.</a:t>
            </a:r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450" y="1226375"/>
            <a:ext cx="3147875" cy="32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994175" y="3289075"/>
            <a:ext cx="10515600" cy="260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994175" y="3712425"/>
            <a:ext cx="10515600" cy="217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994175" y="5012650"/>
            <a:ext cx="10515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Code Runs Faster?</a:t>
            </a:r>
            <a:endParaRPr/>
          </a:p>
        </p:txBody>
      </p: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00" y="2640300"/>
            <a:ext cx="4724400" cy="2200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000" y="2221200"/>
            <a:ext cx="6096000" cy="3038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250" y="1779240"/>
            <a:ext cx="987050" cy="9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Code Runs Faster?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2960" y="5432882"/>
            <a:ext cx="1046925" cy="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1725" y="5432875"/>
            <a:ext cx="987050" cy="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300" y="2640300"/>
            <a:ext cx="4724400" cy="2200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1000" y="2221200"/>
            <a:ext cx="6096000" cy="3038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994175" y="2381925"/>
            <a:ext cx="10515600" cy="350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994175" y="3243725"/>
            <a:ext cx="10515600" cy="26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>
            <a:off x="994175" y="4165975"/>
            <a:ext cx="10515600" cy="17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994175" y="5012650"/>
            <a:ext cx="10515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32" name="Google Shape;2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600263"/>
            <a:ext cx="5981700" cy="126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150" y="2600263"/>
            <a:ext cx="5981700" cy="126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575" y="1925638"/>
            <a:ext cx="4657725" cy="2238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139" y="1836462"/>
            <a:ext cx="5800872" cy="2794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3" name="Google Shape;2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139" y="1836462"/>
            <a:ext cx="5800872" cy="2794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2" name="Google Shape;282;p30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 rot="-1629975">
            <a:off x="8680081" y="1149253"/>
            <a:ext cx="3171008" cy="9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only consider the worst-case scenario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463425" y="2234050"/>
            <a:ext cx="3368850" cy="511350"/>
          </a:xfrm>
          <a:custGeom>
            <a:rect b="b" l="l" r="r" t="t"/>
            <a:pathLst>
              <a:path extrusionOk="0" h="20454" w="134754">
                <a:moveTo>
                  <a:pt x="134754" y="0"/>
                </a:moveTo>
                <a:cubicBezTo>
                  <a:pt x="132649" y="2005"/>
                  <a:pt x="132248" y="8823"/>
                  <a:pt x="122121" y="12031"/>
                </a:cubicBezTo>
                <a:cubicBezTo>
                  <a:pt x="111994" y="15239"/>
                  <a:pt x="94348" y="17846"/>
                  <a:pt x="73994" y="19250"/>
                </a:cubicBezTo>
                <a:cubicBezTo>
                  <a:pt x="53641" y="20654"/>
                  <a:pt x="12332" y="20253"/>
                  <a:pt x="0" y="2045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id="285" name="Google Shape;2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100" y="1690825"/>
            <a:ext cx="4887626" cy="2526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5" name="Google Shape;2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3809075" y="5201025"/>
            <a:ext cx="491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Why n*n instead of n+n?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100" y="1690825"/>
            <a:ext cx="4887626" cy="2526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6" name="Google Shape;30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13" name="Google Shape;313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14" name="Google Shape;314;p33"/>
          <p:cNvSpPr/>
          <p:nvPr/>
        </p:nvSpPr>
        <p:spPr>
          <a:xfrm>
            <a:off x="760075" y="2880875"/>
            <a:ext cx="10416900" cy="15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22" name="Google Shape;322;p34"/>
          <p:cNvSpPr/>
          <p:nvPr/>
        </p:nvSpPr>
        <p:spPr>
          <a:xfrm flipH="1" rot="10800000">
            <a:off x="760075" y="3818325"/>
            <a:ext cx="10416900" cy="54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29" name="Google Shape;329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sometimes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30" name="Google Shape;330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pic>
        <p:nvPicPr>
          <p:cNvPr id="336" name="Google Shape;3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63" y="1445775"/>
            <a:ext cx="10729027" cy="51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pic>
        <p:nvPicPr>
          <p:cNvPr id="344" name="Google Shape;3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63" y="1445775"/>
            <a:ext cx="10729027" cy="51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7"/>
          <p:cNvSpPr/>
          <p:nvPr/>
        </p:nvSpPr>
        <p:spPr>
          <a:xfrm>
            <a:off x="1540524" y="1669039"/>
            <a:ext cx="676500" cy="876050"/>
          </a:xfrm>
          <a:custGeom>
            <a:rect b="b" l="l" r="r" t="t"/>
            <a:pathLst>
              <a:path extrusionOk="0" h="35042" w="27060">
                <a:moveTo>
                  <a:pt x="3544" y="5491"/>
                </a:moveTo>
                <a:cubicBezTo>
                  <a:pt x="0" y="7854"/>
                  <a:pt x="0" y="10069"/>
                  <a:pt x="0" y="14795"/>
                </a:cubicBezTo>
                <a:cubicBezTo>
                  <a:pt x="0" y="19521"/>
                  <a:pt x="148" y="31113"/>
                  <a:pt x="3544" y="33845"/>
                </a:cubicBezTo>
                <a:cubicBezTo>
                  <a:pt x="6941" y="36577"/>
                  <a:pt x="16466" y="33844"/>
                  <a:pt x="20379" y="31186"/>
                </a:cubicBezTo>
                <a:cubicBezTo>
                  <a:pt x="24292" y="28528"/>
                  <a:pt x="26876" y="22991"/>
                  <a:pt x="27024" y="17896"/>
                </a:cubicBezTo>
                <a:cubicBezTo>
                  <a:pt x="27172" y="12801"/>
                  <a:pt x="25178" y="2686"/>
                  <a:pt x="21265" y="618"/>
                </a:cubicBezTo>
                <a:cubicBezTo>
                  <a:pt x="17352" y="-1449"/>
                  <a:pt x="7088" y="3128"/>
                  <a:pt x="3544" y="5491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37"/>
          <p:cNvSpPr txBox="1"/>
          <p:nvPr/>
        </p:nvSpPr>
        <p:spPr>
          <a:xfrm rot="-2339473">
            <a:off x="1476293" y="2591575"/>
            <a:ext cx="2924184" cy="831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constants become insignificant as x grows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37"/>
          <p:cNvCxnSpPr>
            <a:stCxn id="346" idx="0"/>
          </p:cNvCxnSpPr>
          <p:nvPr/>
        </p:nvCxnSpPr>
        <p:spPr>
          <a:xfrm rot="10800000">
            <a:off x="2238335" y="2337906"/>
            <a:ext cx="438600" cy="3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37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scaled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438716"/>
            <a:ext cx="10934700" cy="5222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sp>
        <p:nvSpPr>
          <p:cNvPr id="356" name="Google Shape;356;p38"/>
          <p:cNvSpPr/>
          <p:nvPr/>
        </p:nvSpPr>
        <p:spPr>
          <a:xfrm>
            <a:off x="1449749" y="1764139"/>
            <a:ext cx="676500" cy="876050"/>
          </a:xfrm>
          <a:custGeom>
            <a:rect b="b" l="l" r="r" t="t"/>
            <a:pathLst>
              <a:path extrusionOk="0" h="35042" w="27060">
                <a:moveTo>
                  <a:pt x="3544" y="5491"/>
                </a:moveTo>
                <a:cubicBezTo>
                  <a:pt x="0" y="7854"/>
                  <a:pt x="0" y="10069"/>
                  <a:pt x="0" y="14795"/>
                </a:cubicBezTo>
                <a:cubicBezTo>
                  <a:pt x="0" y="19521"/>
                  <a:pt x="148" y="31113"/>
                  <a:pt x="3544" y="33845"/>
                </a:cubicBezTo>
                <a:cubicBezTo>
                  <a:pt x="6941" y="36577"/>
                  <a:pt x="16466" y="33844"/>
                  <a:pt x="20379" y="31186"/>
                </a:cubicBezTo>
                <a:cubicBezTo>
                  <a:pt x="24292" y="28528"/>
                  <a:pt x="26876" y="22991"/>
                  <a:pt x="27024" y="17896"/>
                </a:cubicBezTo>
                <a:cubicBezTo>
                  <a:pt x="27172" y="12801"/>
                  <a:pt x="25178" y="2686"/>
                  <a:pt x="21265" y="618"/>
                </a:cubicBezTo>
                <a:cubicBezTo>
                  <a:pt x="17352" y="-1449"/>
                  <a:pt x="7088" y="3128"/>
                  <a:pt x="3544" y="5491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7" name="Google Shape;357;p38"/>
          <p:cNvSpPr txBox="1"/>
          <p:nvPr/>
        </p:nvSpPr>
        <p:spPr>
          <a:xfrm rot="-2339473">
            <a:off x="1476293" y="2591575"/>
            <a:ext cx="2924184" cy="831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constants become insignificant as x grows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38"/>
          <p:cNvCxnSpPr>
            <a:stCxn id="357" idx="0"/>
          </p:cNvCxnSpPr>
          <p:nvPr/>
        </p:nvCxnSpPr>
        <p:spPr>
          <a:xfrm rot="10800000">
            <a:off x="2136035" y="2442306"/>
            <a:ext cx="540900" cy="2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38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</a:t>
            </a:r>
            <a:r>
              <a:rPr lang="en-US"/>
              <a:t>order of growth</a:t>
            </a:r>
            <a:r>
              <a:rPr lang="en-US"/>
              <a:t>?</a:t>
            </a:r>
            <a:endParaRPr/>
          </a:p>
        </p:txBody>
      </p:sp>
      <p:sp>
        <p:nvSpPr>
          <p:cNvPr id="366" name="Google Shape;366;p39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150" y="2600263"/>
            <a:ext cx="5981700" cy="126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376" name="Google Shape;376;p40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0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0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144" y="5350818"/>
            <a:ext cx="6477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5150" y="2600263"/>
            <a:ext cx="5981700" cy="126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2" name="Google Shape;382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388" name="Google Shape;388;p41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1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	→ Constant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144" y="5350818"/>
            <a:ext cx="6477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5150" y="2600263"/>
            <a:ext cx="5981700" cy="126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4" name="Google Shape;394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00" name="Google Shape;400;p42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2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575" y="1925638"/>
            <a:ext cx="4657725" cy="2238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3" name="Google Shape;40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10" name="Google Shape;410;p43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3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			→ Linear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025" y="5363164"/>
            <a:ext cx="6762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5575" y="1925638"/>
            <a:ext cx="4657725" cy="2238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5" name="Google Shape;41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22" name="Google Shape;422;p44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139" y="1836462"/>
            <a:ext cx="5800872" cy="2794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5" name="Google Shape;42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025" y="5972764"/>
            <a:ext cx="6762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5"/>
          <p:cNvSpPr txBox="1"/>
          <p:nvPr/>
        </p:nvSpPr>
        <p:spPr>
          <a:xfrm>
            <a:off x="1803300" y="58188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			→ Linear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1139" y="1836462"/>
            <a:ext cx="5800872" cy="2794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7" name="Google Shape;43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44" name="Google Shape;444;p46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100" y="1690825"/>
            <a:ext cx="4887626" cy="2526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7" name="Google Shape;44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54" name="Google Shape;454;p47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7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263" y="5939199"/>
            <a:ext cx="781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7"/>
          <p:cNvSpPr txBox="1"/>
          <p:nvPr/>
        </p:nvSpPr>
        <p:spPr>
          <a:xfrm>
            <a:off x="1803300" y="58188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	→ Quadratic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100" y="1690825"/>
            <a:ext cx="4887626" cy="2526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9" name="Google Shape;45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So...What Should We </a:t>
            </a:r>
            <a:r>
              <a:rPr lang="en-US"/>
              <a:t>Prefer</a:t>
            </a:r>
            <a:r>
              <a:rPr lang="en-US"/>
              <a:t>?</a:t>
            </a:r>
            <a:endParaRPr/>
          </a:p>
        </p:txBody>
      </p:sp>
      <p:pic>
        <p:nvPicPr>
          <p:cNvPr id="466" name="Google Shape;46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75" y="1541225"/>
            <a:ext cx="6865176" cy="48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246" y="1972925"/>
            <a:ext cx="3770956" cy="396422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74" name="Google Shape;474;p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</a:t>
            </a:r>
            <a:r>
              <a:rPr lang="en-US"/>
              <a:t>(the order of growth)</a:t>
            </a:r>
            <a:r>
              <a:rPr lang="en-US"/>
              <a:t>?</a:t>
            </a:r>
            <a:endParaRPr/>
          </a:p>
        </p:txBody>
      </p:sp>
      <p:pic>
        <p:nvPicPr>
          <p:cNvPr id="475" name="Google Shape;4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6" name="Google Shape;476;p49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9"/>
          <p:cNvSpPr/>
          <p:nvPr/>
        </p:nvSpPr>
        <p:spPr>
          <a:xfrm>
            <a:off x="2181275" y="3198375"/>
            <a:ext cx="6743100" cy="334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85" name="Google Shape;485;p5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(the order of growth)?</a:t>
            </a:r>
            <a:endParaRPr/>
          </a:p>
        </p:txBody>
      </p:sp>
      <p:sp>
        <p:nvSpPr>
          <p:cNvPr id="486" name="Google Shape;486;p50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0"/>
          <p:cNvSpPr/>
          <p:nvPr/>
        </p:nvSpPr>
        <p:spPr>
          <a:xfrm>
            <a:off x="2181275" y="5572050"/>
            <a:ext cx="6743100" cy="97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050" y="3650563"/>
            <a:ext cx="6667500" cy="2314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0" name="Google Shape;490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96" name="Google Shape;496;p5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</a:t>
            </a:r>
            <a:r>
              <a:rPr lang="en-US"/>
              <a:t>(the order of growth)</a:t>
            </a:r>
            <a:r>
              <a:rPr lang="en-US"/>
              <a:t>?</a:t>
            </a:r>
            <a:endParaRPr/>
          </a:p>
        </p:txBody>
      </p:sp>
      <p:sp>
        <p:nvSpPr>
          <p:cNvPr id="497" name="Google Shape;497;p51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8" name="Google Shape;49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050" y="3650563"/>
            <a:ext cx="6667500" cy="2314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0" name="Google Shape;500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06" name="Google Shape;506;p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(the order of growth)?</a:t>
            </a:r>
            <a:endParaRPr/>
          </a:p>
        </p:txBody>
      </p:sp>
      <p:sp>
        <p:nvSpPr>
          <p:cNvPr id="507" name="Google Shape;507;p52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2"/>
          <p:cNvSpPr txBox="1"/>
          <p:nvPr/>
        </p:nvSpPr>
        <p:spPr>
          <a:xfrm>
            <a:off x="7548850" y="5965150"/>
            <a:ext cx="4199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O(n)? Why not O(1) when the target is at arr[0]?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050" y="3650563"/>
            <a:ext cx="6667500" cy="2314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1" name="Google Shape;511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17" name="Google Shape;517;p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18" name="Google Shape;518;p53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space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0" name="Google Shape;52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3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3"/>
          <p:cNvSpPr/>
          <p:nvPr/>
        </p:nvSpPr>
        <p:spPr>
          <a:xfrm>
            <a:off x="2181275" y="2276100"/>
            <a:ext cx="9324300" cy="42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29" name="Google Shape;529;p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30" name="Google Shape;530;p54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space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4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4"/>
          <p:cNvSpPr/>
          <p:nvPr/>
        </p:nvSpPr>
        <p:spPr>
          <a:xfrm>
            <a:off x="2332450" y="6038050"/>
            <a:ext cx="9324300" cy="61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8800" y="2590000"/>
            <a:ext cx="6553200" cy="3448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5" name="Google Shape;535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41" name="Google Shape;541;p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42" name="Google Shape;542;p55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5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8800" y="2590000"/>
            <a:ext cx="6553200" cy="3448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6" name="Google Shape;546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the Impact!</a:t>
            </a:r>
            <a:endParaRPr/>
          </a:p>
        </p:txBody>
      </p:sp>
      <p:pic>
        <p:nvPicPr>
          <p:cNvPr id="552" name="Google Shape;55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25" y="1690825"/>
            <a:ext cx="10791961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the Impact!</a:t>
            </a:r>
            <a:endParaRPr/>
          </a:p>
        </p:txBody>
      </p:sp>
      <p:pic>
        <p:nvPicPr>
          <p:cNvPr id="559" name="Google Shape;5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425" y="1863150"/>
            <a:ext cx="8691149" cy="45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66" name="Google Shape;566;p58"/>
          <p:cNvSpPr txBox="1"/>
          <p:nvPr>
            <p:ph idx="1" type="body"/>
          </p:nvPr>
        </p:nvSpPr>
        <p:spPr>
          <a:xfrm>
            <a:off x="838200" y="1523225"/>
            <a:ext cx="10515600" cy="1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What about 2D matrix multiplication?</a:t>
            </a:r>
            <a:endParaRPr sz="2600"/>
          </a:p>
        </p:txBody>
      </p:sp>
      <p:pic>
        <p:nvPicPr>
          <p:cNvPr id="567" name="Google Shape;5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450" y="2121700"/>
            <a:ext cx="5100475" cy="4508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8" name="Google Shape;568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74" name="Google Shape;574;p59"/>
          <p:cNvSpPr txBox="1"/>
          <p:nvPr>
            <p:ph idx="1" type="body"/>
          </p:nvPr>
        </p:nvSpPr>
        <p:spPr>
          <a:xfrm>
            <a:off x="838200" y="1523225"/>
            <a:ext cx="10515600" cy="1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What about 2D matrix multiplication?</a:t>
            </a:r>
            <a:endParaRPr sz="2600"/>
          </a:p>
        </p:txBody>
      </p:sp>
      <p:sp>
        <p:nvSpPr>
          <p:cNvPr id="575" name="Google Shape;575;p59"/>
          <p:cNvSpPr txBox="1"/>
          <p:nvPr/>
        </p:nvSpPr>
        <p:spPr>
          <a:xfrm>
            <a:off x="8501000" y="2911100"/>
            <a:ext cx="333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7723" y="2990300"/>
            <a:ext cx="781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4646" y="3561221"/>
            <a:ext cx="2621500" cy="299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4450" y="2121700"/>
            <a:ext cx="5100475" cy="4508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9" name="Google Shape;579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585" name="Google Shape;585;p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</a:t>
            </a:r>
            <a:r>
              <a:rPr lang="en-US"/>
              <a:t>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</a:t>
            </a:r>
            <a:r>
              <a:rPr lang="en-US"/>
              <a:t>00000</a:t>
            </a:r>
            <a:r>
              <a:rPr lang="en-US"/>
              <a:t>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586" name="Google Shape;58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0"/>
          <p:cNvSpPr/>
          <p:nvPr/>
        </p:nvSpPr>
        <p:spPr>
          <a:xfrm>
            <a:off x="926375" y="2805275"/>
            <a:ext cx="9283200" cy="160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595" name="Google Shape;595;p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596" name="Google Shape;5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1"/>
          <p:cNvSpPr/>
          <p:nvPr/>
        </p:nvSpPr>
        <p:spPr>
          <a:xfrm>
            <a:off x="3708300" y="3304200"/>
            <a:ext cx="6413400" cy="10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605" name="Google Shape;605;p6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606" name="Google Shape;60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2"/>
          <p:cNvSpPr/>
          <p:nvPr/>
        </p:nvSpPr>
        <p:spPr>
          <a:xfrm>
            <a:off x="5958100" y="3304200"/>
            <a:ext cx="4163700" cy="10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615" name="Google Shape;615;p6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616" name="Google Shape;61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24" name="Google Shape;624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25" name="Google Shape;625;p64"/>
          <p:cNvSpPr/>
          <p:nvPr/>
        </p:nvSpPr>
        <p:spPr>
          <a:xfrm>
            <a:off x="1425325" y="2381925"/>
            <a:ext cx="9570300" cy="224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32" name="Google Shape;632;p6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33" name="Google Shape;633;p65"/>
          <p:cNvSpPr/>
          <p:nvPr/>
        </p:nvSpPr>
        <p:spPr>
          <a:xfrm>
            <a:off x="1425325" y="3304125"/>
            <a:ext cx="9570300" cy="13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40" name="Google Shape;640;p6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41" name="Google Shape;641;p66"/>
          <p:cNvSpPr/>
          <p:nvPr/>
        </p:nvSpPr>
        <p:spPr>
          <a:xfrm>
            <a:off x="2952325" y="3546125"/>
            <a:ext cx="4067100" cy="111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48" name="Google Shape;648;p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49" name="Google Shape;649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Complexity vs Space Complexity</a:t>
            </a:r>
            <a:endParaRPr/>
          </a:p>
        </p:txBody>
      </p:sp>
      <p:sp>
        <p:nvSpPr>
          <p:cNvPr id="655" name="Google Shape;655;p6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Time Complexity: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how fast an algorithm runs.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Space Complexity: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how much memory an algorithm uses.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Trade-Off: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Sometimes, you can save time by using more memory, or save memory by using more time.</a:t>
            </a:r>
            <a:endParaRPr/>
          </a:p>
        </p:txBody>
      </p:sp>
      <p:pic>
        <p:nvPicPr>
          <p:cNvPr id="656" name="Google Shape;65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550" y="1384075"/>
            <a:ext cx="3117950" cy="27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8"/>
          <p:cNvSpPr txBox="1"/>
          <p:nvPr/>
        </p:nvSpPr>
        <p:spPr>
          <a:xfrm>
            <a:off x="8704550" y="3045600"/>
            <a:ext cx="1013100" cy="61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7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8"/>
          <p:cNvSpPr txBox="1"/>
          <p:nvPr/>
        </p:nvSpPr>
        <p:spPr>
          <a:xfrm>
            <a:off x="10232775" y="3258475"/>
            <a:ext cx="1246800" cy="61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7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665" name="Google Shape;6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075" y="1690825"/>
            <a:ext cx="8162925" cy="3752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6" name="Google Shape;666;p69"/>
          <p:cNvSpPr txBox="1"/>
          <p:nvPr/>
        </p:nvSpPr>
        <p:spPr>
          <a:xfrm>
            <a:off x="1677138" y="5783375"/>
            <a:ext cx="866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matter if we are using a loop to initialize the array or not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Pitfall</a:t>
            </a:r>
            <a:endParaRPr/>
          </a:p>
        </p:txBody>
      </p:sp>
      <p:sp>
        <p:nvSpPr>
          <p:cNvPr id="673" name="Google Shape;673;p70"/>
          <p:cNvSpPr txBox="1"/>
          <p:nvPr/>
        </p:nvSpPr>
        <p:spPr>
          <a:xfrm>
            <a:off x="1356426" y="2290763"/>
            <a:ext cx="93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concatenation may not be constant as we might think!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3693175" y="4559075"/>
            <a:ext cx="6990600" cy="37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5" name="Google Shape;67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525" y="3506325"/>
            <a:ext cx="6688951" cy="2305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6" name="Google Shape;676;p70"/>
          <p:cNvSpPr/>
          <p:nvPr/>
        </p:nvSpPr>
        <p:spPr>
          <a:xfrm>
            <a:off x="6801950" y="4189175"/>
            <a:ext cx="1473900" cy="30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70"/>
          <p:cNvSpPr/>
          <p:nvPr/>
        </p:nvSpPr>
        <p:spPr>
          <a:xfrm>
            <a:off x="4924025" y="4508825"/>
            <a:ext cx="4043700" cy="30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Pitfall</a:t>
            </a:r>
            <a:endParaRPr/>
          </a:p>
        </p:txBody>
      </p:sp>
      <p:sp>
        <p:nvSpPr>
          <p:cNvPr id="684" name="Google Shape;684;p71"/>
          <p:cNvSpPr txBox="1"/>
          <p:nvPr/>
        </p:nvSpPr>
        <p:spPr>
          <a:xfrm>
            <a:off x="1356426" y="2290763"/>
            <a:ext cx="93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concatenation may not be constant as we might think!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5" name="Google Shape;68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525" y="3506325"/>
            <a:ext cx="6688951" cy="2305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6" name="Google Shape;686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Common Order of Growth Functions</a:t>
            </a:r>
            <a:endParaRPr/>
          </a:p>
        </p:txBody>
      </p:sp>
      <p:pic>
        <p:nvPicPr>
          <p:cNvPr id="692" name="Google Shape;69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800" y="1415800"/>
            <a:ext cx="7073150" cy="52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 Can Get Complicated </a:t>
            </a:r>
            <a:r>
              <a:rPr lang="en-US"/>
              <a:t>😬</a:t>
            </a:r>
            <a:endParaRPr/>
          </a:p>
        </p:txBody>
      </p:sp>
      <p:pic>
        <p:nvPicPr>
          <p:cNvPr id="699" name="Google Shape;69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25" y="1433825"/>
            <a:ext cx="6143625" cy="1714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0" name="Google Shape;70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213" y="3421675"/>
            <a:ext cx="6238645" cy="3147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1" name="Google Shape;70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2682" y="2901575"/>
            <a:ext cx="4650343" cy="1741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2" name="Google Shape;702;p73"/>
          <p:cNvSpPr txBox="1"/>
          <p:nvPr/>
        </p:nvSpPr>
        <p:spPr>
          <a:xfrm>
            <a:off x="6234650" y="1433825"/>
            <a:ext cx="90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73"/>
          <p:cNvSpPr txBox="1"/>
          <p:nvPr/>
        </p:nvSpPr>
        <p:spPr>
          <a:xfrm>
            <a:off x="5643525" y="4027500"/>
            <a:ext cx="159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73"/>
          <p:cNvSpPr txBox="1"/>
          <p:nvPr/>
        </p:nvSpPr>
        <p:spPr>
          <a:xfrm>
            <a:off x="10481625" y="3148325"/>
            <a:ext cx="14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O(2^n)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773" y="2594975"/>
            <a:ext cx="3322799" cy="41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Conclusion: Efficiency Beats Raw Power</a:t>
            </a:r>
            <a:endParaRPr/>
          </a:p>
        </p:txBody>
      </p:sp>
      <p:sp>
        <p:nvSpPr>
          <p:cNvPr id="712" name="Google Shape;712;p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supercomputer can perform trillions of calculations per second.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But if it runs an inefficient algorithm (e.g.,                         )             </a:t>
            </a:r>
            <a:br>
              <a:rPr lang="en-US"/>
            </a:br>
            <a:r>
              <a:rPr lang="en-US"/>
              <a:t>it can still struggle with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normal computer running an efficient algorithm </a:t>
            </a:r>
            <a:br>
              <a:rPr lang="en-US"/>
            </a:br>
            <a:r>
              <a:rPr lang="en-US"/>
              <a:t>(e.g., 				            ) can outperform a </a:t>
            </a:r>
            <a:br>
              <a:rPr lang="en-US"/>
            </a:br>
            <a:r>
              <a:rPr lang="en-US"/>
              <a:t>supercomputer running an inefficient one.</a:t>
            </a:r>
            <a:endParaRPr/>
          </a:p>
        </p:txBody>
      </p:sp>
      <p:pic>
        <p:nvPicPr>
          <p:cNvPr id="713" name="Google Shape;71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554" y="2414511"/>
            <a:ext cx="1853250" cy="4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2697" y="3903429"/>
            <a:ext cx="2447141" cy="4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721" name="Google Shape;721;p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You have an n-bit secret integer. What would be the time complexity of an algorithm that tries to guess this integer?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Find the space complexity of storing all possible permutations of a given string.</a:t>
            </a:r>
            <a:endParaRPr sz="2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Find the time complexity of generating all possible subsets of a given set.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Hint: {1,2,3} ⇒ { {}, {1}, {2}, {3}, {1,2}, {2,3}, {3,1}, {1,2,3} }</a:t>
            </a:r>
            <a:endParaRPr/>
          </a:p>
        </p:txBody>
      </p:sp>
      <p:sp>
        <p:nvSpPr>
          <p:cNvPr id="722" name="Google Shape;722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728" name="Google Shape;728;p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You have a list of integers. Find pairs of integers (a,b) such that a+b = 0</a:t>
            </a:r>
            <a:endParaRPr sz="27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O(n^2) time  	⇒ Brute force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O(nlogn) time 	⇒ Sorting + Binary search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O(n) time		⇒ Hashmap (Will study later in this course)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to figure out the space complexity for each approach!</a:t>
            </a:r>
            <a:endParaRPr sz="2700"/>
          </a:p>
        </p:txBody>
      </p:sp>
      <p:sp>
        <p:nvSpPr>
          <p:cNvPr id="729" name="Google Shape;729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Materials</a:t>
            </a:r>
            <a:endParaRPr/>
          </a:p>
        </p:txBody>
      </p:sp>
      <p:sp>
        <p:nvSpPr>
          <p:cNvPr id="735" name="Google Shape;735;p7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https://medium.com/@hlfdev/algorithms-discover-the-power-of-big-o-notation-17a367bd62a</a:t>
            </a:r>
            <a:endParaRPr/>
          </a:p>
        </p:txBody>
      </p:sp>
      <p:sp>
        <p:nvSpPr>
          <p:cNvPr id="736" name="Google Shape;736;p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725" y="642900"/>
            <a:ext cx="5531575" cy="54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