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</p:sldIdLst>
  <p:sldSz cy="6858000" cx="12192000"/>
  <p:notesSz cx="6858000" cy="9144000"/>
  <p:embeddedFontLst>
    <p:embeddedFont>
      <p:font typeface="Century Schoolbook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font" Target="fonts/CenturySchoolbook-italic.fntdata"/><Relationship Id="rId72" Type="http://schemas.openxmlformats.org/officeDocument/2006/relationships/font" Target="fonts/CenturySchoolbook-bold.fntdata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74" Type="http://schemas.openxmlformats.org/officeDocument/2006/relationships/font" Target="fonts/CenturySchoolbook-boldItalic.fntdata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font" Target="fonts/CenturySchoolbook-regular.fntdata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ffe3e87b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2ffe3e87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02934c4c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02934c4c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040ef4917_0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040ef4917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040ef4917_0_2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040ef4917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040ef4917_0_2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3040ef4917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02adcd36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302adcd36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02adcd36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302adcd36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02934c4c3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02934c4c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040ef4917_0_2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3040ef4917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040ef4917_0_3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3040ef4917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3040ef4917_0_3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3040ef4917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040ef4917_0_3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3040ef4917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3040ef4917_0_3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3040ef4917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3040ef4917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3040ef491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3040ef4917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3040ef491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3040ef4917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3040ef491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3040ef4917_0_5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3040ef4917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3040ef4917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3040ef491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3040ef4917_0_3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3040ef4917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3040ef4917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3040ef491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040ef4917_0_3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3040ef4917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3040ef4917_0_3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3040ef4917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3040ef4917_0_3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3040ef4917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3040ef4917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3040ef491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3040ef4917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3040ef491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3040ef4917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3040ef491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3040ef4917_0_3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3040ef4917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040ef4917_0_3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040ef4917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3040ef4917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3040ef491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3040ef4917_0_3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3040ef4917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3040ef4917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3040ef491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3040ef4917_0_4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3040ef4917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3040ef4917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3040ef491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3040ef4917_0_4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3040ef4917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3040ef4917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3040ef491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3040ef4917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3040ef491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3040ef4917_0_4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3040ef4917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3040ef4917_0_4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3040ef4917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3040ef4917_0_5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3040ef4917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3040ef4917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3040ef4917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3040ef4917_0_4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3040ef4917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3040ef4917_0_4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3040ef4917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3040ef4917_0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3040ef4917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3040ef4917_0_5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3040ef4917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3040ef4917_0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3040ef491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3040ef4917_0_4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3040ef4917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3040ef4917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3040ef4917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3040ef4917_0_4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3040ef4917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3040ef4917_0_5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3040ef4917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040ef4917_0_4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040ef4917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3040ef4917_0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3040ef4917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3040ef4917_0_5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3040ef4917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3040ef4917_0_5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3040ef4917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3040ef4917_0_5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3040ef4917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3040ef4917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3040ef4917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3040ef4917_0_2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3040ef4917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040ef4917_0_5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3040ef4917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3040ef4917_0_2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3040ef4917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3040ef4917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3040ef4917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3040ef4917_0_2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3040ef4917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302adcd36f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302adcd36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3040ef4917_0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3040ef4917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3040ef4917_0_5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3040ef4917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3040ef4917_0_5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3040ef4917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302934c4c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302934c4c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" name="Google Shape;3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" name="Google Shape;4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" name="Google Shape;6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" name="Google Shape;7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" name="Google Shape;9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-4175" y="6501098"/>
            <a:ext cx="376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Anwarul Bashir Shuaib [AWBS]</a:t>
            </a:r>
            <a:endParaRPr sz="11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Relationship Id="rId4" Type="http://schemas.openxmlformats.org/officeDocument/2006/relationships/image" Target="../media/image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png"/><Relationship Id="rId4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0.png"/><Relationship Id="rId4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png"/><Relationship Id="rId4" Type="http://schemas.openxmlformats.org/officeDocument/2006/relationships/image" Target="../media/image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0.png"/><Relationship Id="rId4" Type="http://schemas.openxmlformats.org/officeDocument/2006/relationships/image" Target="../media/image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hyperlink" Target="https://algs4.cs.princeton.edu/lectures/demo/14DemoBinarySearch.pdf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hyperlink" Target="https://algs4.cs.princeton.edu/lectures/demo/14DemoBinarySearch.pdf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hyperlink" Target="https://algs4.cs.princeton.edu/lectures/demo/14DemoBinarySearch.pdf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Relationship Id="rId5" Type="http://schemas.openxmlformats.org/officeDocument/2006/relationships/image" Target="../media/image4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6.png"/><Relationship Id="rId4" Type="http://schemas.openxmlformats.org/officeDocument/2006/relationships/image" Target="../media/image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6.png"/><Relationship Id="rId4" Type="http://schemas.openxmlformats.org/officeDocument/2006/relationships/image" Target="../media/image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6.png"/><Relationship Id="rId4" Type="http://schemas.openxmlformats.org/officeDocument/2006/relationships/image" Target="../media/image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6.png"/><Relationship Id="rId4" Type="http://schemas.openxmlformats.org/officeDocument/2006/relationships/image" Target="../media/image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5.png"/><Relationship Id="rId4" Type="http://schemas.openxmlformats.org/officeDocument/2006/relationships/image" Target="../media/image52.png"/><Relationship Id="rId5" Type="http://schemas.openxmlformats.org/officeDocument/2006/relationships/image" Target="../media/image4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4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CSE </a:t>
            </a:r>
            <a:r>
              <a:rPr lang="en-US" sz="6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6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 sz="4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1524000" y="3602045"/>
            <a:ext cx="91440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Lecture 0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Introduction to Time and Space Complexity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1524000" y="5009325"/>
            <a:ext cx="91440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Anwarul Bashir Shuaib [AWBS]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Lecturer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315"/>
              <a:buFont typeface="Arial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Department of Computer Science and Engineering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BRAC University 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9" name="Google Shape;119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Topics to Review</a:t>
            </a:r>
            <a:endParaRPr/>
          </a:p>
        </p:txBody>
      </p:sp>
      <p:sp>
        <p:nvSpPr>
          <p:cNvPr id="125" name="Google Shape;125;p14"/>
          <p:cNvSpPr txBox="1"/>
          <p:nvPr>
            <p:ph idx="1" type="body"/>
          </p:nvPr>
        </p:nvSpPr>
        <p:spPr>
          <a:xfrm>
            <a:off x="838200" y="1825625"/>
            <a:ext cx="10515600" cy="47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1D Arrays: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Declaration, initialization, and traversal.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Insertion, deletion, and updating elements.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Searching (Linear Search).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Sorting (Bubble Sort, Selection Sort, Insertion Sort).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2D Arrays: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Declaration, initialization, and traversal.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Row-major and column-major storage.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Common operations (matrix addition, multiplication, transpose).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Pointers (Optional but Useful) – Understanding array-pointer relationship for dynamic memory allocation.</a:t>
            </a:r>
            <a:endParaRPr/>
          </a:p>
        </p:txBody>
      </p:sp>
      <p:pic>
        <p:nvPicPr>
          <p:cNvPr id="126" name="Google Shape;12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450" y="1226375"/>
            <a:ext cx="3147875" cy="3293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Is Complexity Important?</a:t>
            </a:r>
            <a:endParaRPr/>
          </a:p>
        </p:txBody>
      </p:sp>
      <p:sp>
        <p:nvSpPr>
          <p:cNvPr id="133" name="Google Shape;133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Efficiency Matters: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As input size grows, some algorithms become too slow or use too much memory.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Complexity helps us predict how an algorithm will perform as input scales.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Real-World Problems: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Computers are fast, but real-world problems can be huge (e.g., multiplying giant matrices or searching through millions of records).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Even with powerful computers, inefficient programs can take too long or use too much memory.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994175" y="3289075"/>
            <a:ext cx="10515600" cy="2600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Is Complexity Important?</a:t>
            </a:r>
            <a:endParaRPr/>
          </a:p>
        </p:txBody>
      </p:sp>
      <p:sp>
        <p:nvSpPr>
          <p:cNvPr id="141" name="Google Shape;141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Efficiency Matters: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As input size grows, some algorithms become too slow or use too much memory.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Complexity helps us predict how an algorithm will perform as input scales.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Real-World Problems: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Computers are fast, but real-world problems can be huge (e.g., multiplying giant matrices or searching through millions of records).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Even with powerful computers, inefficient programs can take too long or use too much memory.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994175" y="3712425"/>
            <a:ext cx="10515600" cy="217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Is Complexity Important?</a:t>
            </a:r>
            <a:endParaRPr/>
          </a:p>
        </p:txBody>
      </p:sp>
      <p:sp>
        <p:nvSpPr>
          <p:cNvPr id="149" name="Google Shape;149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Efficiency Matters: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As input size grows, some algorithms become too slow or use too much memory.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Complexity helps us predict how an algorithm will perform as input scales.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Real-World Problems: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Computers are fast, but real-world problems can be huge (e.g., multiplying giant matrices or searching through millions of records).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Even with powerful computers, inefficient programs can take too long or use too much memory.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994175" y="5012650"/>
            <a:ext cx="10515600" cy="87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Is Complexity Important?</a:t>
            </a:r>
            <a:endParaRPr/>
          </a:p>
        </p:txBody>
      </p:sp>
      <p:sp>
        <p:nvSpPr>
          <p:cNvPr id="157" name="Google Shape;157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Efficiency Matters: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As input size grows, some algorithms become too slow or use too much memory.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Complexity helps us predict how an algorithm will perform as input scales.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Real-World Problems: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Computers are fast, but real-world problems can be huge (e.g., multiplying giant matrices or searching through millions of records).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Even with powerful computers, inefficient programs can take too long or use too much memory.</a:t>
            </a:r>
            <a:endParaRPr/>
          </a:p>
        </p:txBody>
      </p:sp>
      <p:sp>
        <p:nvSpPr>
          <p:cNvPr id="158" name="Google Shape;158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Which Code Runs Faster?</a:t>
            </a:r>
            <a:endParaRPr/>
          </a:p>
        </p:txBody>
      </p:sp>
      <p:pic>
        <p:nvPicPr>
          <p:cNvPr id="164" name="Google Shape;16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8575" y="2670025"/>
            <a:ext cx="3143250" cy="194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6425" y="2555725"/>
            <a:ext cx="4819650" cy="2171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6" name="Google Shape;166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250" y="1779240"/>
            <a:ext cx="987050" cy="98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Which Code Runs Faster?</a:t>
            </a:r>
            <a:endParaRPr/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8575" y="2670025"/>
            <a:ext cx="3143250" cy="194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6425" y="2555725"/>
            <a:ext cx="4819650" cy="2171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12960" y="5128082"/>
            <a:ext cx="1046925" cy="6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26675" y="5128075"/>
            <a:ext cx="987050" cy="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Big-O? (Simplified!)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is like a "</a:t>
            </a:r>
            <a:r>
              <a:rPr i="1" lang="en-US"/>
              <a:t>speedometer</a:t>
            </a:r>
            <a:r>
              <a:rPr lang="en-US"/>
              <a:t>" for your code.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tells you </a:t>
            </a:r>
            <a:r>
              <a:rPr b="1" lang="en-US"/>
              <a:t>how fast your code runs</a:t>
            </a:r>
            <a:r>
              <a:rPr lang="en-US"/>
              <a:t> or </a:t>
            </a:r>
            <a:r>
              <a:rPr b="1" lang="en-US"/>
              <a:t>how much memory it uses</a:t>
            </a:r>
            <a:r>
              <a:rPr lang="en-US"/>
              <a:t> as the input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It’s Not Exact:</a:t>
            </a:r>
            <a:r>
              <a:rPr lang="en-US"/>
              <a:t> Big-O doesn’t count every single step. Instead, it gives you a general idea of </a:t>
            </a:r>
            <a:r>
              <a:rPr b="1" lang="en-US"/>
              <a:t>how your code scales.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your code takes				   steps, Big-O simplifies it 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Because as n gets really big, the	 part dominates the others </a:t>
            </a:r>
            <a:endParaRPr/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96" y="4535066"/>
            <a:ext cx="1505500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729" y="4550114"/>
            <a:ext cx="629852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300" y="4928543"/>
            <a:ext cx="312116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/>
          <p:nvPr/>
        </p:nvSpPr>
        <p:spPr>
          <a:xfrm>
            <a:off x="994175" y="2381925"/>
            <a:ext cx="10515600" cy="3507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9175" y="4911450"/>
            <a:ext cx="1794076" cy="17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Big-O? (Simplified!)</a:t>
            </a:r>
            <a:endParaRPr/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is like a "</a:t>
            </a:r>
            <a:r>
              <a:rPr i="1" lang="en-US"/>
              <a:t>speedometer</a:t>
            </a:r>
            <a:r>
              <a:rPr lang="en-US"/>
              <a:t>" for your code.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tells you </a:t>
            </a:r>
            <a:r>
              <a:rPr b="1" lang="en-US"/>
              <a:t>how fast your code runs</a:t>
            </a:r>
            <a:r>
              <a:rPr lang="en-US"/>
              <a:t> or </a:t>
            </a:r>
            <a:r>
              <a:rPr b="1" lang="en-US"/>
              <a:t>how much memory it uses</a:t>
            </a:r>
            <a:r>
              <a:rPr lang="en-US"/>
              <a:t> as the input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It’s Not Exact:</a:t>
            </a:r>
            <a:r>
              <a:rPr lang="en-US"/>
              <a:t> Big-O doesn’t count every single step. Instead, it gives you a general idea of </a:t>
            </a:r>
            <a:r>
              <a:rPr b="1" lang="en-US"/>
              <a:t>how your code scales.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your code takes				   steps, Big-O simplifies it 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Because as n gets really big, the	 part dominates the others </a:t>
            </a:r>
            <a:endParaRPr/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96" y="4535066"/>
            <a:ext cx="1505500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729" y="4550114"/>
            <a:ext cx="629852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300" y="4928543"/>
            <a:ext cx="312116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/>
          <p:nvPr/>
        </p:nvSpPr>
        <p:spPr>
          <a:xfrm>
            <a:off x="994175" y="3243725"/>
            <a:ext cx="10515600" cy="264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9175" y="4911450"/>
            <a:ext cx="1794076" cy="17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Big-O? (Simplified!)</a:t>
            </a:r>
            <a:endParaRPr/>
          </a:p>
        </p:txBody>
      </p:sp>
      <p:sp>
        <p:nvSpPr>
          <p:cNvPr id="207" name="Google Shape;207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is like a "</a:t>
            </a:r>
            <a:r>
              <a:rPr i="1" lang="en-US"/>
              <a:t>speedometer</a:t>
            </a:r>
            <a:r>
              <a:rPr lang="en-US"/>
              <a:t>" for your code.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tells you </a:t>
            </a:r>
            <a:r>
              <a:rPr b="1" lang="en-US"/>
              <a:t>how fast your code runs</a:t>
            </a:r>
            <a:r>
              <a:rPr lang="en-US"/>
              <a:t> or </a:t>
            </a:r>
            <a:r>
              <a:rPr b="1" lang="en-US"/>
              <a:t>how much memory it uses</a:t>
            </a:r>
            <a:r>
              <a:rPr lang="en-US"/>
              <a:t> as the input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It’s Not Exact:</a:t>
            </a:r>
            <a:r>
              <a:rPr lang="en-US"/>
              <a:t> Big-O doesn’t count every single step. Instead, it gives you a general idea of </a:t>
            </a:r>
            <a:r>
              <a:rPr b="1" lang="en-US"/>
              <a:t>how your code scales.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your code takes				   steps, Big-O simplifies it 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Because as n gets really big, the	 part dominates the others </a:t>
            </a:r>
            <a:endParaRPr/>
          </a:p>
        </p:txBody>
      </p:sp>
      <p:pic>
        <p:nvPicPr>
          <p:cNvPr id="208" name="Google Shape;20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96" y="4535066"/>
            <a:ext cx="1505500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729" y="4550114"/>
            <a:ext cx="629852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300" y="4928543"/>
            <a:ext cx="312116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/>
          <p:nvPr/>
        </p:nvSpPr>
        <p:spPr>
          <a:xfrm>
            <a:off x="994175" y="4165975"/>
            <a:ext cx="10515600" cy="172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9175" y="4911450"/>
            <a:ext cx="1794076" cy="17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Big-O? (Simplified!)</a:t>
            </a:r>
            <a:endParaRPr/>
          </a:p>
        </p:txBody>
      </p:sp>
      <p:sp>
        <p:nvSpPr>
          <p:cNvPr id="219" name="Google Shape;219;p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is like a "</a:t>
            </a:r>
            <a:r>
              <a:rPr i="1" lang="en-US"/>
              <a:t>speedometer</a:t>
            </a:r>
            <a:r>
              <a:rPr lang="en-US"/>
              <a:t>" for your code.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tells you </a:t>
            </a:r>
            <a:r>
              <a:rPr b="1" lang="en-US"/>
              <a:t>how fast your code runs</a:t>
            </a:r>
            <a:r>
              <a:rPr lang="en-US"/>
              <a:t> or </a:t>
            </a:r>
            <a:r>
              <a:rPr b="1" lang="en-US"/>
              <a:t>how much memory it uses</a:t>
            </a:r>
            <a:r>
              <a:rPr lang="en-US"/>
              <a:t> as the input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It’s Not Exact:</a:t>
            </a:r>
            <a:r>
              <a:rPr lang="en-US"/>
              <a:t> Big-O doesn’t count every single step. Instead, it gives you a general idea of </a:t>
            </a:r>
            <a:r>
              <a:rPr b="1" lang="en-US"/>
              <a:t>how your code scales.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your code takes				   steps, Big-O simplifies it 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Because as n gets really big, the	 part dominates the others </a:t>
            </a:r>
            <a:endParaRPr/>
          </a:p>
        </p:txBody>
      </p:sp>
      <p:pic>
        <p:nvPicPr>
          <p:cNvPr id="220" name="Google Shape;22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96" y="4535066"/>
            <a:ext cx="1505500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729" y="4550114"/>
            <a:ext cx="629852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300" y="4928543"/>
            <a:ext cx="312116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/>
          <p:nvPr/>
        </p:nvSpPr>
        <p:spPr>
          <a:xfrm>
            <a:off x="994175" y="5012650"/>
            <a:ext cx="10515600" cy="87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9175" y="4911450"/>
            <a:ext cx="1794076" cy="17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Big-O? (Simplified!)</a:t>
            </a:r>
            <a:endParaRPr/>
          </a:p>
        </p:txBody>
      </p:sp>
      <p:sp>
        <p:nvSpPr>
          <p:cNvPr id="231" name="Google Shape;231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is like a "</a:t>
            </a:r>
            <a:r>
              <a:rPr i="1" lang="en-US"/>
              <a:t>speedometer</a:t>
            </a:r>
            <a:r>
              <a:rPr lang="en-US"/>
              <a:t>" for your code.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tells you </a:t>
            </a:r>
            <a:r>
              <a:rPr b="1" lang="en-US"/>
              <a:t>how fast your code runs</a:t>
            </a:r>
            <a:r>
              <a:rPr lang="en-US"/>
              <a:t> or </a:t>
            </a:r>
            <a:r>
              <a:rPr b="1" lang="en-US"/>
              <a:t>how much memory it uses</a:t>
            </a:r>
            <a:r>
              <a:rPr lang="en-US"/>
              <a:t> as the input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It’s Not Exact:</a:t>
            </a:r>
            <a:r>
              <a:rPr lang="en-US"/>
              <a:t> Big-O doesn’t count every single step. Instead, it gives you a general idea of </a:t>
            </a:r>
            <a:r>
              <a:rPr b="1" lang="en-US"/>
              <a:t>how your code scales.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your code takes				   steps, Big-O simplifies it 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Because as n gets really big, the	 part dominates the others </a:t>
            </a:r>
            <a:endParaRPr/>
          </a:p>
        </p:txBody>
      </p:sp>
      <p:pic>
        <p:nvPicPr>
          <p:cNvPr id="232" name="Google Shape;2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96" y="4535066"/>
            <a:ext cx="1505500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729" y="4550114"/>
            <a:ext cx="629852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300" y="4928543"/>
            <a:ext cx="312116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9175" y="4911450"/>
            <a:ext cx="1794076" cy="17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42" name="Google Shape;242;p26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150" y="2397825"/>
            <a:ext cx="5981700" cy="1190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4" name="Google Shape;244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50" name="Google Shape;250;p27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7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150" y="2397825"/>
            <a:ext cx="5981700" cy="1190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3" name="Google Shape;25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0625" y="4438125"/>
            <a:ext cx="1525725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60" name="Google Shape;260;p28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800" y="1979375"/>
            <a:ext cx="6372225" cy="1952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2" name="Google Shape;262;p28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9262" y="4458066"/>
            <a:ext cx="2698875" cy="4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70" name="Google Shape;270;p29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9"/>
          <p:cNvSpPr txBox="1"/>
          <p:nvPr/>
        </p:nvSpPr>
        <p:spPr>
          <a:xfrm>
            <a:off x="1560175" y="51336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225" y="1690825"/>
            <a:ext cx="4619225" cy="2967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3" name="Google Shape;27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6100" y="5282525"/>
            <a:ext cx="45339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80" name="Google Shape;280;p30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0"/>
          <p:cNvSpPr txBox="1"/>
          <p:nvPr/>
        </p:nvSpPr>
        <p:spPr>
          <a:xfrm>
            <a:off x="1560175" y="51336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225" y="1690825"/>
            <a:ext cx="4619225" cy="2967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3" name="Google Shape;283;p30"/>
          <p:cNvSpPr txBox="1"/>
          <p:nvPr/>
        </p:nvSpPr>
        <p:spPr>
          <a:xfrm rot="-1629975">
            <a:off x="8471731" y="1164278"/>
            <a:ext cx="3171008" cy="9542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only consider the worst-case scenario</a:t>
            </a:r>
            <a:endParaRPr sz="2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7064725" y="2276100"/>
            <a:ext cx="1572375" cy="386775"/>
          </a:xfrm>
          <a:custGeom>
            <a:rect b="b" l="l" r="r" t="t"/>
            <a:pathLst>
              <a:path extrusionOk="0" h="15471" w="62895">
                <a:moveTo>
                  <a:pt x="62895" y="0"/>
                </a:moveTo>
                <a:cubicBezTo>
                  <a:pt x="61484" y="1613"/>
                  <a:pt x="60879" y="7156"/>
                  <a:pt x="54428" y="9676"/>
                </a:cubicBezTo>
                <a:cubicBezTo>
                  <a:pt x="47977" y="12196"/>
                  <a:pt x="33261" y="14413"/>
                  <a:pt x="24190" y="15119"/>
                </a:cubicBezTo>
                <a:cubicBezTo>
                  <a:pt x="15119" y="15825"/>
                  <a:pt x="4032" y="14112"/>
                  <a:pt x="0" y="1391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id="285" name="Google Shape;28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6100" y="5282525"/>
            <a:ext cx="45339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292" name="Google Shape;292;p31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1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127" y="1980800"/>
            <a:ext cx="7028961" cy="2024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5" name="Google Shape;29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8375" y="4388938"/>
            <a:ext cx="3152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complexity?</a:t>
            </a:r>
            <a:endParaRPr/>
          </a:p>
        </p:txBody>
      </p:sp>
      <p:sp>
        <p:nvSpPr>
          <p:cNvPr id="302" name="Google Shape;302;p32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2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127" y="1980800"/>
            <a:ext cx="7028961" cy="2024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5" name="Google Shape;305;p32"/>
          <p:cNvSpPr txBox="1"/>
          <p:nvPr/>
        </p:nvSpPr>
        <p:spPr>
          <a:xfrm>
            <a:off x="3809075" y="5201025"/>
            <a:ext cx="4917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Think: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Why n*n instead of n+n?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8375" y="4388938"/>
            <a:ext cx="3152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</a:t>
            </a:r>
            <a:r>
              <a:rPr b="1" i="1" lang="en-US"/>
              <a:t>Asymptotic</a:t>
            </a:r>
            <a:r>
              <a:rPr lang="en-US"/>
              <a:t> Complexity?</a:t>
            </a:r>
            <a:endParaRPr/>
          </a:p>
        </p:txBody>
      </p:sp>
      <p:sp>
        <p:nvSpPr>
          <p:cNvPr id="313" name="Google Shape;313;p3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focuses on how an algorithm’s performance scales as the input size (n) grows.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</a:t>
            </a:r>
            <a:r>
              <a:rPr b="1" lang="en-US"/>
              <a:t>ignore constant factors and lower-order terms</a:t>
            </a:r>
            <a:r>
              <a:rPr lang="en-US"/>
              <a:t> because they become insignificant for large inputs.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This Big-O notation is called the </a:t>
            </a:r>
            <a:r>
              <a:rPr b="1" lang="en-US"/>
              <a:t>“Order of Growth”</a:t>
            </a:r>
            <a:endParaRPr b="1"/>
          </a:p>
        </p:txBody>
      </p:sp>
      <p:sp>
        <p:nvSpPr>
          <p:cNvPr id="314" name="Google Shape;314;p33"/>
          <p:cNvSpPr/>
          <p:nvPr/>
        </p:nvSpPr>
        <p:spPr>
          <a:xfrm>
            <a:off x="760075" y="2880875"/>
            <a:ext cx="10416900" cy="151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</a:t>
            </a:r>
            <a:r>
              <a:rPr b="1" i="1" lang="en-US"/>
              <a:t>Asymptotic</a:t>
            </a:r>
            <a:r>
              <a:rPr lang="en-US"/>
              <a:t> Complexity?</a:t>
            </a:r>
            <a:endParaRPr/>
          </a:p>
        </p:txBody>
      </p:sp>
      <p:sp>
        <p:nvSpPr>
          <p:cNvPr id="321" name="Google Shape;321;p3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focuses on how an algorithm’s performance scales as the input size (n) grows.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</a:t>
            </a:r>
            <a:r>
              <a:rPr b="1" lang="en-US"/>
              <a:t>ignore constant factors and lower-order terms</a:t>
            </a:r>
            <a:r>
              <a:rPr lang="en-US"/>
              <a:t> because they become insignificant for large inputs.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This Big-O notation is called the </a:t>
            </a:r>
            <a:r>
              <a:rPr b="1" lang="en-US"/>
              <a:t>“Order of Growth”</a:t>
            </a:r>
            <a:endParaRPr b="1"/>
          </a:p>
        </p:txBody>
      </p:sp>
      <p:sp>
        <p:nvSpPr>
          <p:cNvPr id="322" name="Google Shape;322;p34"/>
          <p:cNvSpPr/>
          <p:nvPr/>
        </p:nvSpPr>
        <p:spPr>
          <a:xfrm flipH="1" rot="10800000">
            <a:off x="760075" y="3818325"/>
            <a:ext cx="10416900" cy="54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</a:t>
            </a:r>
            <a:r>
              <a:rPr b="1" i="1" lang="en-US"/>
              <a:t>Asymptotic</a:t>
            </a:r>
            <a:r>
              <a:rPr lang="en-US"/>
              <a:t> Complexity?</a:t>
            </a:r>
            <a:endParaRPr/>
          </a:p>
        </p:txBody>
      </p:sp>
      <p:sp>
        <p:nvSpPr>
          <p:cNvPr id="329" name="Google Shape;329;p3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 focuses on how an algorithm’s performance scales as the input size (n) grows.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</a:t>
            </a:r>
            <a:r>
              <a:rPr b="1" lang="en-US"/>
              <a:t>ignore constant factors and lower-order terms</a:t>
            </a:r>
            <a:r>
              <a:rPr lang="en-US"/>
              <a:t> because they become insignificant for large inputs.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This Big-O notation is sometimes called the </a:t>
            </a:r>
            <a:r>
              <a:rPr b="1" lang="en-US"/>
              <a:t>“Order of Growth”</a:t>
            </a:r>
            <a:endParaRPr b="1"/>
          </a:p>
        </p:txBody>
      </p:sp>
      <p:sp>
        <p:nvSpPr>
          <p:cNvPr id="330" name="Google Shape;330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Asymptotic Complexity?</a:t>
            </a:r>
            <a:endParaRPr/>
          </a:p>
        </p:txBody>
      </p:sp>
      <p:pic>
        <p:nvPicPr>
          <p:cNvPr id="336" name="Google Shape;33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163" y="1445775"/>
            <a:ext cx="10729027" cy="51244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6"/>
          <p:cNvSpPr txBox="1"/>
          <p:nvPr/>
        </p:nvSpPr>
        <p:spPr>
          <a:xfrm>
            <a:off x="1229075" y="5482725"/>
            <a:ext cx="279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*Axes have been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scaled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logarithmic for better visualization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Asymptotic Complexity?</a:t>
            </a:r>
            <a:endParaRPr/>
          </a:p>
        </p:txBody>
      </p:sp>
      <p:pic>
        <p:nvPicPr>
          <p:cNvPr id="344" name="Google Shape;34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163" y="1445775"/>
            <a:ext cx="10729027" cy="512447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7"/>
          <p:cNvSpPr/>
          <p:nvPr/>
        </p:nvSpPr>
        <p:spPr>
          <a:xfrm>
            <a:off x="1540524" y="1669039"/>
            <a:ext cx="676500" cy="876050"/>
          </a:xfrm>
          <a:custGeom>
            <a:rect b="b" l="l" r="r" t="t"/>
            <a:pathLst>
              <a:path extrusionOk="0" h="35042" w="27060">
                <a:moveTo>
                  <a:pt x="3544" y="5491"/>
                </a:moveTo>
                <a:cubicBezTo>
                  <a:pt x="0" y="7854"/>
                  <a:pt x="0" y="10069"/>
                  <a:pt x="0" y="14795"/>
                </a:cubicBezTo>
                <a:cubicBezTo>
                  <a:pt x="0" y="19521"/>
                  <a:pt x="148" y="31113"/>
                  <a:pt x="3544" y="33845"/>
                </a:cubicBezTo>
                <a:cubicBezTo>
                  <a:pt x="6941" y="36577"/>
                  <a:pt x="16466" y="33844"/>
                  <a:pt x="20379" y="31186"/>
                </a:cubicBezTo>
                <a:cubicBezTo>
                  <a:pt x="24292" y="28528"/>
                  <a:pt x="26876" y="22991"/>
                  <a:pt x="27024" y="17896"/>
                </a:cubicBezTo>
                <a:cubicBezTo>
                  <a:pt x="27172" y="12801"/>
                  <a:pt x="25178" y="2686"/>
                  <a:pt x="21265" y="618"/>
                </a:cubicBezTo>
                <a:cubicBezTo>
                  <a:pt x="17352" y="-1449"/>
                  <a:pt x="7088" y="3128"/>
                  <a:pt x="3544" y="5491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6" name="Google Shape;346;p37"/>
          <p:cNvSpPr txBox="1"/>
          <p:nvPr/>
        </p:nvSpPr>
        <p:spPr>
          <a:xfrm rot="-2339473">
            <a:off x="1476293" y="2591575"/>
            <a:ext cx="2924184" cy="8312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constants become insignificant as x grows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37"/>
          <p:cNvCxnSpPr>
            <a:stCxn id="346" idx="0"/>
          </p:cNvCxnSpPr>
          <p:nvPr/>
        </p:nvCxnSpPr>
        <p:spPr>
          <a:xfrm rot="10800000">
            <a:off x="2238335" y="2337906"/>
            <a:ext cx="438600" cy="34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8" name="Google Shape;348;p37"/>
          <p:cNvSpPr txBox="1"/>
          <p:nvPr/>
        </p:nvSpPr>
        <p:spPr>
          <a:xfrm>
            <a:off x="1229075" y="5482725"/>
            <a:ext cx="279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*Axes have been scaled to logarithmic for better visualization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438716"/>
            <a:ext cx="10934700" cy="5222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Asymptotic Complexity?</a:t>
            </a:r>
            <a:endParaRPr/>
          </a:p>
        </p:txBody>
      </p:sp>
      <p:sp>
        <p:nvSpPr>
          <p:cNvPr id="356" name="Google Shape;356;p38"/>
          <p:cNvSpPr/>
          <p:nvPr/>
        </p:nvSpPr>
        <p:spPr>
          <a:xfrm>
            <a:off x="1449749" y="1764139"/>
            <a:ext cx="676500" cy="876050"/>
          </a:xfrm>
          <a:custGeom>
            <a:rect b="b" l="l" r="r" t="t"/>
            <a:pathLst>
              <a:path extrusionOk="0" h="35042" w="27060">
                <a:moveTo>
                  <a:pt x="3544" y="5491"/>
                </a:moveTo>
                <a:cubicBezTo>
                  <a:pt x="0" y="7854"/>
                  <a:pt x="0" y="10069"/>
                  <a:pt x="0" y="14795"/>
                </a:cubicBezTo>
                <a:cubicBezTo>
                  <a:pt x="0" y="19521"/>
                  <a:pt x="148" y="31113"/>
                  <a:pt x="3544" y="33845"/>
                </a:cubicBezTo>
                <a:cubicBezTo>
                  <a:pt x="6941" y="36577"/>
                  <a:pt x="16466" y="33844"/>
                  <a:pt x="20379" y="31186"/>
                </a:cubicBezTo>
                <a:cubicBezTo>
                  <a:pt x="24292" y="28528"/>
                  <a:pt x="26876" y="22991"/>
                  <a:pt x="27024" y="17896"/>
                </a:cubicBezTo>
                <a:cubicBezTo>
                  <a:pt x="27172" y="12801"/>
                  <a:pt x="25178" y="2686"/>
                  <a:pt x="21265" y="618"/>
                </a:cubicBezTo>
                <a:cubicBezTo>
                  <a:pt x="17352" y="-1449"/>
                  <a:pt x="7088" y="3128"/>
                  <a:pt x="3544" y="5491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57" name="Google Shape;357;p38"/>
          <p:cNvSpPr txBox="1"/>
          <p:nvPr/>
        </p:nvSpPr>
        <p:spPr>
          <a:xfrm rot="-2339473">
            <a:off x="1476293" y="2591575"/>
            <a:ext cx="2924184" cy="8312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constants become insignificant as x grows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38"/>
          <p:cNvCxnSpPr>
            <a:stCxn id="357" idx="0"/>
          </p:cNvCxnSpPr>
          <p:nvPr/>
        </p:nvCxnSpPr>
        <p:spPr>
          <a:xfrm rot="10800000">
            <a:off x="2136035" y="2442306"/>
            <a:ext cx="540900" cy="24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9" name="Google Shape;359;p38"/>
          <p:cNvSpPr txBox="1"/>
          <p:nvPr/>
        </p:nvSpPr>
        <p:spPr>
          <a:xfrm>
            <a:off x="1229075" y="5482725"/>
            <a:ext cx="279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*Axes have been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scaled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logarithmic for better visualization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find the </a:t>
            </a:r>
            <a:r>
              <a:rPr lang="en-US"/>
              <a:t>order of growth</a:t>
            </a:r>
            <a:r>
              <a:rPr lang="en-US"/>
              <a:t>?</a:t>
            </a:r>
            <a:endParaRPr/>
          </a:p>
        </p:txBody>
      </p:sp>
      <p:sp>
        <p:nvSpPr>
          <p:cNvPr id="366" name="Google Shape;366;p39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9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150" y="2397825"/>
            <a:ext cx="5981700" cy="1190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9" name="Google Shape;36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0625" y="4438125"/>
            <a:ext cx="1525725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376" name="Google Shape;376;p40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0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8" name="Google Shape;37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150" y="2397825"/>
            <a:ext cx="5981700" cy="1190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9" name="Google Shape;37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0625" y="4438125"/>
            <a:ext cx="1525725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0"/>
          <p:cNvSpPr txBox="1"/>
          <p:nvPr/>
        </p:nvSpPr>
        <p:spPr>
          <a:xfrm>
            <a:off x="1803300" y="520920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Asymptotic complexity: 		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8144" y="5350818"/>
            <a:ext cx="6477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388" name="Google Shape;388;p41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1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150" y="2397825"/>
            <a:ext cx="5981700" cy="1190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1" name="Google Shape;39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0625" y="4438125"/>
            <a:ext cx="1525725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1"/>
          <p:cNvSpPr txBox="1"/>
          <p:nvPr/>
        </p:nvSpPr>
        <p:spPr>
          <a:xfrm>
            <a:off x="1803300" y="520920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Asymptotic complexity: 			→ Constant Time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8144" y="5350818"/>
            <a:ext cx="6477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00" name="Google Shape;400;p42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800" y="1979375"/>
            <a:ext cx="6372225" cy="1952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2" name="Google Shape;402;p42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9262" y="4458066"/>
            <a:ext cx="2698875" cy="4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10" name="Google Shape;410;p43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800" y="1979375"/>
            <a:ext cx="6372225" cy="1952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2" name="Google Shape;412;p43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3"/>
          <p:cNvSpPr txBox="1"/>
          <p:nvPr/>
        </p:nvSpPr>
        <p:spPr>
          <a:xfrm>
            <a:off x="1803300" y="520920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Asymptotic complexity:			→ Linear Time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3025" y="5363164"/>
            <a:ext cx="6762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9262" y="4458066"/>
            <a:ext cx="2698875" cy="4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22" name="Google Shape;422;p44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4"/>
          <p:cNvSpPr txBox="1"/>
          <p:nvPr/>
        </p:nvSpPr>
        <p:spPr>
          <a:xfrm>
            <a:off x="1560175" y="51336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4" name="Google Shape;42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225" y="1690825"/>
            <a:ext cx="4619225" cy="2967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5" name="Google Shape;42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6100" y="5282525"/>
            <a:ext cx="45339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32" name="Google Shape;432;p45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5"/>
          <p:cNvSpPr txBox="1"/>
          <p:nvPr/>
        </p:nvSpPr>
        <p:spPr>
          <a:xfrm>
            <a:off x="1560175" y="51336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225" y="1690825"/>
            <a:ext cx="4619225" cy="2967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5" name="Google Shape;43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3025" y="5972764"/>
            <a:ext cx="6762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5"/>
          <p:cNvSpPr txBox="1"/>
          <p:nvPr/>
        </p:nvSpPr>
        <p:spPr>
          <a:xfrm>
            <a:off x="1803300" y="581880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Asymptotic complexity:			→ Linear Time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7" name="Google Shape;43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6100" y="5282525"/>
            <a:ext cx="45339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44" name="Google Shape;444;p46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6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127" y="1980800"/>
            <a:ext cx="7028961" cy="2024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7" name="Google Shape;44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8375" y="4388938"/>
            <a:ext cx="3152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 do we find the order of growth?</a:t>
            </a:r>
            <a:endParaRPr/>
          </a:p>
        </p:txBody>
      </p:sp>
      <p:sp>
        <p:nvSpPr>
          <p:cNvPr id="454" name="Google Shape;454;p47"/>
          <p:cNvSpPr txBox="1"/>
          <p:nvPr/>
        </p:nvSpPr>
        <p:spPr>
          <a:xfrm>
            <a:off x="5313025" y="2925875"/>
            <a:ext cx="637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7"/>
          <p:cNvSpPr txBox="1"/>
          <p:nvPr/>
        </p:nvSpPr>
        <p:spPr>
          <a:xfrm>
            <a:off x="1560175" y="42954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run 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6" name="Google Shape;45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127" y="1980800"/>
            <a:ext cx="7028961" cy="2024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7" name="Google Shape;45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3263" y="5939199"/>
            <a:ext cx="78105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7"/>
          <p:cNvSpPr txBox="1"/>
          <p:nvPr/>
        </p:nvSpPr>
        <p:spPr>
          <a:xfrm>
            <a:off x="1803300" y="581880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Asymptotic complexity: 			→ Quadratic Time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8375" y="4388938"/>
            <a:ext cx="3152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So...What Should We </a:t>
            </a:r>
            <a:r>
              <a:rPr lang="en-US"/>
              <a:t>Prefer</a:t>
            </a:r>
            <a:r>
              <a:rPr lang="en-US"/>
              <a:t>?</a:t>
            </a:r>
            <a:endParaRPr/>
          </a:p>
        </p:txBody>
      </p:sp>
      <p:pic>
        <p:nvPicPr>
          <p:cNvPr id="466" name="Google Shape;46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75" y="1541225"/>
            <a:ext cx="6865176" cy="482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7246" y="1972925"/>
            <a:ext cx="3770956" cy="3964226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74" name="Google Shape;474;p4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would we perform a linear search in an array? What would be its time complexity </a:t>
            </a:r>
            <a:r>
              <a:rPr lang="en-US"/>
              <a:t>(the order of growth)</a:t>
            </a:r>
            <a:r>
              <a:rPr lang="en-US"/>
              <a:t>?</a:t>
            </a:r>
            <a:endParaRPr/>
          </a:p>
        </p:txBody>
      </p:sp>
      <p:pic>
        <p:nvPicPr>
          <p:cNvPr id="475" name="Google Shape;47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125" y="3362900"/>
            <a:ext cx="4857750" cy="1885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6" name="Google Shape;476;p49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7" name="Google Shape;47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8594" y="6131239"/>
            <a:ext cx="653025" cy="4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9"/>
          <p:cNvSpPr/>
          <p:nvPr/>
        </p:nvSpPr>
        <p:spPr>
          <a:xfrm>
            <a:off x="2181275" y="3198375"/>
            <a:ext cx="6743100" cy="3346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85" name="Google Shape;485;p5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would we perform a linear search in an array? What would be its time complexity (the order of growth)?</a:t>
            </a:r>
            <a:endParaRPr/>
          </a:p>
        </p:txBody>
      </p:sp>
      <p:pic>
        <p:nvPicPr>
          <p:cNvPr id="486" name="Google Shape;48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125" y="3362900"/>
            <a:ext cx="4857750" cy="1885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7" name="Google Shape;487;p50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8" name="Google Shape;48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8594" y="6131239"/>
            <a:ext cx="653025" cy="4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0"/>
          <p:cNvSpPr/>
          <p:nvPr/>
        </p:nvSpPr>
        <p:spPr>
          <a:xfrm>
            <a:off x="2181275" y="5572050"/>
            <a:ext cx="6743100" cy="973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496" name="Google Shape;496;p5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would we perform a linear search in an array? What would be its time complexity </a:t>
            </a:r>
            <a:r>
              <a:rPr lang="en-US"/>
              <a:t>(the order of growth)</a:t>
            </a:r>
            <a:r>
              <a:rPr lang="en-US"/>
              <a:t>?</a:t>
            </a:r>
            <a:endParaRPr/>
          </a:p>
        </p:txBody>
      </p:sp>
      <p:pic>
        <p:nvPicPr>
          <p:cNvPr id="497" name="Google Shape;49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125" y="3362900"/>
            <a:ext cx="4857750" cy="1885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8" name="Google Shape;498;p51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9" name="Google Shape;49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8594" y="6131239"/>
            <a:ext cx="653025" cy="4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06" name="Google Shape;506;p5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would we perform a linear search in an array? What would be its time complexity (the order of growth)?</a:t>
            </a:r>
            <a:endParaRPr/>
          </a:p>
        </p:txBody>
      </p:sp>
      <p:pic>
        <p:nvPicPr>
          <p:cNvPr id="507" name="Google Shape;50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125" y="3362900"/>
            <a:ext cx="4857750" cy="1885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8" name="Google Shape;508;p52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9" name="Google Shape;50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8594" y="6131239"/>
            <a:ext cx="653025" cy="4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2"/>
          <p:cNvSpPr txBox="1"/>
          <p:nvPr/>
        </p:nvSpPr>
        <p:spPr>
          <a:xfrm>
            <a:off x="7609000" y="5652350"/>
            <a:ext cx="4199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Think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Why O(n)? Why not O(1) when the target is at arr[0]?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17" name="Google Shape;517;p5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 we improve it? What if the array is sorted beforehand?</a:t>
            </a:r>
            <a:endParaRPr/>
          </a:p>
        </p:txBody>
      </p:sp>
      <p:sp>
        <p:nvSpPr>
          <p:cNvPr id="518" name="Google Shape;518;p53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				⇒ Logarithmic space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9" name="Google Shape;51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575" y="2403124"/>
            <a:ext cx="4727625" cy="3450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0" name="Google Shape;52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8825" y="6118778"/>
            <a:ext cx="1106625" cy="4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3"/>
          <p:cNvSpPr txBox="1"/>
          <p:nvPr/>
        </p:nvSpPr>
        <p:spPr>
          <a:xfrm>
            <a:off x="8742925" y="3228600"/>
            <a:ext cx="276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a nice demo </a:t>
            </a:r>
            <a:r>
              <a:rPr lang="en-US" sz="2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here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53"/>
          <p:cNvSpPr/>
          <p:nvPr/>
        </p:nvSpPr>
        <p:spPr>
          <a:xfrm>
            <a:off x="2181275" y="2276100"/>
            <a:ext cx="9324300" cy="426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29" name="Google Shape;529;p5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 we improve it? What if the array is sorted beforehand?</a:t>
            </a:r>
            <a:endParaRPr/>
          </a:p>
        </p:txBody>
      </p:sp>
      <p:sp>
        <p:nvSpPr>
          <p:cNvPr id="530" name="Google Shape;530;p54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				⇒ Logarithmic space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1" name="Google Shape;53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575" y="2403124"/>
            <a:ext cx="4727625" cy="3450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32" name="Google Shape;53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8825" y="6118778"/>
            <a:ext cx="1106625" cy="4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4"/>
          <p:cNvSpPr txBox="1"/>
          <p:nvPr/>
        </p:nvSpPr>
        <p:spPr>
          <a:xfrm>
            <a:off x="8742925" y="3228600"/>
            <a:ext cx="276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a nice demo </a:t>
            </a:r>
            <a:r>
              <a:rPr lang="en-US" sz="2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here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54"/>
          <p:cNvSpPr/>
          <p:nvPr/>
        </p:nvSpPr>
        <p:spPr>
          <a:xfrm>
            <a:off x="2332450" y="6038050"/>
            <a:ext cx="9324300" cy="615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41" name="Google Shape;541;p5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 we improve it? What if the array is sorted beforehand?</a:t>
            </a:r>
            <a:endParaRPr/>
          </a:p>
        </p:txBody>
      </p:sp>
      <p:sp>
        <p:nvSpPr>
          <p:cNvPr id="542" name="Google Shape;542;p55"/>
          <p:cNvSpPr txBox="1"/>
          <p:nvPr/>
        </p:nvSpPr>
        <p:spPr>
          <a:xfrm>
            <a:off x="3390800" y="5965150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				⇒ Logarithmic time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3" name="Google Shape;54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575" y="2403124"/>
            <a:ext cx="4727625" cy="3450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44" name="Google Shape;544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8825" y="6118778"/>
            <a:ext cx="1106625" cy="4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55"/>
          <p:cNvSpPr txBox="1"/>
          <p:nvPr/>
        </p:nvSpPr>
        <p:spPr>
          <a:xfrm>
            <a:off x="8742925" y="3228600"/>
            <a:ext cx="276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a nice demo </a:t>
            </a:r>
            <a:r>
              <a:rPr lang="en-US" sz="2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here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Seeing the Impact!</a:t>
            </a:r>
            <a:endParaRPr/>
          </a:p>
        </p:txBody>
      </p:sp>
      <p:pic>
        <p:nvPicPr>
          <p:cNvPr id="552" name="Google Shape;55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25" y="1690825"/>
            <a:ext cx="10791961" cy="48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Seeing the Impact!</a:t>
            </a:r>
            <a:endParaRPr/>
          </a:p>
        </p:txBody>
      </p:sp>
      <p:pic>
        <p:nvPicPr>
          <p:cNvPr id="559" name="Google Shape;55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0425" y="1863150"/>
            <a:ext cx="8691149" cy="45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66" name="Google Shape;566;p58"/>
          <p:cNvSpPr txBox="1"/>
          <p:nvPr>
            <p:ph idx="1" type="body"/>
          </p:nvPr>
        </p:nvSpPr>
        <p:spPr>
          <a:xfrm>
            <a:off x="838200" y="1523225"/>
            <a:ext cx="10515600" cy="100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2600"/>
              <a:t>What about 2D matrix multiplication?</a:t>
            </a:r>
            <a:endParaRPr sz="2600"/>
          </a:p>
        </p:txBody>
      </p:sp>
      <p:pic>
        <p:nvPicPr>
          <p:cNvPr id="567" name="Google Shape;56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98" y="2127648"/>
            <a:ext cx="7576500" cy="4730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68" name="Google Shape;568;p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574" name="Google Shape;574;p59"/>
          <p:cNvSpPr txBox="1"/>
          <p:nvPr>
            <p:ph idx="1" type="body"/>
          </p:nvPr>
        </p:nvSpPr>
        <p:spPr>
          <a:xfrm>
            <a:off x="838200" y="1523225"/>
            <a:ext cx="10515600" cy="100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2600"/>
              <a:t>What about 2D matrix multiplication?</a:t>
            </a:r>
            <a:endParaRPr sz="2600"/>
          </a:p>
        </p:txBody>
      </p:sp>
      <p:pic>
        <p:nvPicPr>
          <p:cNvPr id="575" name="Google Shape;57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98" y="2127648"/>
            <a:ext cx="7576500" cy="4730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6" name="Google Shape;576;p59"/>
          <p:cNvSpPr txBox="1"/>
          <p:nvPr/>
        </p:nvSpPr>
        <p:spPr>
          <a:xfrm>
            <a:off x="8501000" y="2911100"/>
            <a:ext cx="333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7" name="Google Shape;57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17723" y="2990300"/>
            <a:ext cx="781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84646" y="3561221"/>
            <a:ext cx="2621500" cy="2996899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5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Power of Efficient Algorithms</a:t>
            </a:r>
            <a:endParaRPr/>
          </a:p>
        </p:txBody>
      </p:sp>
      <p:sp>
        <p:nvSpPr>
          <p:cNvPr id="585" name="Google Shape;585;p6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Converting an 		algorithm to		   </a:t>
            </a:r>
            <a:r>
              <a:rPr lang="en-US"/>
              <a:t>can make the difference between impossible and practical.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Say, n=10</a:t>
            </a:r>
            <a:r>
              <a:rPr lang="en-US"/>
              <a:t>00000</a:t>
            </a:r>
            <a:r>
              <a:rPr lang="en-US"/>
              <a:t>, 2GHz CPU (2x10^9 operations / second)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O(n^3) ⇒ 10^18 operations ⇒ approx 16 years!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O(n^2) ⇒ 10^12 operations ⇒ 8.3 minutes!</a:t>
            </a:r>
            <a:endParaRPr/>
          </a:p>
        </p:txBody>
      </p:sp>
      <p:pic>
        <p:nvPicPr>
          <p:cNvPr id="586" name="Google Shape;58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600" y="1929563"/>
            <a:ext cx="642974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8100" y="1929575"/>
            <a:ext cx="629852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60"/>
          <p:cNvSpPr/>
          <p:nvPr/>
        </p:nvSpPr>
        <p:spPr>
          <a:xfrm>
            <a:off x="926375" y="2805275"/>
            <a:ext cx="9283200" cy="160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Power of Efficient Algorithms</a:t>
            </a:r>
            <a:endParaRPr/>
          </a:p>
        </p:txBody>
      </p:sp>
      <p:sp>
        <p:nvSpPr>
          <p:cNvPr id="595" name="Google Shape;595;p6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Converting an 		algorithm to		   can make the difference between impossible and practical.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Say, n=1000000, 2GHz CPU (2x10^9 operations / second)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O(n^3) ⇒ 10^18 operations ⇒ approx 16 years!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O(n^2) ⇒ 10^12 operations ⇒ 8.3 minutes!</a:t>
            </a:r>
            <a:endParaRPr/>
          </a:p>
        </p:txBody>
      </p:sp>
      <p:pic>
        <p:nvPicPr>
          <p:cNvPr id="596" name="Google Shape;59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600" y="1929563"/>
            <a:ext cx="642974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8100" y="1929575"/>
            <a:ext cx="629852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61"/>
          <p:cNvSpPr/>
          <p:nvPr/>
        </p:nvSpPr>
        <p:spPr>
          <a:xfrm>
            <a:off x="3708300" y="3304200"/>
            <a:ext cx="6413400" cy="1058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6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Power of Efficient Algorithms</a:t>
            </a:r>
            <a:endParaRPr/>
          </a:p>
        </p:txBody>
      </p:sp>
      <p:sp>
        <p:nvSpPr>
          <p:cNvPr id="605" name="Google Shape;605;p6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Converting an 		algorithm to		   can make the difference between impossible and practical.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Say, n=1000000, 2GHz CPU (2x10^9 operations / second)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O(n^3) ⇒ 10^18 operations ⇒ approx 16 years!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O(n^2) ⇒ 10^12 operations ⇒ 8.3 minutes!</a:t>
            </a:r>
            <a:endParaRPr/>
          </a:p>
        </p:txBody>
      </p:sp>
      <p:pic>
        <p:nvPicPr>
          <p:cNvPr id="606" name="Google Shape;60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600" y="1929563"/>
            <a:ext cx="642974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8100" y="1929575"/>
            <a:ext cx="629852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62"/>
          <p:cNvSpPr/>
          <p:nvPr/>
        </p:nvSpPr>
        <p:spPr>
          <a:xfrm>
            <a:off x="5958100" y="3304200"/>
            <a:ext cx="4163700" cy="1058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Power of Efficient Algorithms</a:t>
            </a:r>
            <a:endParaRPr/>
          </a:p>
        </p:txBody>
      </p:sp>
      <p:sp>
        <p:nvSpPr>
          <p:cNvPr id="615" name="Google Shape;615;p6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Converting an 		algorithm to		   can make the difference between impossible and practical.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Say,</a:t>
            </a:r>
            <a:r>
              <a:rPr lang="en-US"/>
              <a:t> n=1000000</a:t>
            </a:r>
            <a:r>
              <a:rPr lang="en-US"/>
              <a:t>, 2GHz CPU (2x10^9 operations / second)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O(n^3) ⇒ 10^18 operations ⇒ approx 16 years!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With O(n^2) ⇒ 10^12 operations ⇒ 8.3 minutes!</a:t>
            </a:r>
            <a:endParaRPr/>
          </a:p>
        </p:txBody>
      </p:sp>
      <p:pic>
        <p:nvPicPr>
          <p:cNvPr id="616" name="Google Shape;61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600" y="1929563"/>
            <a:ext cx="642974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8100" y="1929575"/>
            <a:ext cx="629852" cy="3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Space Complexity</a:t>
            </a:r>
            <a:endParaRPr/>
          </a:p>
        </p:txBody>
      </p:sp>
      <p:sp>
        <p:nvSpPr>
          <p:cNvPr id="624" name="Google Shape;624;p6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Same type of analysis goes for memory consumption as well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Space complexity measures how much memory an algorithm uses as the input size (n)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Memory is valuable!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1D array ⇒ O(n) space complexity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2D array ⇒ O(n^2) space complexity</a:t>
            </a:r>
            <a:endParaRPr/>
          </a:p>
        </p:txBody>
      </p:sp>
      <p:sp>
        <p:nvSpPr>
          <p:cNvPr id="625" name="Google Shape;625;p64"/>
          <p:cNvSpPr/>
          <p:nvPr/>
        </p:nvSpPr>
        <p:spPr>
          <a:xfrm>
            <a:off x="1425325" y="2381925"/>
            <a:ext cx="9570300" cy="2247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6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Space Complexity</a:t>
            </a:r>
            <a:endParaRPr/>
          </a:p>
        </p:txBody>
      </p:sp>
      <p:sp>
        <p:nvSpPr>
          <p:cNvPr id="632" name="Google Shape;632;p6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Same type of analysis goes for memory consumption as well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Space complexity measures how much memory an algorithm uses as the input size (n)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Memory is valuable!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1D array ⇒ O(n) space complexity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2D array ⇒ O(n^2) space complexity</a:t>
            </a:r>
            <a:endParaRPr/>
          </a:p>
        </p:txBody>
      </p:sp>
      <p:sp>
        <p:nvSpPr>
          <p:cNvPr id="633" name="Google Shape;633;p65"/>
          <p:cNvSpPr/>
          <p:nvPr/>
        </p:nvSpPr>
        <p:spPr>
          <a:xfrm>
            <a:off x="1425325" y="3304125"/>
            <a:ext cx="9570300" cy="132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6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Space Complexity</a:t>
            </a:r>
            <a:endParaRPr/>
          </a:p>
        </p:txBody>
      </p:sp>
      <p:sp>
        <p:nvSpPr>
          <p:cNvPr id="640" name="Google Shape;640;p6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Same type of analysis goes for memory consumption as well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Space complexity measures how much memory an algorithm uses as the input size (n)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Memory is valuable!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1D array ⇒ O(n) space complexity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2D array ⇒ O(n^2) space complexity</a:t>
            </a:r>
            <a:endParaRPr/>
          </a:p>
        </p:txBody>
      </p:sp>
      <p:sp>
        <p:nvSpPr>
          <p:cNvPr id="641" name="Google Shape;641;p66"/>
          <p:cNvSpPr/>
          <p:nvPr/>
        </p:nvSpPr>
        <p:spPr>
          <a:xfrm>
            <a:off x="2952325" y="3546125"/>
            <a:ext cx="4067100" cy="1113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Space Complexity</a:t>
            </a:r>
            <a:endParaRPr/>
          </a:p>
        </p:txBody>
      </p:sp>
      <p:sp>
        <p:nvSpPr>
          <p:cNvPr id="648" name="Google Shape;648;p6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Same type of analysis goes for memory consumption as well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Space complexity measures how much memory an algorithm uses as the input size (n) grows.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Memory is valuable!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1D array ⇒ O(n) space complexity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2D array ⇒ O(n^2) space complexity</a:t>
            </a:r>
            <a:endParaRPr/>
          </a:p>
        </p:txBody>
      </p:sp>
      <p:sp>
        <p:nvSpPr>
          <p:cNvPr id="649" name="Google Shape;649;p6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 Complexity vs Space Complexity</a:t>
            </a:r>
            <a:endParaRPr/>
          </a:p>
        </p:txBody>
      </p:sp>
      <p:sp>
        <p:nvSpPr>
          <p:cNvPr id="655" name="Google Shape;655;p6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Time Complexity: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Measures how fast an algorithm runs.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Space Complexity: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Measures how much memory an algorithm uses.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Trade-Off: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Sometimes, you can save time by using more memory, or save memory by using more time.</a:t>
            </a:r>
            <a:endParaRPr/>
          </a:p>
        </p:txBody>
      </p:sp>
      <p:pic>
        <p:nvPicPr>
          <p:cNvPr id="656" name="Google Shape;65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4550" y="1384075"/>
            <a:ext cx="3117950" cy="27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68"/>
          <p:cNvSpPr txBox="1"/>
          <p:nvPr/>
        </p:nvSpPr>
        <p:spPr>
          <a:xfrm>
            <a:off x="8704550" y="3045600"/>
            <a:ext cx="1013100" cy="615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7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1" sz="2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68"/>
          <p:cNvSpPr txBox="1"/>
          <p:nvPr/>
        </p:nvSpPr>
        <p:spPr>
          <a:xfrm>
            <a:off x="10232775" y="3258475"/>
            <a:ext cx="1246800" cy="615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7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Space</a:t>
            </a:r>
            <a:endParaRPr b="1" sz="2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6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</a:t>
            </a:r>
            <a:endParaRPr/>
          </a:p>
        </p:txBody>
      </p:sp>
      <p:pic>
        <p:nvPicPr>
          <p:cNvPr id="665" name="Google Shape;66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2075" y="2220050"/>
            <a:ext cx="9429750" cy="3562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6" name="Google Shape;666;p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7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Pitfall</a:t>
            </a:r>
            <a:endParaRPr/>
          </a:p>
        </p:txBody>
      </p:sp>
      <p:pic>
        <p:nvPicPr>
          <p:cNvPr id="672" name="Google Shape;67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838" y="3506300"/>
            <a:ext cx="9991725" cy="1885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3" name="Google Shape;673;p70"/>
          <p:cNvSpPr txBox="1"/>
          <p:nvPr/>
        </p:nvSpPr>
        <p:spPr>
          <a:xfrm>
            <a:off x="1356426" y="2290763"/>
            <a:ext cx="932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 concatenation may not be constant as we might think!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70"/>
          <p:cNvSpPr/>
          <p:nvPr/>
        </p:nvSpPr>
        <p:spPr>
          <a:xfrm>
            <a:off x="3693175" y="4559075"/>
            <a:ext cx="6990600" cy="37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7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7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Pitfall</a:t>
            </a:r>
            <a:endParaRPr/>
          </a:p>
        </p:txBody>
      </p:sp>
      <p:pic>
        <p:nvPicPr>
          <p:cNvPr id="681" name="Google Shape;68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838" y="3506300"/>
            <a:ext cx="9991725" cy="1885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2" name="Google Shape;682;p71"/>
          <p:cNvSpPr txBox="1"/>
          <p:nvPr/>
        </p:nvSpPr>
        <p:spPr>
          <a:xfrm>
            <a:off x="1356426" y="2290763"/>
            <a:ext cx="932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 concatenation may not be constant as we might think!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7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7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Common Order of Growth Functions</a:t>
            </a:r>
            <a:endParaRPr/>
          </a:p>
        </p:txBody>
      </p:sp>
      <p:pic>
        <p:nvPicPr>
          <p:cNvPr id="689" name="Google Shape;68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1800" y="1415800"/>
            <a:ext cx="7073150" cy="5210625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7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Things Can Get Complicated </a:t>
            </a:r>
            <a:r>
              <a:rPr lang="en-US"/>
              <a:t>😬</a:t>
            </a:r>
            <a:endParaRPr/>
          </a:p>
        </p:txBody>
      </p:sp>
      <p:pic>
        <p:nvPicPr>
          <p:cNvPr id="696" name="Google Shape;69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225" y="1433825"/>
            <a:ext cx="6143625" cy="1714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7" name="Google Shape;697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213" y="3421675"/>
            <a:ext cx="6238645" cy="3147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8" name="Google Shape;69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42682" y="2901575"/>
            <a:ext cx="4650343" cy="1741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9" name="Google Shape;699;p73"/>
          <p:cNvSpPr txBox="1"/>
          <p:nvPr/>
        </p:nvSpPr>
        <p:spPr>
          <a:xfrm>
            <a:off x="6234650" y="1433825"/>
            <a:ext cx="90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73"/>
          <p:cNvSpPr txBox="1"/>
          <p:nvPr/>
        </p:nvSpPr>
        <p:spPr>
          <a:xfrm>
            <a:off x="5643525" y="4027500"/>
            <a:ext cx="159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O(logn)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73"/>
          <p:cNvSpPr txBox="1"/>
          <p:nvPr/>
        </p:nvSpPr>
        <p:spPr>
          <a:xfrm>
            <a:off x="10481625" y="3148325"/>
            <a:ext cx="142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O(2^n)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1773" y="2594975"/>
            <a:ext cx="3322799" cy="41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Conclusion: Efficiency Beats Raw Power</a:t>
            </a:r>
            <a:endParaRPr/>
          </a:p>
        </p:txBody>
      </p:sp>
      <p:sp>
        <p:nvSpPr>
          <p:cNvPr id="709" name="Google Shape;709;p7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 supercomputer can perform trillions of calculations per second.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But if it runs an inefficient algorithm (e.g.,                         )             </a:t>
            </a:r>
            <a:br>
              <a:rPr lang="en-US"/>
            </a:br>
            <a:r>
              <a:rPr lang="en-US"/>
              <a:t>it can still struggle with large inputs.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 normal computer running an efficient algorithm </a:t>
            </a:r>
            <a:br>
              <a:rPr lang="en-US"/>
            </a:br>
            <a:r>
              <a:rPr lang="en-US"/>
              <a:t>(e.g., 				            ) can outperform a </a:t>
            </a:r>
            <a:br>
              <a:rPr lang="en-US"/>
            </a:br>
            <a:r>
              <a:rPr lang="en-US"/>
              <a:t>supercomputer running an inefficient one.</a:t>
            </a:r>
            <a:endParaRPr/>
          </a:p>
        </p:txBody>
      </p:sp>
      <p:pic>
        <p:nvPicPr>
          <p:cNvPr id="710" name="Google Shape;710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6554" y="2414511"/>
            <a:ext cx="1853250" cy="41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2697" y="3903429"/>
            <a:ext cx="2447141" cy="410900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7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Homework</a:t>
            </a:r>
            <a:endParaRPr/>
          </a:p>
        </p:txBody>
      </p:sp>
      <p:sp>
        <p:nvSpPr>
          <p:cNvPr id="718" name="Google Shape;718;p7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2700"/>
              <a:t>You have an n-bit secret integer. What would be the time complexity of an algorithm that tries to guess this integer?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Find the space complexity of storing all possible permutations of a given string.</a:t>
            </a:r>
            <a:endParaRPr sz="2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/>
              <a:t>Find the time complexity of generating all possible subsets of a given set.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Hint: {1,2,3} ⇒ { {}, {1}, {2}, {3}, {1,2}, {2,3}, {3,1}, {1,2,3} }</a:t>
            </a:r>
            <a:endParaRPr/>
          </a:p>
        </p:txBody>
      </p:sp>
      <p:sp>
        <p:nvSpPr>
          <p:cNvPr id="719" name="Google Shape;719;p7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7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Homework</a:t>
            </a:r>
            <a:endParaRPr/>
          </a:p>
        </p:txBody>
      </p:sp>
      <p:sp>
        <p:nvSpPr>
          <p:cNvPr id="725" name="Google Shape;725;p7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2700"/>
              <a:t>You have a list of integers. Find pairs of integers (a,b) such that a+b = 0</a:t>
            </a:r>
            <a:endParaRPr sz="27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O(n^2) time  	⇒ Brute force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O(nlogn) time 	⇒ Sorting + Binary search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O(n) time		⇒ Hashmap (Will study later in this course)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Try to figure out the space complexity for each approach!</a:t>
            </a:r>
            <a:endParaRPr sz="2700"/>
          </a:p>
        </p:txBody>
      </p:sp>
      <p:sp>
        <p:nvSpPr>
          <p:cNvPr id="726" name="Google Shape;726;p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Reading Materials</a:t>
            </a:r>
            <a:endParaRPr/>
          </a:p>
        </p:txBody>
      </p:sp>
      <p:sp>
        <p:nvSpPr>
          <p:cNvPr id="732" name="Google Shape;732;p7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https://medium.com/@hlfdev/algorithms-discover-the-power-of-big-o-notation-17a367bd62a</a:t>
            </a:r>
            <a:endParaRPr/>
          </a:p>
        </p:txBody>
      </p:sp>
      <p:sp>
        <p:nvSpPr>
          <p:cNvPr id="733" name="Google Shape;733;p7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3725" y="642900"/>
            <a:ext cx="5531575" cy="5435375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7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