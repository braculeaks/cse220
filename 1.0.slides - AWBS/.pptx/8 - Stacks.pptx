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embeddedFontLst>
    <p:embeddedFont>
      <p:font typeface="Century Schoolbook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CenturySchoolbook-regular.fntdata"/><Relationship Id="rId47" Type="http://schemas.openxmlformats.org/officeDocument/2006/relationships/slide" Target="slides/slide43.xml"/><Relationship Id="rId49" Type="http://schemas.openxmlformats.org/officeDocument/2006/relationships/font" Target="fonts/CenturySchoolboo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CenturySchoolbook-boldItalic.fntdata"/><Relationship Id="rId50" Type="http://schemas.openxmlformats.org/officeDocument/2006/relationships/font" Target="fonts/CenturySchoolbook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dd83333f1_0_4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dd83333f1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dd83333f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dd83333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dd83333f1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dd83333f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dd83333f1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dd83333f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dd83333f1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dd83333f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dd83333f1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dd83333f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dd83333f1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dd83333f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dd83333f1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dd83333f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dd83333f1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dd83333f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3dd83333f1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3dd83333f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dd83333f1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dd83333f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dd83333f1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3dd83333f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3dd83333f1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3dd83333f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dd83333f1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3dd83333f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dd83333f1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dd83333f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dd83333f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3dd83333f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3dd83333f1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3dd83333f1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dd83333f1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dd83333f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3dd83333f1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3dd83333f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3dd83333f1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3dd83333f1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3dd83333f1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3dd83333f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dd83333f1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dd83333f1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dd83333f1_0_3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dd83333f1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dd83333f1_0_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dd83333f1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3dd83333f1_0_3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3dd83333f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3dd83333f1_0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3dd83333f1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dd83333f1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dd83333f1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3dd83333f1_0_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3dd83333f1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3dd83333f1_0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3dd83333f1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33241c9326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33241c932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3dd83333f1_0_4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3dd83333f1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3dd83333f1_0_4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3dd83333f1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3dd83333f1_0_4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3dd83333f1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3dd83333f1_0_4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3dd83333f1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3dd83333f1_0_4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3dd83333f1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33241c9326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33241c932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3dd83333f1_0_4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3dd83333f1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3dd83333f1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3dd83333f1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3dd83333f1_0_4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3dd83333f1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3dd83333f1_0_4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3dd83333f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3dd83333f1_0_5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3dd83333f1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fa6696b6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3fa6696b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52814" y="656513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pastebin.com/779yfGZk" TargetMode="External"/><Relationship Id="rId4" Type="http://schemas.openxmlformats.org/officeDocument/2006/relationships/hyperlink" Target="https://pastebin.com/Y8FHfAq9" TargetMode="External"/><Relationship Id="rId5" Type="http://schemas.openxmlformats.org/officeDocument/2006/relationships/hyperlink" Target="https://pastebin.com/Y8FHfAq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Stacks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Stacks</a:t>
            </a:r>
            <a:endParaRPr/>
          </a:p>
        </p:txBody>
      </p: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LIFO (Last In, First Out) data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Items are added on top of each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removing items, the most recently added item is removed first</a:t>
            </a:r>
            <a:endParaRPr/>
          </a:p>
        </p:txBody>
      </p: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Stacks</a:t>
            </a:r>
            <a:endParaRPr/>
          </a:p>
        </p:txBody>
      </p:sp>
      <p:sp>
        <p:nvSpPr>
          <p:cNvPr id="134" name="Google Shape;134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LIFO (Last In, First Out) data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Add elements ⇒ push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elements ⇒ pop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most recently added element is removed first</a:t>
            </a:r>
            <a:endParaRPr/>
          </a:p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163" y="3144700"/>
            <a:ext cx="6271025" cy="37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142" name="Google Shape;142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950" y="1690825"/>
            <a:ext cx="9232089" cy="43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149" name="Google Shape;149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17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8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172" name="Google Shape;172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p19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9158500" y="4172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7" name="Google Shape;187;p20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158500" y="4172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9158500" y="3410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factorial(2)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" name="Google Shape;201;p21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9158500" y="4172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9158500" y="3410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factorial(2)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9158500" y="2648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factorial(1)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214" name="Google Shape;214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22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9158500" y="4172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9158500" y="3410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factorial(2)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9158500" y="2648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factorial(1)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9158500" y="1886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factorial(0)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1" name="Google Shape;2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23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9158500" y="4172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9158500" y="3410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factorial(2)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9158500" y="2648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factorial(1)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 rot="794715">
            <a:off x="9310912" y="1022319"/>
            <a:ext cx="1871074" cy="46170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factorial(0)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9916257" y="1452425"/>
            <a:ext cx="242950" cy="1173425"/>
          </a:xfrm>
          <a:custGeom>
            <a:rect b="b" l="l" r="r" t="t"/>
            <a:pathLst>
              <a:path extrusionOk="0" h="46937" w="9718">
                <a:moveTo>
                  <a:pt x="9719" y="0"/>
                </a:moveTo>
                <a:cubicBezTo>
                  <a:pt x="8241" y="2434"/>
                  <a:pt x="2418" y="6780"/>
                  <a:pt x="853" y="14603"/>
                </a:cubicBezTo>
                <a:cubicBezTo>
                  <a:pt x="-711" y="22426"/>
                  <a:pt x="419" y="41548"/>
                  <a:pt x="332" y="469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2" name="Google Shape;242;p23"/>
          <p:cNvSpPr txBox="1"/>
          <p:nvPr/>
        </p:nvSpPr>
        <p:spPr>
          <a:xfrm>
            <a:off x="10037800" y="1809375"/>
            <a:ext cx="417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248" name="Google Shape;248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9" name="Google Shape;2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0" name="Google Shape;250;p24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9158500" y="4172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9158500" y="3410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factorial(2)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 rot="819048">
            <a:off x="9158465" y="1748275"/>
            <a:ext cx="1871156" cy="46182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factorial(1)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9840057" y="2214425"/>
            <a:ext cx="242950" cy="1173425"/>
          </a:xfrm>
          <a:custGeom>
            <a:rect b="b" l="l" r="r" t="t"/>
            <a:pathLst>
              <a:path extrusionOk="0" h="46937" w="9718">
                <a:moveTo>
                  <a:pt x="9719" y="0"/>
                </a:moveTo>
                <a:cubicBezTo>
                  <a:pt x="8241" y="2434"/>
                  <a:pt x="2418" y="6780"/>
                  <a:pt x="853" y="14603"/>
                </a:cubicBezTo>
                <a:cubicBezTo>
                  <a:pt x="-711" y="22426"/>
                  <a:pt x="419" y="41548"/>
                  <a:pt x="332" y="469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59" name="Google Shape;259;p24"/>
          <p:cNvSpPr txBox="1"/>
          <p:nvPr/>
        </p:nvSpPr>
        <p:spPr>
          <a:xfrm>
            <a:off x="9961600" y="2571375"/>
            <a:ext cx="1644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* 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6" name="Google Shape;2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7" name="Google Shape;267;p25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9158500" y="41724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 rot="952484">
            <a:off x="9158512" y="2486901"/>
            <a:ext cx="1871058" cy="46161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factorial(2)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9763857" y="2976425"/>
            <a:ext cx="242950" cy="1173425"/>
          </a:xfrm>
          <a:custGeom>
            <a:rect b="b" l="l" r="r" t="t"/>
            <a:pathLst>
              <a:path extrusionOk="0" h="46937" w="9718">
                <a:moveTo>
                  <a:pt x="9719" y="0"/>
                </a:moveTo>
                <a:cubicBezTo>
                  <a:pt x="8241" y="2434"/>
                  <a:pt x="2418" y="6780"/>
                  <a:pt x="853" y="14603"/>
                </a:cubicBezTo>
                <a:cubicBezTo>
                  <a:pt x="-711" y="22426"/>
                  <a:pt x="419" y="41548"/>
                  <a:pt x="332" y="469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75" name="Google Shape;275;p25"/>
          <p:cNvSpPr txBox="1"/>
          <p:nvPr/>
        </p:nvSpPr>
        <p:spPr>
          <a:xfrm>
            <a:off x="9885400" y="3333375"/>
            <a:ext cx="1644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281" name="Google Shape;28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2" name="Google Shape;2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3" name="Google Shape;283;p26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9158500" y="48582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 rot="964522">
            <a:off x="9262788" y="3198136"/>
            <a:ext cx="1871062" cy="46173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factorial(3)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9840057" y="3662225"/>
            <a:ext cx="242950" cy="1173425"/>
          </a:xfrm>
          <a:custGeom>
            <a:rect b="b" l="l" r="r" t="t"/>
            <a:pathLst>
              <a:path extrusionOk="0" h="46937" w="9718">
                <a:moveTo>
                  <a:pt x="9719" y="0"/>
                </a:moveTo>
                <a:cubicBezTo>
                  <a:pt x="8241" y="2434"/>
                  <a:pt x="2418" y="6780"/>
                  <a:pt x="853" y="14603"/>
                </a:cubicBezTo>
                <a:cubicBezTo>
                  <a:pt x="-711" y="22426"/>
                  <a:pt x="419" y="41548"/>
                  <a:pt x="332" y="469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90" name="Google Shape;290;p26"/>
          <p:cNvSpPr txBox="1"/>
          <p:nvPr/>
        </p:nvSpPr>
        <p:spPr>
          <a:xfrm>
            <a:off x="9961600" y="4019175"/>
            <a:ext cx="1644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2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296" name="Google Shape;29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7" name="Google Shape;2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8" name="Google Shape;298;p27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9158500" y="5544075"/>
            <a:ext cx="1871100" cy="46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 rot="937112">
            <a:off x="9186065" y="3826784"/>
            <a:ext cx="1870881" cy="46162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9916257" y="4348025"/>
            <a:ext cx="242950" cy="1173425"/>
          </a:xfrm>
          <a:custGeom>
            <a:rect b="b" l="l" r="r" t="t"/>
            <a:pathLst>
              <a:path extrusionOk="0" h="46937" w="9718">
                <a:moveTo>
                  <a:pt x="9719" y="0"/>
                </a:moveTo>
                <a:cubicBezTo>
                  <a:pt x="8241" y="2434"/>
                  <a:pt x="2418" y="6780"/>
                  <a:pt x="853" y="14603"/>
                </a:cubicBezTo>
                <a:cubicBezTo>
                  <a:pt x="-711" y="22426"/>
                  <a:pt x="419" y="41548"/>
                  <a:pt x="332" y="469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04" name="Google Shape;304;p27"/>
          <p:cNvSpPr txBox="1"/>
          <p:nvPr/>
        </p:nvSpPr>
        <p:spPr>
          <a:xfrm>
            <a:off x="10037800" y="4704975"/>
            <a:ext cx="1644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6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– Function Calls</a:t>
            </a:r>
            <a:endParaRPr/>
          </a:p>
        </p:txBody>
      </p:sp>
      <p:sp>
        <p:nvSpPr>
          <p:cNvPr id="310" name="Google Shape;310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975"/>
            <a:ext cx="5448300" cy="1876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2" name="Google Shape;312;p28"/>
          <p:cNvSpPr txBox="1"/>
          <p:nvPr/>
        </p:nvSpPr>
        <p:spPr>
          <a:xfrm>
            <a:off x="328550" y="4620675"/>
            <a:ext cx="40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happen if you call factorial(5)?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8907550" y="1400275"/>
            <a:ext cx="2373000" cy="47736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8542500" y="1204725"/>
            <a:ext cx="28944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 txBox="1"/>
          <p:nvPr/>
        </p:nvSpPr>
        <p:spPr>
          <a:xfrm rot="707244">
            <a:off x="9158583" y="4448826"/>
            <a:ext cx="1870954" cy="46181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factorial(5)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6843500" y="4812975"/>
            <a:ext cx="1644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*24 = 120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7760225" y="4920550"/>
            <a:ext cx="2346850" cy="672800"/>
          </a:xfrm>
          <a:custGeom>
            <a:rect b="b" l="l" r="r" t="t"/>
            <a:pathLst>
              <a:path extrusionOk="0" h="26912" w="93874">
                <a:moveTo>
                  <a:pt x="93874" y="0"/>
                </a:moveTo>
                <a:cubicBezTo>
                  <a:pt x="91614" y="4085"/>
                  <a:pt x="91179" y="20339"/>
                  <a:pt x="80314" y="24511"/>
                </a:cubicBezTo>
                <a:cubicBezTo>
                  <a:pt x="69449" y="28683"/>
                  <a:pt x="42070" y="26250"/>
                  <a:pt x="28684" y="25033"/>
                </a:cubicBezTo>
                <a:cubicBezTo>
                  <a:pt x="15298" y="23816"/>
                  <a:pt x="4781" y="18514"/>
                  <a:pt x="0" y="1721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 Operations</a:t>
            </a:r>
            <a:endParaRPr/>
          </a:p>
        </p:txBody>
      </p:sp>
      <p:sp>
        <p:nvSpPr>
          <p:cNvPr id="323" name="Google Shape;323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4" name="Google Shape;3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875" y="2623413"/>
            <a:ext cx="99726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 Implementation</a:t>
            </a:r>
            <a:endParaRPr/>
          </a:p>
        </p:txBody>
      </p:sp>
      <p:sp>
        <p:nvSpPr>
          <p:cNvPr id="330" name="Google Shape;330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1" name="Google Shape;3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663" y="2472888"/>
            <a:ext cx="9153525" cy="29813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Push</a:t>
            </a:r>
            <a:endParaRPr/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8" name="Google Shape;3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75" y="1690825"/>
            <a:ext cx="9096375" cy="229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9" name="Google Shape;339;p31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31"/>
          <p:cNvCxnSpPr>
            <a:stCxn id="343" idx="2"/>
            <a:endCxn id="342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31"/>
          <p:cNvCxnSpPr>
            <a:stCxn id="342" idx="2"/>
            <a:endCxn id="341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31"/>
          <p:cNvSpPr txBox="1"/>
          <p:nvPr/>
        </p:nvSpPr>
        <p:spPr>
          <a:xfrm>
            <a:off x="11314675" y="39541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1059500" y="5054775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push(12)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811575" y="2484325"/>
            <a:ext cx="7998300" cy="123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Push</a:t>
            </a:r>
            <a:endParaRPr/>
          </a:p>
        </p:txBody>
      </p:sp>
      <p:sp>
        <p:nvSpPr>
          <p:cNvPr id="354" name="Google Shape;354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5" name="Google Shape;3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75" y="1690825"/>
            <a:ext cx="9096375" cy="229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6" name="Google Shape;356;p32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32"/>
          <p:cNvCxnSpPr>
            <a:stCxn id="360" idx="2"/>
            <a:endCxn id="359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2"/>
          <p:cNvCxnSpPr>
            <a:stCxn id="359" idx="2"/>
            <a:endCxn id="358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32"/>
          <p:cNvSpPr txBox="1"/>
          <p:nvPr/>
        </p:nvSpPr>
        <p:spPr>
          <a:xfrm>
            <a:off x="1059500" y="5054775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push(12)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811575" y="2875775"/>
            <a:ext cx="7998300" cy="84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10276575" y="31500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11314675" y="39541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Push</a:t>
            </a:r>
            <a:endParaRPr/>
          </a:p>
        </p:txBody>
      </p:sp>
      <p:sp>
        <p:nvSpPr>
          <p:cNvPr id="372" name="Google Shape;372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3" name="Google Shape;3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75" y="1690825"/>
            <a:ext cx="9096375" cy="229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4" name="Google Shape;374;p33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33"/>
          <p:cNvCxnSpPr>
            <a:stCxn id="378" idx="2"/>
            <a:endCxn id="377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3"/>
          <p:cNvCxnSpPr>
            <a:stCxn id="377" idx="2"/>
            <a:endCxn id="376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33"/>
          <p:cNvSpPr txBox="1"/>
          <p:nvPr/>
        </p:nvSpPr>
        <p:spPr>
          <a:xfrm>
            <a:off x="1059500" y="5054775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push(12)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811575" y="3293575"/>
            <a:ext cx="7998300" cy="43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10276575" y="31500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11314675" y="39541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33"/>
          <p:cNvCxnSpPr>
            <a:stCxn id="383" idx="2"/>
            <a:endCxn id="378" idx="0"/>
          </p:cNvCxnSpPr>
          <p:nvPr/>
        </p:nvCxnSpPr>
        <p:spPr>
          <a:xfrm>
            <a:off x="10687275" y="3580263"/>
            <a:ext cx="0" cy="3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" name="Google Shape;386;p33"/>
          <p:cNvSpPr txBox="1"/>
          <p:nvPr/>
        </p:nvSpPr>
        <p:spPr>
          <a:xfrm>
            <a:off x="3408125" y="3423775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Push</a:t>
            </a:r>
            <a:endParaRPr/>
          </a:p>
        </p:txBody>
      </p:sp>
      <p:sp>
        <p:nvSpPr>
          <p:cNvPr id="392" name="Google Shape;392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3" name="Google Shape;3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75" y="1690825"/>
            <a:ext cx="9096375" cy="229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4" name="Google Shape;394;p34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34"/>
          <p:cNvCxnSpPr>
            <a:stCxn id="398" idx="2"/>
            <a:endCxn id="397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34"/>
          <p:cNvCxnSpPr>
            <a:stCxn id="397" idx="2"/>
            <a:endCxn id="396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1" name="Google Shape;401;p34"/>
          <p:cNvSpPr txBox="1"/>
          <p:nvPr/>
        </p:nvSpPr>
        <p:spPr>
          <a:xfrm>
            <a:off x="1059500" y="5054775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push(12)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10276575" y="3150063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 txBox="1"/>
          <p:nvPr/>
        </p:nvSpPr>
        <p:spPr>
          <a:xfrm>
            <a:off x="11353800" y="31419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34"/>
          <p:cNvCxnSpPr>
            <a:stCxn id="402" idx="2"/>
            <a:endCxn id="398" idx="0"/>
          </p:cNvCxnSpPr>
          <p:nvPr/>
        </p:nvCxnSpPr>
        <p:spPr>
          <a:xfrm>
            <a:off x="10687275" y="3580263"/>
            <a:ext cx="0" cy="3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</a:t>
            </a:r>
            <a:endParaRPr/>
          </a:p>
        </p:txBody>
      </p:sp>
      <p:sp>
        <p:nvSpPr>
          <p:cNvPr id="410" name="Google Shape;410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24" y="1791674"/>
            <a:ext cx="6993175" cy="342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2" name="Google Shape;412;p35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35"/>
          <p:cNvCxnSpPr>
            <a:stCxn id="415" idx="2"/>
            <a:endCxn id="414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5"/>
          <p:cNvCxnSpPr>
            <a:stCxn id="414" idx="2"/>
            <a:endCxn id="413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35"/>
          <p:cNvSpPr/>
          <p:nvPr/>
        </p:nvSpPr>
        <p:spPr>
          <a:xfrm>
            <a:off x="10276575" y="3150063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11353800" y="31419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35"/>
          <p:cNvCxnSpPr>
            <a:stCxn id="418" idx="2"/>
            <a:endCxn id="415" idx="0"/>
          </p:cNvCxnSpPr>
          <p:nvPr/>
        </p:nvCxnSpPr>
        <p:spPr>
          <a:xfrm>
            <a:off x="10687275" y="3580263"/>
            <a:ext cx="0" cy="3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" name="Google Shape;421;p35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 txBox="1"/>
          <p:nvPr/>
        </p:nvSpPr>
        <p:spPr>
          <a:xfrm>
            <a:off x="1568375" y="54462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1020325" y="2876050"/>
            <a:ext cx="6615300" cy="202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</a:t>
            </a:r>
            <a:endParaRPr/>
          </a:p>
        </p:txBody>
      </p:sp>
      <p:sp>
        <p:nvSpPr>
          <p:cNvPr id="429" name="Google Shape;429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0" name="Google Shape;4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24" y="1791674"/>
            <a:ext cx="6993175" cy="342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1" name="Google Shape;431;p36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36"/>
          <p:cNvCxnSpPr>
            <a:stCxn id="434" idx="2"/>
            <a:endCxn id="433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36"/>
          <p:cNvCxnSpPr>
            <a:stCxn id="433" idx="2"/>
            <a:endCxn id="432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36"/>
          <p:cNvSpPr/>
          <p:nvPr/>
        </p:nvSpPr>
        <p:spPr>
          <a:xfrm>
            <a:off x="10276575" y="3150063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 txBox="1"/>
          <p:nvPr/>
        </p:nvSpPr>
        <p:spPr>
          <a:xfrm>
            <a:off x="11353800" y="31419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36"/>
          <p:cNvCxnSpPr>
            <a:stCxn id="437" idx="2"/>
            <a:endCxn id="434" idx="0"/>
          </p:cNvCxnSpPr>
          <p:nvPr/>
        </p:nvCxnSpPr>
        <p:spPr>
          <a:xfrm>
            <a:off x="10687275" y="3580263"/>
            <a:ext cx="0" cy="3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36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 txBox="1"/>
          <p:nvPr/>
        </p:nvSpPr>
        <p:spPr>
          <a:xfrm>
            <a:off x="1568375" y="54462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1020325" y="2876050"/>
            <a:ext cx="6615300" cy="91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6"/>
          <p:cNvSpPr/>
          <p:nvPr/>
        </p:nvSpPr>
        <p:spPr>
          <a:xfrm>
            <a:off x="1020325" y="4273975"/>
            <a:ext cx="6615300" cy="67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6"/>
          <p:cNvSpPr txBox="1"/>
          <p:nvPr/>
        </p:nvSpPr>
        <p:spPr>
          <a:xfrm>
            <a:off x="7977000" y="2545450"/>
            <a:ext cx="337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poppedValue = 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</a:t>
            </a:r>
            <a:endParaRPr/>
          </a:p>
        </p:txBody>
      </p:sp>
      <p:sp>
        <p:nvSpPr>
          <p:cNvPr id="450" name="Google Shape;450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1" name="Google Shape;4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24" y="1791674"/>
            <a:ext cx="6993175" cy="342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2" name="Google Shape;452;p37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7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37"/>
          <p:cNvCxnSpPr>
            <a:stCxn id="455" idx="2"/>
            <a:endCxn id="454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37"/>
          <p:cNvCxnSpPr>
            <a:stCxn id="454" idx="2"/>
            <a:endCxn id="453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37"/>
          <p:cNvSpPr/>
          <p:nvPr/>
        </p:nvSpPr>
        <p:spPr>
          <a:xfrm>
            <a:off x="10276575" y="3150063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7"/>
          <p:cNvSpPr txBox="1"/>
          <p:nvPr/>
        </p:nvSpPr>
        <p:spPr>
          <a:xfrm>
            <a:off x="11353800" y="39801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37"/>
          <p:cNvCxnSpPr>
            <a:stCxn id="458" idx="2"/>
            <a:endCxn id="455" idx="0"/>
          </p:cNvCxnSpPr>
          <p:nvPr/>
        </p:nvCxnSpPr>
        <p:spPr>
          <a:xfrm>
            <a:off x="10687275" y="3580263"/>
            <a:ext cx="0" cy="3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37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1568375" y="54462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1020325" y="2876050"/>
            <a:ext cx="6615300" cy="91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1020325" y="4572450"/>
            <a:ext cx="6615300" cy="37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 txBox="1"/>
          <p:nvPr/>
        </p:nvSpPr>
        <p:spPr>
          <a:xfrm>
            <a:off x="7977000" y="2545450"/>
            <a:ext cx="337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poppedValue = 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</a:t>
            </a:r>
            <a:endParaRPr/>
          </a:p>
        </p:txBody>
      </p:sp>
      <p:sp>
        <p:nvSpPr>
          <p:cNvPr id="471" name="Google Shape;471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2" name="Google Shape;4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24" y="1791674"/>
            <a:ext cx="6993175" cy="342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3" name="Google Shape;473;p38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38"/>
          <p:cNvCxnSpPr>
            <a:stCxn id="476" idx="2"/>
            <a:endCxn id="475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38"/>
          <p:cNvCxnSpPr>
            <a:stCxn id="475" idx="2"/>
            <a:endCxn id="474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38"/>
          <p:cNvSpPr txBox="1"/>
          <p:nvPr/>
        </p:nvSpPr>
        <p:spPr>
          <a:xfrm>
            <a:off x="11353800" y="39801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8"/>
          <p:cNvSpPr txBox="1"/>
          <p:nvPr/>
        </p:nvSpPr>
        <p:spPr>
          <a:xfrm>
            <a:off x="1568375" y="54462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1020325" y="2876050"/>
            <a:ext cx="6615300" cy="91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8"/>
          <p:cNvSpPr txBox="1"/>
          <p:nvPr/>
        </p:nvSpPr>
        <p:spPr>
          <a:xfrm>
            <a:off x="7977000" y="2545450"/>
            <a:ext cx="337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poppedValue = 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 rot="1361689">
            <a:off x="10196012" y="2820362"/>
            <a:ext cx="1693525" cy="8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</a:t>
            </a:r>
            <a:endParaRPr/>
          </a:p>
        </p:txBody>
      </p:sp>
      <p:sp>
        <p:nvSpPr>
          <p:cNvPr id="490" name="Google Shape;490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1" name="Google Shape;49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24" y="1791674"/>
            <a:ext cx="6993175" cy="3424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2" name="Google Shape;492;p39"/>
          <p:cNvSpPr/>
          <p:nvPr/>
        </p:nvSpPr>
        <p:spPr>
          <a:xfrm>
            <a:off x="10107075" y="2737600"/>
            <a:ext cx="1160400" cy="3390300"/>
          </a:xfrm>
          <a:prstGeom prst="roundRect">
            <a:avLst>
              <a:gd fmla="val 866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10276575" y="5553300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10276575" y="4750263"/>
            <a:ext cx="821400" cy="43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10276575" y="3954150"/>
            <a:ext cx="821400" cy="430200"/>
          </a:xfrm>
          <a:prstGeom prst="roundRect">
            <a:avLst>
              <a:gd fmla="val 16667" name="adj"/>
            </a:avLst>
          </a:prstGeom>
          <a:solidFill>
            <a:srgbClr val="FF0000">
              <a:alpha val="20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39"/>
          <p:cNvCxnSpPr>
            <a:stCxn id="495" idx="2"/>
            <a:endCxn id="494" idx="0"/>
          </p:cNvCxnSpPr>
          <p:nvPr/>
        </p:nvCxnSpPr>
        <p:spPr>
          <a:xfrm>
            <a:off x="10687275" y="438435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39"/>
          <p:cNvCxnSpPr>
            <a:stCxn id="494" idx="2"/>
            <a:endCxn id="493" idx="0"/>
          </p:cNvCxnSpPr>
          <p:nvPr/>
        </p:nvCxnSpPr>
        <p:spPr>
          <a:xfrm>
            <a:off x="10687275" y="5180463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39"/>
          <p:cNvSpPr txBox="1"/>
          <p:nvPr/>
        </p:nvSpPr>
        <p:spPr>
          <a:xfrm>
            <a:off x="11353800" y="3980175"/>
            <a:ext cx="5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9768625" y="2545438"/>
            <a:ext cx="1890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9"/>
          <p:cNvSpPr txBox="1"/>
          <p:nvPr/>
        </p:nvSpPr>
        <p:spPr>
          <a:xfrm>
            <a:off x="1568375" y="54462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9"/>
          <p:cNvSpPr txBox="1"/>
          <p:nvPr/>
        </p:nvSpPr>
        <p:spPr>
          <a:xfrm>
            <a:off x="7977000" y="2545450"/>
            <a:ext cx="337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poppedValue = 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9"/>
          <p:cNvSpPr txBox="1"/>
          <p:nvPr/>
        </p:nvSpPr>
        <p:spPr>
          <a:xfrm rot="1361689">
            <a:off x="10196012" y="2820362"/>
            <a:ext cx="1693525" cy="8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Peek</a:t>
            </a:r>
            <a:endParaRPr/>
          </a:p>
        </p:txBody>
      </p:sp>
      <p:sp>
        <p:nvSpPr>
          <p:cNvPr id="508" name="Google Shape;508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9" name="Google Shape;5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050" y="2704363"/>
            <a:ext cx="8648700" cy="2638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0" name="Google Shape;510;p40"/>
          <p:cNvSpPr txBox="1"/>
          <p:nvPr/>
        </p:nvSpPr>
        <p:spPr>
          <a:xfrm>
            <a:off x="-297500" y="42458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isEmpty</a:t>
            </a:r>
            <a:endParaRPr/>
          </a:p>
        </p:txBody>
      </p:sp>
      <p:sp>
        <p:nvSpPr>
          <p:cNvPr id="516" name="Google Shape;516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41"/>
          <p:cNvSpPr txBox="1"/>
          <p:nvPr/>
        </p:nvSpPr>
        <p:spPr>
          <a:xfrm>
            <a:off x="-297500" y="42458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563" y="2556750"/>
            <a:ext cx="7000875" cy="1571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Expression Evaluation</a:t>
            </a:r>
            <a:endParaRPr/>
          </a:p>
        </p:txBody>
      </p:sp>
      <p:sp>
        <p:nvSpPr>
          <p:cNvPr id="524" name="Google Shape;524;p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Expression can be written in various ways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this example, we will focus on postfix notation</a:t>
            </a:r>
            <a:endParaRPr/>
          </a:p>
        </p:txBody>
      </p:sp>
      <p:sp>
        <p:nvSpPr>
          <p:cNvPr id="525" name="Google Shape;525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6" name="Google Shape;526;p42"/>
          <p:cNvSpPr txBox="1"/>
          <p:nvPr/>
        </p:nvSpPr>
        <p:spPr>
          <a:xfrm>
            <a:off x="3558150" y="3554275"/>
            <a:ext cx="507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* 3 + 4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⇒ Infix notation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Expression Evaluation</a:t>
            </a:r>
            <a:endParaRPr/>
          </a:p>
        </p:txBody>
      </p:sp>
      <p:sp>
        <p:nvSpPr>
          <p:cNvPr id="532" name="Google Shape;532;p4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Expression can be written in various ways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this example, we will focus on postfix notation</a:t>
            </a:r>
            <a:endParaRPr/>
          </a:p>
        </p:txBody>
      </p:sp>
      <p:sp>
        <p:nvSpPr>
          <p:cNvPr id="533" name="Google Shape;533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4" name="Google Shape;534;p43"/>
          <p:cNvSpPr txBox="1"/>
          <p:nvPr/>
        </p:nvSpPr>
        <p:spPr>
          <a:xfrm>
            <a:off x="3558150" y="3554275"/>
            <a:ext cx="5075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* 3 + 4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⇒ Infix notation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3 * 4 +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⇒ Postfix notation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* 2 3 4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⇒ Prefix notation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Expression Evaluation</a:t>
            </a:r>
            <a:endParaRPr/>
          </a:p>
        </p:txBody>
      </p:sp>
      <p:sp>
        <p:nvSpPr>
          <p:cNvPr id="540" name="Google Shape;540;p4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Imagine you have a calculator where you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first enter the numbers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then specify the operation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Example: Instead of writing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 + 4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you write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 4 +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 This means, "Take 3 and 4, then add them."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No parentheses needed: (3 + 4) * 2 becomes 3 4 + 2 *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Postfix Expression</a:t>
            </a:r>
            <a:endParaRPr/>
          </a:p>
        </p:txBody>
      </p:sp>
      <p:sp>
        <p:nvSpPr>
          <p:cNvPr id="547" name="Google Shape;547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45"/>
          <p:cNvSpPr txBox="1"/>
          <p:nvPr/>
        </p:nvSpPr>
        <p:spPr>
          <a:xfrm>
            <a:off x="1662825" y="29558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(4 + 5) * 3 - 7</a:t>
            </a:r>
            <a:endParaRPr sz="2100"/>
          </a:p>
        </p:txBody>
      </p:sp>
      <p:sp>
        <p:nvSpPr>
          <p:cNvPr id="549" name="Google Shape;549;p45"/>
          <p:cNvSpPr txBox="1"/>
          <p:nvPr/>
        </p:nvSpPr>
        <p:spPr>
          <a:xfrm>
            <a:off x="1751025" y="1975450"/>
            <a:ext cx="91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5"/>
          <p:cNvSpPr txBox="1"/>
          <p:nvPr/>
        </p:nvSpPr>
        <p:spPr>
          <a:xfrm>
            <a:off x="7540125" y="1975450"/>
            <a:ext cx="177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Postfix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5"/>
          <p:cNvSpPr txBox="1"/>
          <p:nvPr/>
        </p:nvSpPr>
        <p:spPr>
          <a:xfrm>
            <a:off x="6920625" y="2879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4 5 + 3 * 7 -</a:t>
            </a:r>
            <a:endParaRPr sz="2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Postfix Expression</a:t>
            </a:r>
            <a:endParaRPr/>
          </a:p>
        </p:txBody>
      </p:sp>
      <p:sp>
        <p:nvSpPr>
          <p:cNvPr id="557" name="Google Shape;557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p46"/>
          <p:cNvSpPr txBox="1"/>
          <p:nvPr/>
        </p:nvSpPr>
        <p:spPr>
          <a:xfrm>
            <a:off x="1662825" y="29558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(4 + 5) * 3 - 7</a:t>
            </a:r>
            <a:endParaRPr sz="2100"/>
          </a:p>
        </p:txBody>
      </p:sp>
      <p:pic>
        <p:nvPicPr>
          <p:cNvPr id="559" name="Google Shape;55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8538" y="2469150"/>
            <a:ext cx="27146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6"/>
          <p:cNvSpPr txBox="1"/>
          <p:nvPr/>
        </p:nvSpPr>
        <p:spPr>
          <a:xfrm>
            <a:off x="1751025" y="1975450"/>
            <a:ext cx="91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6"/>
          <p:cNvSpPr txBox="1"/>
          <p:nvPr/>
        </p:nvSpPr>
        <p:spPr>
          <a:xfrm>
            <a:off x="7540125" y="1975450"/>
            <a:ext cx="177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Postfix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Walkthroughs</a:t>
            </a:r>
            <a:endParaRPr/>
          </a:p>
        </p:txBody>
      </p:sp>
      <p:sp>
        <p:nvSpPr>
          <p:cNvPr id="567" name="Google Shape;567;p4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Expression: </a:t>
            </a:r>
            <a:r>
              <a:rPr b="1"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 4 +</a:t>
            </a:r>
            <a:endParaRPr b="1"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→ Stack: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[3]</a:t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→ Stack: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[3, 4]</a:t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: Pop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add →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 + 4 = 7</a:t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back → Stack: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[7]</a:t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Final result: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7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</p:txBody>
      </p:sp>
      <p:sp>
        <p:nvSpPr>
          <p:cNvPr id="568" name="Google Shape;568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Walkthroughs</a:t>
            </a:r>
            <a:endParaRPr/>
          </a:p>
        </p:txBody>
      </p:sp>
      <p:sp>
        <p:nvSpPr>
          <p:cNvPr id="574" name="Google Shape;574;p4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Expression: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 1 2 + 4 * + 3 -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Walkthroughs</a:t>
            </a:r>
            <a:endParaRPr/>
          </a:p>
        </p:txBody>
      </p:sp>
      <p:sp>
        <p:nvSpPr>
          <p:cNvPr id="581" name="Google Shape;581;p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Expression: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 1 2 + 4 * + 3 -</a:t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[5]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[5, 1]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[5, 1, 2]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Pop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compute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 + 2 = 3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[5, 3]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[5, 3, 4]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Pop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compute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 * 4 = 12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[5, 12]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Pop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compute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 + 12 = 17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17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[17]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[17, 3]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Pop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17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compute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17 - 3 = 14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push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[14]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Final result: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14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Postfix Evaluation</a:t>
            </a:r>
            <a:endParaRPr/>
          </a:p>
        </p:txBody>
      </p:sp>
      <p:sp>
        <p:nvSpPr>
          <p:cNvPr id="588" name="Google Shape;588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9" name="Google Shape;58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223" y="1591765"/>
            <a:ext cx="7166525" cy="4764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Postfix Evaluation</a:t>
            </a:r>
            <a:endParaRPr/>
          </a:p>
        </p:txBody>
      </p:sp>
      <p:sp>
        <p:nvSpPr>
          <p:cNvPr id="595" name="Google Shape;595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6" name="Google Shape;59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800" y="1550275"/>
            <a:ext cx="5110532" cy="48060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Parenthesis Matching</a:t>
            </a:r>
            <a:endParaRPr/>
          </a:p>
        </p:txBody>
      </p:sp>
      <p:sp>
        <p:nvSpPr>
          <p:cNvPr id="602" name="Google Shape;602;p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Parenthesis matching checks if an expression has balanced parentheses, meaning every opening (, {, or [ has a corresponding closing ), }, or ] in the correct order.</a:t>
            </a:r>
            <a:endParaRPr sz="2200"/>
          </a:p>
        </p:txBody>
      </p:sp>
      <p:sp>
        <p:nvSpPr>
          <p:cNvPr id="603" name="Google Shape;603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4" name="Google Shape;60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250" y="2680888"/>
            <a:ext cx="381000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3"/>
          <p:cNvSpPr txBox="1"/>
          <p:nvPr>
            <p:ph type="title"/>
          </p:nvPr>
        </p:nvSpPr>
        <p:spPr>
          <a:xfrm>
            <a:off x="838200" y="1901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Parenthesis Matching</a:t>
            </a:r>
            <a:endParaRPr/>
          </a:p>
        </p:txBody>
      </p:sp>
      <p:sp>
        <p:nvSpPr>
          <p:cNvPr id="610" name="Google Shape;610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1" name="Google Shape;6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200" y="1280963"/>
            <a:ext cx="7110350" cy="38263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2" name="Google Shape;61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225" y="5289625"/>
            <a:ext cx="5396175" cy="14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4"/>
          <p:cNvSpPr txBox="1"/>
          <p:nvPr>
            <p:ph type="title"/>
          </p:nvPr>
        </p:nvSpPr>
        <p:spPr>
          <a:xfrm>
            <a:off x="838200" y="1901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Parenthesis Matching</a:t>
            </a:r>
            <a:endParaRPr/>
          </a:p>
        </p:txBody>
      </p:sp>
      <p:sp>
        <p:nvSpPr>
          <p:cNvPr id="618" name="Google Shape;618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9" name="Google Shape;61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375" y="1646975"/>
            <a:ext cx="7562850" cy="4343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Midterm solution - Pastebin.com</a:t>
            </a:r>
            <a:endParaRPr sz="4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Postfix</a:t>
            </a:r>
            <a:r>
              <a:rPr lang="en-US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 parser - Pastebin.com</a:t>
            </a:r>
            <a:endParaRPr sz="4000"/>
          </a:p>
        </p:txBody>
      </p:sp>
      <p:sp>
        <p:nvSpPr>
          <p:cNvPr id="626" name="Google Shape;626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