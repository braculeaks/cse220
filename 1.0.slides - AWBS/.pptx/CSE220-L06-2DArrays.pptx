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Century Schoolbook"/>
      <p:regular r:id="rId30"/>
      <p:bold r:id="rId31"/>
      <p:italic r:id="rId32"/>
      <p:boldItalic r:id="rId33"/>
    </p:embeddedFont>
    <p:embeddedFont>
      <p:font typeface="JetBrains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E22DA6-06C9-421E-8EC7-66BC3580C70A}">
  <a:tblStyle styleId="{A4E22DA6-06C9-421E-8EC7-66BC3580C7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Schoolbook-bold.fntdata"/><Relationship Id="rId30" Type="http://schemas.openxmlformats.org/officeDocument/2006/relationships/font" Target="fonts/CenturySchoolbook-regular.fntdata"/><Relationship Id="rId11" Type="http://schemas.openxmlformats.org/officeDocument/2006/relationships/slide" Target="slides/slide6.xml"/><Relationship Id="rId33" Type="http://schemas.openxmlformats.org/officeDocument/2006/relationships/font" Target="fonts/CenturySchoolbook-boldItalic.fntdata"/><Relationship Id="rId10" Type="http://schemas.openxmlformats.org/officeDocument/2006/relationships/slide" Target="slides/slide5.xml"/><Relationship Id="rId32" Type="http://schemas.openxmlformats.org/officeDocument/2006/relationships/font" Target="fonts/CenturySchoolbook-italic.fntdata"/><Relationship Id="rId13" Type="http://schemas.openxmlformats.org/officeDocument/2006/relationships/slide" Target="slides/slide8.xml"/><Relationship Id="rId35" Type="http://schemas.openxmlformats.org/officeDocument/2006/relationships/font" Target="fonts/JetBrainsMono-bold.fntdata"/><Relationship Id="rId12" Type="http://schemas.openxmlformats.org/officeDocument/2006/relationships/slide" Target="slides/slide7.xml"/><Relationship Id="rId34" Type="http://schemas.openxmlformats.org/officeDocument/2006/relationships/font" Target="fonts/JetBrainsMono-regular.fntdata"/><Relationship Id="rId15" Type="http://schemas.openxmlformats.org/officeDocument/2006/relationships/slide" Target="slides/slide10.xml"/><Relationship Id="rId37" Type="http://schemas.openxmlformats.org/officeDocument/2006/relationships/font" Target="fonts/JetBrainsMono-boldItalic.fntdata"/><Relationship Id="rId14" Type="http://schemas.openxmlformats.org/officeDocument/2006/relationships/slide" Target="slides/slide9.xml"/><Relationship Id="rId36" Type="http://schemas.openxmlformats.org/officeDocument/2006/relationships/font" Target="fonts/JetBrains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adfa9b3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adfa9b3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aeef40cf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aeef40c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2897fcf8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2897fcf8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adfa9b3d9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adfa9b3d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adfa9b3d9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adfa9b3d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adfa9b3d9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adfa9b3d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2897fcf8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2897fcf8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2897fcf82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32897fcf8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adfa9b3d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adfa9b3d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2897fcf82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2897fcf8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2897fcf82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2897fcf8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adfa9b3d9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adfa9b3d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adfa9b3d9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adfa9b3d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3adfa9b3d9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3adfa9b3d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adfa9b3d9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adfa9b3d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3adfa9b3d9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3adfa9b3d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adfa9b3d9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3adfa9b3d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adfa9b3d9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3adfa9b3d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adfa9b3d9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3adfa9b3d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adfa9b3d9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3adfa9b3d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3adfa9b3d9_0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3adfa9b3d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3adfa9b3d9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3adfa9b3d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3adfa9b3d9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3adfa9b3d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52814" y="656513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2D Arrays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1D Arrays</a:t>
            </a:r>
            <a:endParaRPr/>
          </a:p>
        </p:txBody>
      </p:sp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38200" y="190337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 x = new int[5];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7440975" y="2183075"/>
            <a:ext cx="341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{0, 0, 0, 0, 0}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838200" y="390172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 x = {1, 2, 3, 4, 5};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438" y="606600"/>
            <a:ext cx="700874" cy="94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1D Arrays</a:t>
            </a:r>
            <a:endParaRPr/>
          </a:p>
        </p:txBody>
      </p:sp>
      <p:sp>
        <p:nvSpPr>
          <p:cNvPr id="137" name="Google Shape;137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8200" y="190337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 x = new int[5];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7440975" y="2183075"/>
            <a:ext cx="341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{0, 0, 0, 0, 0}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38200" y="390172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 x = {1, 2, 3, 4, 5};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438" y="606600"/>
            <a:ext cx="700874" cy="94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/>
          <p:nvPr/>
        </p:nvSpPr>
        <p:spPr>
          <a:xfrm>
            <a:off x="1561725" y="1946500"/>
            <a:ext cx="452700" cy="5433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38200" y="2534675"/>
            <a:ext cx="218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an array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1D Arrays</a:t>
            </a:r>
            <a:endParaRPr/>
          </a:p>
        </p:txBody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8200" y="190337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 x = new int[5];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7440975" y="2183075"/>
            <a:ext cx="341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{0, 0, 0, 0, 0}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838200" y="390172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 x = {1, 2, 3, 4, 5};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438" y="606600"/>
            <a:ext cx="700874" cy="94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1561725" y="1946500"/>
            <a:ext cx="452700" cy="5433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38200" y="2534675"/>
            <a:ext cx="218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an array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910625" y="1946500"/>
            <a:ext cx="605700" cy="543300"/>
          </a:xfrm>
          <a:prstGeom prst="roundRect">
            <a:avLst>
              <a:gd fmla="val 16667" name="adj"/>
            </a:avLst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75800" y="1423300"/>
            <a:ext cx="576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whether each element is an integer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1D Arrays</a:t>
            </a:r>
            <a:endParaRPr/>
          </a:p>
        </p:txBody>
      </p:sp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440975" y="2183075"/>
            <a:ext cx="341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{0, 0, 0, 0, 0}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838200" y="2176713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np.zeros(5, dtype=int)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38200" y="4210525"/>
            <a:ext cx="1072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np.array([1, 2, 3, 4, 5], dtype=np.int32)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725" y="536545"/>
            <a:ext cx="978475" cy="9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1D Arrays</a:t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838200" y="1825625"/>
            <a:ext cx="10515600" cy="86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Elements are stored consecutively in memory</a:t>
            </a:r>
            <a:endParaRPr/>
          </a:p>
        </p:txBody>
      </p:sp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5" name="Google Shape;175;p18"/>
          <p:cNvGraphicFramePr/>
          <p:nvPr/>
        </p:nvGraphicFramePr>
        <p:xfrm>
          <a:off x="3906200" y="34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2352200"/>
                <a:gridCol w="2352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Memory Address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Elements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0x100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x[0]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0x104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x[1]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0x108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x[2]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0x10C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x[3]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…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725" y="3927300"/>
            <a:ext cx="6374075" cy="24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838200" y="190337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int[][] x = new int[3][3];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38200" y="2777000"/>
            <a:ext cx="89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np.zeros((3,3), dtype=np.int32)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1338" y="1758937"/>
            <a:ext cx="700874" cy="94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1400" y="2593370"/>
            <a:ext cx="978475" cy="9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192" name="Google Shape;192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725" y="3927300"/>
            <a:ext cx="6374075" cy="24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838200" y="190337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int[][] x = new int[3][3];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38200" y="2777000"/>
            <a:ext cx="89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np.zeros((3,3), dtype=np.int32)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1338" y="1758937"/>
            <a:ext cx="700874" cy="94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1400" y="2593370"/>
            <a:ext cx="978475" cy="9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1991750" y="1962263"/>
            <a:ext cx="452700" cy="5433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234275" y="2376225"/>
            <a:ext cx="218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an array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205" name="Google Shape;205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725" y="3927300"/>
            <a:ext cx="6374075" cy="24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838200" y="1903375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int[][] x = new int[3][3];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838200" y="2777000"/>
            <a:ext cx="89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np.zeros((3,3), dtype=np.int32)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1338" y="1758937"/>
            <a:ext cx="700874" cy="94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1400" y="2593370"/>
            <a:ext cx="978475" cy="9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/>
          <p:nvPr/>
        </p:nvSpPr>
        <p:spPr>
          <a:xfrm>
            <a:off x="1991750" y="1962263"/>
            <a:ext cx="452700" cy="5433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234275" y="2376225"/>
            <a:ext cx="218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an array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944575" y="1962250"/>
            <a:ext cx="978600" cy="543300"/>
          </a:xfrm>
          <a:prstGeom prst="roundRect">
            <a:avLst>
              <a:gd fmla="val 16667" name="adj"/>
            </a:avLst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81325" y="1439075"/>
            <a:ext cx="615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each element is an integer array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287825" y="1500625"/>
            <a:ext cx="3436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int[][] x = {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{1, 2, 3},</a:t>
            </a:r>
            <a:b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{4, 5, 6},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{7, 8, 9}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aphicFrame>
        <p:nvGraphicFramePr>
          <p:cNvPr id="222" name="Google Shape;222;p22"/>
          <p:cNvGraphicFramePr/>
          <p:nvPr/>
        </p:nvGraphicFramePr>
        <p:xfrm>
          <a:off x="6785475" y="218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430150"/>
                <a:gridCol w="1430150"/>
                <a:gridCol w="143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2"/>
          <p:cNvSpPr txBox="1"/>
          <p:nvPr/>
        </p:nvSpPr>
        <p:spPr>
          <a:xfrm>
            <a:off x="1287825" y="3895750"/>
            <a:ext cx="4956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np.array(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[1, 2, 3], 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[4, 5, 6], 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[7, 8, 9]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], dtype=np.int32)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224" name="Google Shape;2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629" y="1939725"/>
            <a:ext cx="924373" cy="12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825" y="4535951"/>
            <a:ext cx="1247323" cy="12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231" name="Google Shape;231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287825" y="1500625"/>
            <a:ext cx="3436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int[][] x = {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{1, 2, 3},</a:t>
            </a:r>
            <a:b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{4, 5, 6},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{7, 8, 9}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aphicFrame>
        <p:nvGraphicFramePr>
          <p:cNvPr id="233" name="Google Shape;233;p23"/>
          <p:cNvGraphicFramePr/>
          <p:nvPr/>
        </p:nvGraphicFramePr>
        <p:xfrm>
          <a:off x="6785475" y="218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430150"/>
                <a:gridCol w="1430150"/>
                <a:gridCol w="143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3"/>
          <p:cNvSpPr txBox="1"/>
          <p:nvPr/>
        </p:nvSpPr>
        <p:spPr>
          <a:xfrm>
            <a:off x="1287825" y="3895750"/>
            <a:ext cx="4956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np.array(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[1, 2, 3], 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[4, 5, 6], 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[7, 8, 9]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], dtype=np.int32)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235" name="Google Shape;2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629" y="1939725"/>
            <a:ext cx="924373" cy="12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825" y="4535951"/>
            <a:ext cx="1247323" cy="12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/>
          <p:nvPr/>
        </p:nvSpPr>
        <p:spPr>
          <a:xfrm>
            <a:off x="1776725" y="2050132"/>
            <a:ext cx="2048400" cy="3651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776725" y="2487932"/>
            <a:ext cx="2048400" cy="3651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1776725" y="2925732"/>
            <a:ext cx="2048400" cy="3651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4605950" y="837450"/>
            <a:ext cx="651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x.length = # rows in the array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246" name="Google Shape;246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1287825" y="1500625"/>
            <a:ext cx="3436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int[][] x = {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{1, 2, 3},</a:t>
            </a:r>
            <a:b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{4, 5, 6},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{7, 8, 9}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aphicFrame>
        <p:nvGraphicFramePr>
          <p:cNvPr id="248" name="Google Shape;248;p24"/>
          <p:cNvGraphicFramePr/>
          <p:nvPr/>
        </p:nvGraphicFramePr>
        <p:xfrm>
          <a:off x="6785475" y="218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430150"/>
                <a:gridCol w="1430150"/>
                <a:gridCol w="143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</a:t>
                      </a:r>
                      <a:endParaRPr b="1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4"/>
          <p:cNvSpPr txBox="1"/>
          <p:nvPr/>
        </p:nvSpPr>
        <p:spPr>
          <a:xfrm>
            <a:off x="1287825" y="3895750"/>
            <a:ext cx="4956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np.array(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[1, 2, 3], 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[4, 5, 6], 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[7, 8, 9]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], dtype=np.int32)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250" name="Google Shape;2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629" y="1939725"/>
            <a:ext cx="924373" cy="12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825" y="4535951"/>
            <a:ext cx="1247323" cy="12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/>
          <p:nvPr/>
        </p:nvSpPr>
        <p:spPr>
          <a:xfrm>
            <a:off x="1980425" y="2038800"/>
            <a:ext cx="373500" cy="3651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4605950" y="837450"/>
            <a:ext cx="651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x[0].length = # columns in the array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2590025" y="2038800"/>
            <a:ext cx="373500" cy="3651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199625" y="2038800"/>
            <a:ext cx="373500" cy="3651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261" name="Google Shape;261;p25"/>
          <p:cNvSpPr txBox="1"/>
          <p:nvPr>
            <p:ph idx="1" type="body"/>
          </p:nvPr>
        </p:nvSpPr>
        <p:spPr>
          <a:xfrm>
            <a:off x="838200" y="1825625"/>
            <a:ext cx="10515600" cy="13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Elements are still stored consecutively.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Consider: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int[][] arr = new int[2][3];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2" name="Google Shape;262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63" name="Google Shape;263;p25"/>
          <p:cNvGraphicFramePr/>
          <p:nvPr/>
        </p:nvGraphicFramePr>
        <p:xfrm>
          <a:off x="7474875" y="395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161650"/>
                <a:gridCol w="1161650"/>
                <a:gridCol w="1161650"/>
              </a:tblGrid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4" name="Google Shape;264;p25"/>
          <p:cNvGraphicFramePr/>
          <p:nvPr/>
        </p:nvGraphicFramePr>
        <p:xfrm>
          <a:off x="1836325" y="322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591450"/>
                <a:gridCol w="159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Memory Address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solidFill>
                          <a:schemeClr val="dk1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270" name="Google Shape;270;p26"/>
          <p:cNvSpPr txBox="1"/>
          <p:nvPr>
            <p:ph idx="1" type="body"/>
          </p:nvPr>
        </p:nvSpPr>
        <p:spPr>
          <a:xfrm>
            <a:off x="838200" y="1825625"/>
            <a:ext cx="10515600" cy="13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Elements are still stored consecutively.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Consider: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int[][] arr = new int[2][3];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1" name="Google Shape;27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72" name="Google Shape;272;p26"/>
          <p:cNvGraphicFramePr/>
          <p:nvPr/>
        </p:nvGraphicFramePr>
        <p:xfrm>
          <a:off x="7474875" y="395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161650"/>
                <a:gridCol w="1161650"/>
                <a:gridCol w="1161650"/>
              </a:tblGrid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3" name="Google Shape;273;p26"/>
          <p:cNvGraphicFramePr/>
          <p:nvPr/>
        </p:nvGraphicFramePr>
        <p:xfrm>
          <a:off x="1836325" y="322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591450"/>
                <a:gridCol w="159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Memory Address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solidFill>
                          <a:schemeClr val="dk1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26"/>
          <p:cNvSpPr/>
          <p:nvPr/>
        </p:nvSpPr>
        <p:spPr>
          <a:xfrm>
            <a:off x="7508125" y="3985275"/>
            <a:ext cx="3367500" cy="3132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3469400" y="3694400"/>
            <a:ext cx="1051500" cy="1052100"/>
          </a:xfrm>
          <a:prstGeom prst="roundRect">
            <a:avLst>
              <a:gd fmla="val 957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7533600" y="3422350"/>
            <a:ext cx="33675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7508125" y="4366275"/>
            <a:ext cx="3367500" cy="313200"/>
          </a:xfrm>
          <a:prstGeom prst="roundRect">
            <a:avLst>
              <a:gd fmla="val 16667" name="adj"/>
            </a:avLst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3469400" y="4893338"/>
            <a:ext cx="1051500" cy="1052100"/>
          </a:xfrm>
          <a:prstGeom prst="roundRect">
            <a:avLst>
              <a:gd fmla="val 9577" name="adj"/>
            </a:avLst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281800" y="3787450"/>
            <a:ext cx="324300" cy="221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7651650" y="2939325"/>
            <a:ext cx="313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 = 2, col = 3</a:t>
            </a:r>
            <a:endParaRPr sz="2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286" name="Google Shape;286;p27"/>
          <p:cNvSpPr txBox="1"/>
          <p:nvPr>
            <p:ph idx="1" type="body"/>
          </p:nvPr>
        </p:nvSpPr>
        <p:spPr>
          <a:xfrm>
            <a:off x="838200" y="1825625"/>
            <a:ext cx="10515600" cy="13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Elements are still stored consecutively.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Consider: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int[][] arr = new int[2][3];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8" name="Google Shape;288;p27"/>
          <p:cNvGraphicFramePr/>
          <p:nvPr/>
        </p:nvGraphicFramePr>
        <p:xfrm>
          <a:off x="7474875" y="395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161650"/>
                <a:gridCol w="1161650"/>
                <a:gridCol w="1161650"/>
              </a:tblGrid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9" name="Google Shape;289;p27"/>
          <p:cNvGraphicFramePr/>
          <p:nvPr/>
        </p:nvGraphicFramePr>
        <p:xfrm>
          <a:off x="1836325" y="322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591450"/>
                <a:gridCol w="159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Memory Address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solidFill>
                          <a:schemeClr val="dk1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27"/>
          <p:cNvSpPr/>
          <p:nvPr/>
        </p:nvSpPr>
        <p:spPr>
          <a:xfrm>
            <a:off x="7508125" y="3985275"/>
            <a:ext cx="3367500" cy="3132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3469400" y="3694400"/>
            <a:ext cx="1051500" cy="1052100"/>
          </a:xfrm>
          <a:prstGeom prst="roundRect">
            <a:avLst>
              <a:gd fmla="val 957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7533600" y="3422350"/>
            <a:ext cx="33675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7508125" y="4366275"/>
            <a:ext cx="3367500" cy="313200"/>
          </a:xfrm>
          <a:prstGeom prst="roundRect">
            <a:avLst>
              <a:gd fmla="val 16667" name="adj"/>
            </a:avLst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3469400" y="4893338"/>
            <a:ext cx="1051500" cy="1052100"/>
          </a:xfrm>
          <a:prstGeom prst="roundRect">
            <a:avLst>
              <a:gd fmla="val 9577" name="adj"/>
            </a:avLst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5281800" y="3787450"/>
            <a:ext cx="324300" cy="221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6154425" y="5238275"/>
            <a:ext cx="5683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arr[0][2] ⇒ 0 * col + 2 = 2</a:t>
            </a:r>
            <a:endParaRPr sz="23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7651650" y="2939325"/>
            <a:ext cx="313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 = 2, col = 3</a:t>
            </a:r>
            <a:endParaRPr sz="2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10786100" y="5238275"/>
            <a:ext cx="369300" cy="5232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1836325" y="4458200"/>
            <a:ext cx="369300" cy="3132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305" name="Google Shape;305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about finding row, column from linear index?</a:t>
            </a:r>
            <a:endParaRPr/>
          </a:p>
        </p:txBody>
      </p:sp>
      <p:sp>
        <p:nvSpPr>
          <p:cNvPr id="306" name="Google Shape;306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07" name="Google Shape;307;p28"/>
          <p:cNvGraphicFramePr/>
          <p:nvPr/>
        </p:nvGraphicFramePr>
        <p:xfrm>
          <a:off x="1836325" y="322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591450"/>
                <a:gridCol w="159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Memory Address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solidFill>
                          <a:schemeClr val="dk1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28"/>
          <p:cNvSpPr/>
          <p:nvPr/>
        </p:nvSpPr>
        <p:spPr>
          <a:xfrm>
            <a:off x="1836325" y="5651162"/>
            <a:ext cx="369300" cy="3132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 txBox="1"/>
          <p:nvPr/>
        </p:nvSpPr>
        <p:spPr>
          <a:xfrm>
            <a:off x="5527925" y="3336400"/>
            <a:ext cx="644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linear index 5, find rowIndex and columnIndex.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Arrays</a:t>
            </a:r>
            <a:endParaRPr/>
          </a:p>
        </p:txBody>
      </p:sp>
      <p:sp>
        <p:nvSpPr>
          <p:cNvPr id="315" name="Google Shape;315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about finding row, column from linear index?</a:t>
            </a:r>
            <a:endParaRPr/>
          </a:p>
        </p:txBody>
      </p:sp>
      <p:sp>
        <p:nvSpPr>
          <p:cNvPr id="316" name="Google Shape;316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7" name="Google Shape;317;p29"/>
          <p:cNvGraphicFramePr/>
          <p:nvPr/>
        </p:nvGraphicFramePr>
        <p:xfrm>
          <a:off x="1836325" y="322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{A4E22DA6-06C9-421E-8EC7-66BC3580C70A}</a:tableStyleId>
              </a:tblPr>
              <a:tblGrid>
                <a:gridCol w="1591450"/>
                <a:gridCol w="159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Memory Address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arr[0][2]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arr[1][0]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arr[1][2]</a:t>
                      </a:r>
                      <a:endParaRPr>
                        <a:solidFill>
                          <a:schemeClr val="dk1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" name="Google Shape;318;p29"/>
          <p:cNvSpPr/>
          <p:nvPr/>
        </p:nvSpPr>
        <p:spPr>
          <a:xfrm>
            <a:off x="1836325" y="5651162"/>
            <a:ext cx="369300" cy="3132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5527925" y="3336400"/>
            <a:ext cx="64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linear index 5, find row and col.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6028800" y="4917650"/>
            <a:ext cx="616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row = 5 / 3 = 1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 = 5 % 3 = 2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8186650" y="4998026"/>
            <a:ext cx="369300" cy="9663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 txBox="1"/>
          <p:nvPr/>
        </p:nvSpPr>
        <p:spPr>
          <a:xfrm>
            <a:off x="7242750" y="4173225"/>
            <a:ext cx="457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columns in the original array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29"/>
          <p:cNvCxnSpPr>
            <a:stCxn id="321" idx="0"/>
          </p:cNvCxnSpPr>
          <p:nvPr/>
        </p:nvCxnSpPr>
        <p:spPr>
          <a:xfrm flipH="1" rot="10800000">
            <a:off x="8371300" y="4696526"/>
            <a:ext cx="738900" cy="30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int[][] arr = new int[row][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col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arr[i][j]</a:t>
            </a:r>
            <a:r>
              <a:rPr lang="en-US"/>
              <a:t> located at address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*col + j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/>
              <a:t>Given index N: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 i = N / col, j = N % col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etBrains Mono"/>
              <a:buChar char="•"/>
            </a:pP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int[][][] arr = new int[P][Q][R];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etBrains Mono"/>
              <a:buChar char="•"/>
            </a:pP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arr[i][j][k] </a:t>
            </a:r>
            <a:r>
              <a:rPr lang="en-US"/>
              <a:t>located at address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 i*(Q*R) + j*R + k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/>
              <a:t>Also possible to calculate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i,j,k</a:t>
            </a:r>
            <a:r>
              <a:rPr lang="en-US"/>
              <a:t> from given index N (next slide)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2300"/>
              <a:t>Linear indices can always map N-dimensional arrays to 1D arrays.</a:t>
            </a:r>
            <a:endParaRPr sz="2300"/>
          </a:p>
        </p:txBody>
      </p:sp>
      <p:sp>
        <p:nvSpPr>
          <p:cNvPr id="330" name="Google Shape;330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36" name="Google Shape;336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N = i*(Q*R) + j*R + k</a:t>
            </a:r>
            <a:endParaRPr/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4230150" y="1758950"/>
            <a:ext cx="1834800" cy="626400"/>
          </a:xfrm>
          <a:prstGeom prst="roundRect">
            <a:avLst>
              <a:gd fmla="val 16667" name="adj"/>
            </a:avLst>
          </a:prstGeom>
          <a:solidFill>
            <a:srgbClr val="00FF00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4291600" y="875450"/>
            <a:ext cx="213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N%(Q*R)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0" name="Google Shape;340;p31"/>
          <p:cNvSpPr/>
          <p:nvPr/>
        </p:nvSpPr>
        <p:spPr>
          <a:xfrm rot="5400000">
            <a:off x="5122900" y="714200"/>
            <a:ext cx="96000" cy="1758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4258200" y="3061700"/>
            <a:ext cx="36756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N/(Q*R)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 = (N%(Q*R))/R</a:t>
            </a:r>
            <a:b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 = (N%(Q*R))%R</a:t>
            </a:r>
            <a:endParaRPr sz="2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3024350" y="5194550"/>
            <a:ext cx="644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to memorize. Try to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the calculations work here.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Ordering</a:t>
            </a:r>
            <a:endParaRPr/>
          </a:p>
        </p:txBody>
      </p:sp>
      <p:sp>
        <p:nvSpPr>
          <p:cNvPr id="348" name="Google Shape;348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9" name="Google Shape;3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313" y="1423250"/>
            <a:ext cx="4943475" cy="4438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0" name="Google Shape;35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750" y="1804250"/>
            <a:ext cx="24288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2"/>
          <p:cNvSpPr txBox="1"/>
          <p:nvPr/>
        </p:nvSpPr>
        <p:spPr>
          <a:xfrm>
            <a:off x="202950" y="5381300"/>
            <a:ext cx="644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Column-major order is rarely (almost never) used nowadays.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Create and Print a 2D Array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Declare </a:t>
            </a:r>
            <a:r>
              <a:rPr lang="en-US"/>
              <a:t>an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m x n</a:t>
            </a:r>
            <a:r>
              <a:rPr lang="en-US"/>
              <a:t> integer array.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Fill it with values and print it row by row.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Find Maximum and Minimum Elements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Compute the sum of all elements in a 2D array.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Row-wise and Column-wise Sum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Transpose of a Matrix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Swap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arr[i][j]</a:t>
            </a:r>
            <a:r>
              <a:rPr lang="en-US"/>
              <a:t> with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arr[j][i]</a:t>
            </a:r>
            <a:r>
              <a:rPr lang="en-US"/>
              <a:t> for a square matrix.</a:t>
            </a:r>
            <a:endParaRPr/>
          </a:p>
        </p:txBody>
      </p:sp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More Exercises</a:t>
            </a:r>
            <a:endParaRPr/>
          </a:p>
        </p:txBody>
      </p:sp>
      <p:sp>
        <p:nvSpPr>
          <p:cNvPr id="364" name="Google Shape;364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Check if a given number exists in the 2D array and return its position (both linear index and row, col)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Diagonal Sum (For Square Matrices)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Compute the sum of the main diagonal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(arr[i][i]) </a:t>
            </a:r>
            <a:r>
              <a:rPr lang="en-US"/>
              <a:t>and secondary diagonal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(arr[i][n-i-1])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Rotate 90 Degrees (Clockwise/Counterclockwise)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Clockwise ⇒ transpose, then reverse rows.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Check Symmetry (Palindrome Matrix)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Verify if a matrix is symmetric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(arr[i][j] == arr[j][i]).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5" name="Google Shape;36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 More Exercises!</a:t>
            </a:r>
            <a:endParaRPr/>
          </a:p>
        </p:txBody>
      </p:sp>
      <p:sp>
        <p:nvSpPr>
          <p:cNvPr id="371" name="Google Shape;371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Matrix multiplication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Determinant of an square matrix (try if you have time)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2x2, 3x3 is easy. For nxn, you will need recursion</a:t>
            </a:r>
            <a:endParaRPr/>
          </a:p>
        </p:txBody>
      </p:sp>
      <p:sp>
        <p:nvSpPr>
          <p:cNvPr id="372" name="Google Shape;372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3" name="Google Shape;3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7675" y="3967600"/>
            <a:ext cx="2025775" cy="20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9" name="Google Shape;3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625" y="1100675"/>
            <a:ext cx="7387376" cy="48614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