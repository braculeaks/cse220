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6858000" cx="12192000"/>
  <p:notesSz cx="6858000" cy="9144000"/>
  <p:embeddedFontLst>
    <p:embeddedFont>
      <p:font typeface="Roboto"/>
      <p:regular r:id="rId41"/>
      <p:bold r:id="rId42"/>
      <p:italic r:id="rId43"/>
      <p:boldItalic r:id="rId44"/>
    </p:embeddedFont>
    <p:embeddedFont>
      <p:font typeface="Century Schoolbook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FBF46D-97D4-4574-9C7B-1C9AA4EB16E8}">
  <a:tblStyle styleId="{53FBF46D-97D4-4574-9C7B-1C9AA4EB16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Roboto-bold.fntdata"/><Relationship Id="rId41" Type="http://schemas.openxmlformats.org/officeDocument/2006/relationships/font" Target="fonts/Roboto-regular.fntdata"/><Relationship Id="rId22" Type="http://schemas.openxmlformats.org/officeDocument/2006/relationships/slide" Target="slides/slide17.xml"/><Relationship Id="rId44" Type="http://schemas.openxmlformats.org/officeDocument/2006/relationships/font" Target="fonts/Roboto-boldItalic.fntdata"/><Relationship Id="rId21" Type="http://schemas.openxmlformats.org/officeDocument/2006/relationships/slide" Target="slides/slide16.xml"/><Relationship Id="rId43" Type="http://schemas.openxmlformats.org/officeDocument/2006/relationships/font" Target="fonts/Roboto-italic.fntdata"/><Relationship Id="rId24" Type="http://schemas.openxmlformats.org/officeDocument/2006/relationships/slide" Target="slides/slide19.xml"/><Relationship Id="rId46" Type="http://schemas.openxmlformats.org/officeDocument/2006/relationships/font" Target="fonts/CenturySchoolbook-bold.fntdata"/><Relationship Id="rId23" Type="http://schemas.openxmlformats.org/officeDocument/2006/relationships/slide" Target="slides/slide18.xml"/><Relationship Id="rId45" Type="http://schemas.openxmlformats.org/officeDocument/2006/relationships/font" Target="fonts/CenturySchoolbook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schemas.openxmlformats.org/officeDocument/2006/relationships/font" Target="fonts/CenturySchoolbook-boldItalic.fntdata"/><Relationship Id="rId25" Type="http://schemas.openxmlformats.org/officeDocument/2006/relationships/slide" Target="slides/slide20.xml"/><Relationship Id="rId47" Type="http://schemas.openxmlformats.org/officeDocument/2006/relationships/font" Target="fonts/CenturySchoolbook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2a735c21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2a735c2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32a735c21e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32a735c21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32a735c21e_0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32a735c21e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32a735c21e_0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32a735c21e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32a735c21e_0_1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32a735c21e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32a735c21e_0_2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32a735c21e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32a735c21e_0_2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32a735c21e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32a735c21e_0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32a735c21e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32a735c21e_0_2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32a735c21e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32a735c21e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32a735c21e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32a735c21e_0_2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32a735c21e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32a735c21e_0_2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32a735c21e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32a735c21e_0_3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32a735c21e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32a735c21e_0_2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32a735c21e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32a735c21e_0_2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32a735c21e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32a735c21e_0_2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32a735c21e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330cc354a9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330cc354a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330cc354a9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330cc354a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330cc354a9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330cc354a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330cc354a9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330cc354a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330cc354a9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330cc354a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330cc354a9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330cc354a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32a735c21e_0_2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32a735c21e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330cc354a9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330cc354a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330cc354a9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330cc354a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330cc354a9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330cc354a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330cc354a9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330cc354a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32a735c21e_0_2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32a735c21e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330cc354a9_0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330cc354a9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330cc354a9_0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330cc354a9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330cc354a9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330cc354a9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32a735c21e_0_3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32a735c21e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32a735c21e_0_3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32a735c21e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330cc354a9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330cc354a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" name="Google Shape;4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" name="Google Shape;5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" name="Google Shape;6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9" name="Google Shape;79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3" name="Google Shape;8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" name="Google Shape;10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-52814" y="6565138"/>
            <a:ext cx="376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Anwarul Bashir Shuaib [AWBS]</a:t>
            </a:r>
            <a:endParaRPr sz="11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 txBox="1"/>
          <p:nvPr/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CSE </a:t>
            </a:r>
            <a:r>
              <a:rPr lang="en-US" sz="60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6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6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>
                <a:latin typeface="Calibri"/>
                <a:ea typeface="Calibri"/>
                <a:cs typeface="Calibri"/>
                <a:sym typeface="Calibri"/>
              </a:rPr>
              <a:t>Data Structures</a:t>
            </a:r>
            <a:endParaRPr sz="4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1524000" y="3602045"/>
            <a:ext cx="9144000" cy="10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Lecture 0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b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Hashing and 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Hash Tables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1524000" y="5009325"/>
            <a:ext cx="91440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5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Anwarul Bashir Shuaib [AWBS]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5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Lecturer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8315"/>
              <a:buFont typeface="Arial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Department of Computer Science and Engineering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5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BRAC University 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21" name="Google Shape;121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Need for Efficient Searching</a:t>
            </a:r>
            <a:endParaRPr/>
          </a:p>
        </p:txBody>
      </p:sp>
      <p:sp>
        <p:nvSpPr>
          <p:cNvPr id="127" name="Google Shape;127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1177050" y="1869650"/>
            <a:ext cx="102990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Arrays: Fast access by index (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arr[0], arr[1], …)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slow to search by value (e.g., Is 'Alice' in this array?).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9" name="Google Shape;129;p14"/>
          <p:cNvGraphicFramePr/>
          <p:nvPr/>
        </p:nvGraphicFramePr>
        <p:xfrm>
          <a:off x="2882100" y="3627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{53FBF46D-97D4-4574-9C7B-1C9AA4EB16E8}</a:tableStyleId>
              </a:tblPr>
              <a:tblGrid>
                <a:gridCol w="1071300"/>
                <a:gridCol w="1071300"/>
                <a:gridCol w="1071300"/>
                <a:gridCol w="1071300"/>
                <a:gridCol w="1071300"/>
                <a:gridCol w="1071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cat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bob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alice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eve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gold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brown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Need for Efficient Searching</a:t>
            </a:r>
            <a:endParaRPr/>
          </a:p>
        </p:txBody>
      </p:sp>
      <p:sp>
        <p:nvSpPr>
          <p:cNvPr id="135" name="Google Shape;135;p15"/>
          <p:cNvSpPr txBox="1"/>
          <p:nvPr>
            <p:ph idx="1" type="body"/>
          </p:nvPr>
        </p:nvSpPr>
        <p:spPr>
          <a:xfrm>
            <a:off x="838200" y="1825625"/>
            <a:ext cx="10515600" cy="1217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-US" sz="2400"/>
              <a:t>Same goes for linked lists.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Find “alice” in this list ⇒ O(n)</a:t>
            </a:r>
            <a:endParaRPr sz="2400"/>
          </a:p>
        </p:txBody>
      </p:sp>
      <p:sp>
        <p:nvSpPr>
          <p:cNvPr id="136" name="Google Shape;136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3093459" y="4377051"/>
            <a:ext cx="1025100" cy="2988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3097408" y="4303500"/>
            <a:ext cx="69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bob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15"/>
          <p:cNvCxnSpPr/>
          <p:nvPr/>
        </p:nvCxnSpPr>
        <p:spPr>
          <a:xfrm>
            <a:off x="3627159" y="4377051"/>
            <a:ext cx="0" cy="2988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" name="Google Shape;140;p15"/>
          <p:cNvSpPr/>
          <p:nvPr/>
        </p:nvSpPr>
        <p:spPr>
          <a:xfrm>
            <a:off x="4541259" y="4377051"/>
            <a:ext cx="1025100" cy="2988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4545207" y="4303500"/>
            <a:ext cx="69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gold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15"/>
          <p:cNvCxnSpPr/>
          <p:nvPr/>
        </p:nvCxnSpPr>
        <p:spPr>
          <a:xfrm>
            <a:off x="5074959" y="4377051"/>
            <a:ext cx="0" cy="2988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" name="Google Shape;143;p15"/>
          <p:cNvSpPr/>
          <p:nvPr/>
        </p:nvSpPr>
        <p:spPr>
          <a:xfrm>
            <a:off x="5989059" y="4377051"/>
            <a:ext cx="1025100" cy="2988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5993006" y="4303500"/>
            <a:ext cx="58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eve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15"/>
          <p:cNvCxnSpPr/>
          <p:nvPr/>
        </p:nvCxnSpPr>
        <p:spPr>
          <a:xfrm>
            <a:off x="6522759" y="4377051"/>
            <a:ext cx="0" cy="2988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15"/>
          <p:cNvSpPr/>
          <p:nvPr/>
        </p:nvSpPr>
        <p:spPr>
          <a:xfrm>
            <a:off x="7513059" y="4377051"/>
            <a:ext cx="1025100" cy="2988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7517014" y="4303500"/>
            <a:ext cx="94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alice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15"/>
          <p:cNvCxnSpPr/>
          <p:nvPr/>
        </p:nvCxnSpPr>
        <p:spPr>
          <a:xfrm>
            <a:off x="8046759" y="4377051"/>
            <a:ext cx="0" cy="2988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15"/>
          <p:cNvSpPr/>
          <p:nvPr/>
        </p:nvSpPr>
        <p:spPr>
          <a:xfrm>
            <a:off x="9037059" y="4377051"/>
            <a:ext cx="1025100" cy="2988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9041011" y="4303500"/>
            <a:ext cx="81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ruby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15"/>
          <p:cNvCxnSpPr/>
          <p:nvPr/>
        </p:nvCxnSpPr>
        <p:spPr>
          <a:xfrm>
            <a:off x="9570759" y="4377051"/>
            <a:ext cx="0" cy="2988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15"/>
          <p:cNvCxnSpPr/>
          <p:nvPr/>
        </p:nvCxnSpPr>
        <p:spPr>
          <a:xfrm flipH="1" rot="10800000">
            <a:off x="3958990" y="4519046"/>
            <a:ext cx="586200" cy="51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3" name="Google Shape;153;p15"/>
          <p:cNvCxnSpPr/>
          <p:nvPr/>
        </p:nvCxnSpPr>
        <p:spPr>
          <a:xfrm flipH="1" rot="10800000">
            <a:off x="5406790" y="4519046"/>
            <a:ext cx="586200" cy="51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4" name="Google Shape;154;p15"/>
          <p:cNvCxnSpPr/>
          <p:nvPr/>
        </p:nvCxnSpPr>
        <p:spPr>
          <a:xfrm flipH="1" rot="10800000">
            <a:off x="6930790" y="4519046"/>
            <a:ext cx="586200" cy="51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5" name="Google Shape;155;p15"/>
          <p:cNvCxnSpPr/>
          <p:nvPr/>
        </p:nvCxnSpPr>
        <p:spPr>
          <a:xfrm flipH="1" rot="10800000">
            <a:off x="8454790" y="4519046"/>
            <a:ext cx="586200" cy="51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6" name="Google Shape;156;p15"/>
          <p:cNvCxnSpPr/>
          <p:nvPr/>
        </p:nvCxnSpPr>
        <p:spPr>
          <a:xfrm>
            <a:off x="9859534" y="4538001"/>
            <a:ext cx="187500" cy="389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57" name="Google Shape;157;p15"/>
          <p:cNvSpPr txBox="1"/>
          <p:nvPr/>
        </p:nvSpPr>
        <p:spPr>
          <a:xfrm>
            <a:off x="9705259" y="4848801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1569459" y="4377051"/>
            <a:ext cx="1025100" cy="2988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1573402" y="4303500"/>
            <a:ext cx="48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cat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15"/>
          <p:cNvCxnSpPr/>
          <p:nvPr/>
        </p:nvCxnSpPr>
        <p:spPr>
          <a:xfrm>
            <a:off x="2103159" y="4377051"/>
            <a:ext cx="0" cy="2988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15"/>
          <p:cNvCxnSpPr/>
          <p:nvPr/>
        </p:nvCxnSpPr>
        <p:spPr>
          <a:xfrm flipH="1" rot="10800000">
            <a:off x="2511190" y="4519046"/>
            <a:ext cx="586200" cy="51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62" name="Google Shape;162;p15"/>
          <p:cNvSpPr txBox="1"/>
          <p:nvPr/>
        </p:nvSpPr>
        <p:spPr>
          <a:xfrm>
            <a:off x="1564100" y="3825350"/>
            <a:ext cx="94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Need for Efficient </a:t>
            </a:r>
            <a:r>
              <a:rPr lang="en-US">
                <a:solidFill>
                  <a:srgbClr val="0000FF"/>
                </a:solidFill>
              </a:rPr>
              <a:t>Storing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68" name="Google Shape;168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1802875" y="2078250"/>
            <a:ext cx="1029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a new name “russel” at position 2 ⇒ O(n)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0" name="Google Shape;170;p16"/>
          <p:cNvGraphicFramePr/>
          <p:nvPr/>
        </p:nvGraphicFramePr>
        <p:xfrm>
          <a:off x="2882100" y="3627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{53FBF46D-97D4-4574-9C7B-1C9AA4EB16E8}</a:tableStyleId>
              </a:tblPr>
              <a:tblGrid>
                <a:gridCol w="1071300"/>
                <a:gridCol w="1071300"/>
                <a:gridCol w="1071300"/>
                <a:gridCol w="1071300"/>
                <a:gridCol w="1071300"/>
                <a:gridCol w="1071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cat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bob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alice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eve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gold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brown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1" name="Google Shape;171;p16"/>
          <p:cNvSpPr txBox="1"/>
          <p:nvPr/>
        </p:nvSpPr>
        <p:spPr>
          <a:xfrm>
            <a:off x="2310325" y="5168275"/>
            <a:ext cx="750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for linked lists ⇒ O(n)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Fast Searching and Storing</a:t>
            </a:r>
            <a:endParaRPr/>
          </a:p>
        </p:txBody>
      </p:sp>
      <p:sp>
        <p:nvSpPr>
          <p:cNvPr id="177" name="Google Shape;177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What if the array is sorted?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For searching, best we can do is O(logn)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Insertion / deletion of an element is still O(n), as we need to shift elements to make room / fill up empty space</a:t>
            </a:r>
            <a:endParaRPr/>
          </a:p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with Arrays/Lists</a:t>
            </a:r>
            <a:endParaRPr/>
          </a:p>
        </p:txBody>
      </p:sp>
      <p:sp>
        <p:nvSpPr>
          <p:cNvPr id="184" name="Google Shape;184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Arrays: Fast access by index, but slow to search by value (e.g., "Is 'Alice' in this array?").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Lists: Easy to add/remove, but slow to search (check every item).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br>
              <a:rPr lang="en-US" sz="2000">
                <a:latin typeface="Roboto"/>
                <a:ea typeface="Roboto"/>
                <a:cs typeface="Roboto"/>
                <a:sym typeface="Roboto"/>
              </a:rPr>
            </a:br>
            <a:br>
              <a:rPr lang="en-US" sz="2000">
                <a:latin typeface="Roboto"/>
                <a:ea typeface="Roboto"/>
                <a:cs typeface="Roboto"/>
                <a:sym typeface="Roboto"/>
              </a:rPr>
            </a:br>
            <a:r>
              <a:rPr b="1" lang="en-US" sz="2000">
                <a:latin typeface="Roboto"/>
                <a:ea typeface="Roboto"/>
                <a:cs typeface="Roboto"/>
                <a:sym typeface="Roboto"/>
              </a:rPr>
              <a:t>Solution: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 What if we could turn a </a:t>
            </a:r>
            <a:r>
              <a:rPr b="1" lang="en-US" sz="2000">
                <a:latin typeface="Roboto"/>
                <a:ea typeface="Roboto"/>
                <a:cs typeface="Roboto"/>
                <a:sym typeface="Roboto"/>
              </a:rPr>
              <a:t>key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 (like "Alice") into an </a:t>
            </a:r>
            <a:r>
              <a:rPr b="1" lang="en-US" sz="2000">
                <a:latin typeface="Roboto"/>
                <a:ea typeface="Roboto"/>
                <a:cs typeface="Roboto"/>
                <a:sym typeface="Roboto"/>
              </a:rPr>
              <a:t>index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 for instant access?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1203275" y="4478200"/>
            <a:ext cx="11760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tables are extremely efficient with both storing and retrieving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operations are O(1)!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Hash functions</a:t>
            </a:r>
            <a:endParaRPr/>
          </a:p>
        </p:txBody>
      </p:sp>
      <p:sp>
        <p:nvSpPr>
          <p:cNvPr id="192" name="Google Shape;192;p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Definition:</a:t>
            </a:r>
            <a:r>
              <a:rPr lang="en-US" sz="20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A function that converts any key (text, number, etc.) into a number (hash code).</a:t>
            </a:r>
            <a:br>
              <a:rPr lang="en-US" sz="20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-US" sz="20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Example:</a:t>
            </a:r>
            <a:endParaRPr b="1" sz="20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Roboto"/>
              <a:buChar char="●"/>
            </a:pPr>
            <a:r>
              <a:rPr lang="en-US" sz="20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Hash("Alice") → 140 → Index = 140 % 6 → </a:t>
            </a:r>
            <a:r>
              <a:rPr b="1" lang="en-US" sz="20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Index 2</a:t>
            </a:r>
            <a:br>
              <a:rPr lang="en-US" sz="20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-US" sz="20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Key Point:</a:t>
            </a:r>
            <a:r>
              <a:rPr lang="en-US" sz="20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Same key → same index every time!</a:t>
            </a:r>
            <a:endParaRPr sz="20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</p:txBody>
      </p:sp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94" name="Google Shape;194;p19"/>
          <p:cNvGraphicFramePr/>
          <p:nvPr/>
        </p:nvGraphicFramePr>
        <p:xfrm>
          <a:off x="2882100" y="4008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{53FBF46D-97D4-4574-9C7B-1C9AA4EB16E8}</a:tableStyleId>
              </a:tblPr>
              <a:tblGrid>
                <a:gridCol w="1071300"/>
                <a:gridCol w="1071300"/>
                <a:gridCol w="1071300"/>
                <a:gridCol w="1071300"/>
                <a:gridCol w="1071300"/>
                <a:gridCol w="1071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cat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bob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alice</a:t>
                      </a:r>
                      <a:endParaRPr b="1">
                        <a:solidFill>
                          <a:srgbClr val="FF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eve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gold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brown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b="1">
                        <a:solidFill>
                          <a:srgbClr val="FF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5" name="Google Shape;195;p19"/>
          <p:cNvSpPr txBox="1"/>
          <p:nvPr/>
        </p:nvSpPr>
        <p:spPr>
          <a:xfrm>
            <a:off x="3338425" y="5429525"/>
            <a:ext cx="64278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700"/>
              <a:buFont typeface="Roboto"/>
              <a:buAutoNum type="arabicPeriod"/>
            </a:pPr>
            <a:r>
              <a:rPr lang="en-US" sz="17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Key → Hash Function → Hash Code (e.g., 140).</a:t>
            </a:r>
            <a:endParaRPr sz="17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700"/>
              <a:buFont typeface="Roboto"/>
              <a:buAutoNum type="arabicPeriod"/>
            </a:pPr>
            <a:r>
              <a:rPr lang="en-US" sz="17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Hash Code % Table Size → Index (e.g., 140 % 6 = 2).</a:t>
            </a:r>
            <a:endParaRPr sz="17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More on hash functions</a:t>
            </a:r>
            <a:endParaRPr/>
          </a:p>
        </p:txBody>
      </p:sp>
      <p:sp>
        <p:nvSpPr>
          <p:cNvPr id="201" name="Google Shape;201;p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Hash functions should be as different as possible for different keys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We call this property collision resistance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We try to come up with such hash functions so that it is extremely difficult to find two different inputs, say x and y, that produces same hash code, e.g: hash(x) == hash(y)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Hash functions is a one-way function (you cannot decode the key from the hash code)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For a given key (say, “alice”), hash functions will always produce the same hash code (for example, hash(“alice”) = 140)</a:t>
            </a:r>
            <a:endParaRPr/>
          </a:p>
        </p:txBody>
      </p:sp>
      <p:sp>
        <p:nvSpPr>
          <p:cNvPr id="202" name="Google Shape;202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Key-Value Mapping</a:t>
            </a:r>
            <a:endParaRPr/>
          </a:p>
        </p:txBody>
      </p:sp>
      <p:sp>
        <p:nvSpPr>
          <p:cNvPr id="208" name="Google Shape;208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You have a list of user names, and their phone numbers.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How would you store this information?</a:t>
            </a:r>
            <a:endParaRPr/>
          </a:p>
        </p:txBody>
      </p:sp>
      <p:sp>
        <p:nvSpPr>
          <p:cNvPr id="209" name="Google Shape;209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1345525" y="2982600"/>
            <a:ext cx="7509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Username ⇒ Key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Phone number ⇒ Value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1" name="Google Shape;211;p21"/>
          <p:cNvGraphicFramePr/>
          <p:nvPr/>
        </p:nvGraphicFramePr>
        <p:xfrm>
          <a:off x="2582225" y="4947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{53FBF46D-97D4-4574-9C7B-1C9AA4EB16E8}</a:tableStyleId>
              </a:tblPr>
              <a:tblGrid>
                <a:gridCol w="1071300"/>
                <a:gridCol w="1071300"/>
                <a:gridCol w="1071300"/>
                <a:gridCol w="1071300"/>
                <a:gridCol w="1071300"/>
                <a:gridCol w="1071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5513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2231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5123</a:t>
                      </a:r>
                      <a:endParaRPr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6712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9224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5215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cat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bob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alice</a:t>
                      </a:r>
                      <a:endParaRPr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eve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gold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brown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Key-Value Mapping</a:t>
            </a:r>
            <a:endParaRPr/>
          </a:p>
        </p:txBody>
      </p:sp>
      <p:sp>
        <p:nvSpPr>
          <p:cNvPr id="217" name="Google Shape;217;p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You have a list of user names, and their phone numbers.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How would you store this information?</a:t>
            </a:r>
            <a:endParaRPr/>
          </a:p>
        </p:txBody>
      </p:sp>
      <p:sp>
        <p:nvSpPr>
          <p:cNvPr id="218" name="Google Shape;218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1345525" y="2982600"/>
            <a:ext cx="7509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Username ⇒ Key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Phone number ⇒ Value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0" name="Google Shape;220;p22"/>
          <p:cNvGraphicFramePr/>
          <p:nvPr/>
        </p:nvGraphicFramePr>
        <p:xfrm>
          <a:off x="2582225" y="4947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{53FBF46D-97D4-4574-9C7B-1C9AA4EB16E8}</a:tableStyleId>
              </a:tblPr>
              <a:tblGrid>
                <a:gridCol w="1071300"/>
                <a:gridCol w="1071300"/>
                <a:gridCol w="1071300"/>
                <a:gridCol w="1071300"/>
                <a:gridCol w="1071300"/>
                <a:gridCol w="1071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5513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2231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5123</a:t>
                      </a:r>
                      <a:endParaRPr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6712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9224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5215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cat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bob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alice</a:t>
                      </a:r>
                      <a:endParaRPr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eve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gold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brown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1" name="Google Shape;221;p22"/>
          <p:cNvSpPr/>
          <p:nvPr/>
        </p:nvSpPr>
        <p:spPr>
          <a:xfrm>
            <a:off x="2462825" y="5402961"/>
            <a:ext cx="6623400" cy="443400"/>
          </a:xfrm>
          <a:prstGeom prst="roundRect">
            <a:avLst>
              <a:gd fmla="val 16667" name="adj"/>
            </a:avLst>
          </a:prstGeom>
          <a:solidFill>
            <a:srgbClr val="00FF00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9086225" y="5291198"/>
            <a:ext cx="285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2462825" y="4869561"/>
            <a:ext cx="6623400" cy="443400"/>
          </a:xfrm>
          <a:prstGeom prst="roundRect">
            <a:avLst>
              <a:gd fmla="val 16667" name="adj"/>
            </a:avLst>
          </a:prstGeom>
          <a:solidFill>
            <a:srgbClr val="FF0000">
              <a:alpha val="1698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9097250" y="4821848"/>
            <a:ext cx="285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3301225" y="6015750"/>
            <a:ext cx="750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Hash(key) % Table size = Index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Hash Table</a:t>
            </a:r>
            <a:endParaRPr/>
          </a:p>
        </p:txBody>
      </p:sp>
      <p:sp>
        <p:nvSpPr>
          <p:cNvPr id="231" name="Google Shape;231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2" name="Google Shape;2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9600" y="2960450"/>
            <a:ext cx="6928699" cy="37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/>
        </p:nvSpPr>
        <p:spPr>
          <a:xfrm>
            <a:off x="954400" y="1556750"/>
            <a:ext cx="108477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have infinitely possible keys, but limited memory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create a fixed sized array (say 1000), and map all possible (key, value) pairs in that array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Hash Table</a:t>
            </a:r>
            <a:endParaRPr/>
          </a:p>
        </p:txBody>
      </p:sp>
      <p:sp>
        <p:nvSpPr>
          <p:cNvPr id="239" name="Google Shape;239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0" name="Google Shape;24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9600" y="2960450"/>
            <a:ext cx="6928699" cy="37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 txBox="1"/>
          <p:nvPr/>
        </p:nvSpPr>
        <p:spPr>
          <a:xfrm>
            <a:off x="954400" y="1556750"/>
            <a:ext cx="108477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store each (k,v) pair in a linked list. Each cell in the array is a linked list head.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Whenever multiple keys map to the same position (collision occurs), we append the (k,v) pair in the linked list at that position.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247" name="Google Shape;247;p2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You have the keys 41, 18, 28, 36, 10, 90, 12, 54, 38, 25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Hash table with size 13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h(k) = k % 13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Draw the final hash table after inserting the keys</a:t>
            </a:r>
            <a:endParaRPr/>
          </a:p>
        </p:txBody>
      </p:sp>
      <p:sp>
        <p:nvSpPr>
          <p:cNvPr id="248" name="Google Shape;248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254" name="Google Shape;254;p26"/>
          <p:cNvSpPr txBox="1"/>
          <p:nvPr>
            <p:ph idx="1" type="body"/>
          </p:nvPr>
        </p:nvSpPr>
        <p:spPr>
          <a:xfrm>
            <a:off x="838200" y="1825625"/>
            <a:ext cx="4210200" cy="63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457200" rtl="0" algn="l">
              <a:spcBef>
                <a:spcPts val="1000"/>
              </a:spcBef>
              <a:spcAft>
                <a:spcPts val="0"/>
              </a:spcAft>
              <a:buSzPts val="1000"/>
              <a:buChar char="•"/>
            </a:pPr>
            <a:r>
              <a:rPr lang="en-US" sz="2000"/>
              <a:t>Step 1: Find indices for each keys</a:t>
            </a:r>
            <a:endParaRPr sz="2000"/>
          </a:p>
        </p:txBody>
      </p:sp>
      <p:sp>
        <p:nvSpPr>
          <p:cNvPr id="255" name="Google Shape;255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56" name="Google Shape;256;p26"/>
          <p:cNvGraphicFramePr/>
          <p:nvPr/>
        </p:nvGraphicFramePr>
        <p:xfrm>
          <a:off x="5852150" y="205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{53FBF46D-97D4-4574-9C7B-1C9AA4EB16E8}</a:tableStyleId>
              </a:tblPr>
              <a:tblGrid>
                <a:gridCol w="1925275"/>
                <a:gridCol w="1925275"/>
              </a:tblGrid>
              <a:tr h="232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k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h(k) = k % 13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32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41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36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90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54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38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7" name="Google Shape;257;p26"/>
          <p:cNvSpPr txBox="1"/>
          <p:nvPr/>
        </p:nvSpPr>
        <p:spPr>
          <a:xfrm>
            <a:off x="380700" y="3447250"/>
            <a:ext cx="4915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perform modulo on your calculator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3" name="Google Shape;26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7775" y="276225"/>
            <a:ext cx="9696450" cy="6305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7"/>
          <p:cNvSpPr txBox="1"/>
          <p:nvPr>
            <p:ph idx="1" type="body"/>
          </p:nvPr>
        </p:nvSpPr>
        <p:spPr>
          <a:xfrm>
            <a:off x="186300" y="730425"/>
            <a:ext cx="4210200" cy="63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457200" rtl="0" algn="l">
              <a:spcBef>
                <a:spcPts val="1000"/>
              </a:spcBef>
              <a:spcAft>
                <a:spcPts val="0"/>
              </a:spcAft>
              <a:buSzPts val="1000"/>
              <a:buChar char="•"/>
            </a:pPr>
            <a:r>
              <a:rPr lang="en-US" sz="2000"/>
              <a:t>Step 2: Draw the table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Operations on Hash Tables</a:t>
            </a:r>
            <a:endParaRPr/>
          </a:p>
        </p:txBody>
      </p:sp>
      <p:sp>
        <p:nvSpPr>
          <p:cNvPr id="270" name="Google Shape;270;p2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Denote the hash table by “M”</a:t>
            </a:r>
            <a:endParaRPr/>
          </a:p>
        </p:txBody>
      </p:sp>
      <p:sp>
        <p:nvSpPr>
          <p:cNvPr id="271" name="Google Shape;271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2" name="Google Shape;27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1700" y="2707550"/>
            <a:ext cx="7467600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Retrieving an item</a:t>
            </a:r>
            <a:endParaRPr/>
          </a:p>
        </p:txBody>
      </p:sp>
      <p:sp>
        <p:nvSpPr>
          <p:cNvPr id="278" name="Google Shape;278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9" name="Google Shape;27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4175" y="3191650"/>
            <a:ext cx="6343650" cy="2247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0" name="Google Shape;280;p29"/>
          <p:cNvSpPr/>
          <p:nvPr/>
        </p:nvSpPr>
        <p:spPr>
          <a:xfrm>
            <a:off x="5376250" y="4896700"/>
            <a:ext cx="761100" cy="31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9"/>
          <p:cNvSpPr txBox="1"/>
          <p:nvPr/>
        </p:nvSpPr>
        <p:spPr>
          <a:xfrm>
            <a:off x="5294563" y="4803872"/>
            <a:ext cx="106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find(k)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Retrieving an item</a:t>
            </a:r>
            <a:endParaRPr/>
          </a:p>
        </p:txBody>
      </p:sp>
      <p:sp>
        <p:nvSpPr>
          <p:cNvPr id="287" name="Google Shape;287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8" name="Google Shape;28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050" y="1608550"/>
            <a:ext cx="3601638" cy="451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0"/>
          <p:cNvSpPr txBox="1"/>
          <p:nvPr/>
        </p:nvSpPr>
        <p:spPr>
          <a:xfrm>
            <a:off x="5921875" y="2195600"/>
            <a:ext cx="62949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hashtable.get(14)</a:t>
            </a:r>
            <a:endParaRPr b="1"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>
                <a:solidFill>
                  <a:schemeClr val="dk1"/>
                </a:solidFill>
              </a:rPr>
              <a:t>Compute h(14) = 14 % 13 = 1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Retrieving an item</a:t>
            </a:r>
            <a:endParaRPr/>
          </a:p>
        </p:txBody>
      </p:sp>
      <p:sp>
        <p:nvSpPr>
          <p:cNvPr id="295" name="Google Shape;295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6" name="Google Shape;29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050" y="1608550"/>
            <a:ext cx="3601638" cy="451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1"/>
          <p:cNvSpPr txBox="1"/>
          <p:nvPr/>
        </p:nvSpPr>
        <p:spPr>
          <a:xfrm>
            <a:off x="5921875" y="2195600"/>
            <a:ext cx="62949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hashtable.get(14)</a:t>
            </a:r>
            <a:endParaRPr b="1"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>
                <a:solidFill>
                  <a:schemeClr val="dk1"/>
                </a:solidFill>
              </a:rPr>
              <a:t>Compute h(14) = 14 % 13 = 1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>
                <a:solidFill>
                  <a:schemeClr val="dk1"/>
                </a:solidFill>
              </a:rPr>
              <a:t>Access A[1] 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298" name="Google Shape;298;p31"/>
          <p:cNvSpPr/>
          <p:nvPr/>
        </p:nvSpPr>
        <p:spPr>
          <a:xfrm>
            <a:off x="1097786" y="2117385"/>
            <a:ext cx="573600" cy="549300"/>
          </a:xfrm>
          <a:prstGeom prst="ellipse">
            <a:avLst/>
          </a:prstGeom>
          <a:solidFill>
            <a:srgbClr val="FF0000">
              <a:alpha val="1698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Retrieving an item</a:t>
            </a:r>
            <a:endParaRPr/>
          </a:p>
        </p:txBody>
      </p:sp>
      <p:sp>
        <p:nvSpPr>
          <p:cNvPr id="304" name="Google Shape;304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5" name="Google Shape;30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050" y="1608550"/>
            <a:ext cx="3601638" cy="451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2"/>
          <p:cNvSpPr txBox="1"/>
          <p:nvPr/>
        </p:nvSpPr>
        <p:spPr>
          <a:xfrm>
            <a:off x="5921875" y="2195600"/>
            <a:ext cx="6294900" cy="18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hashtable.get(14)</a:t>
            </a:r>
            <a:endParaRPr b="1"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>
                <a:solidFill>
                  <a:schemeClr val="dk1"/>
                </a:solidFill>
              </a:rPr>
              <a:t>Compute h(14) = 14 % 13 = 1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>
                <a:solidFill>
                  <a:schemeClr val="dk1"/>
                </a:solidFill>
              </a:rPr>
              <a:t>Access A[1] 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>
                <a:solidFill>
                  <a:schemeClr val="dk1"/>
                </a:solidFill>
              </a:rPr>
              <a:t>Since A[1] is empty (null), 14 does not exist.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307" name="Google Shape;307;p32"/>
          <p:cNvSpPr/>
          <p:nvPr/>
        </p:nvSpPr>
        <p:spPr>
          <a:xfrm>
            <a:off x="1097786" y="2117385"/>
            <a:ext cx="573600" cy="549300"/>
          </a:xfrm>
          <a:prstGeom prst="ellipse">
            <a:avLst/>
          </a:prstGeom>
          <a:solidFill>
            <a:srgbClr val="FF0000">
              <a:alpha val="1698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Retrieving an item</a:t>
            </a:r>
            <a:endParaRPr/>
          </a:p>
        </p:txBody>
      </p:sp>
      <p:sp>
        <p:nvSpPr>
          <p:cNvPr id="313" name="Google Shape;313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4" name="Google Shape;31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050" y="1608550"/>
            <a:ext cx="3601638" cy="451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3"/>
          <p:cNvSpPr txBox="1"/>
          <p:nvPr/>
        </p:nvSpPr>
        <p:spPr>
          <a:xfrm>
            <a:off x="5921875" y="2195600"/>
            <a:ext cx="62949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hashtable.get(38)</a:t>
            </a:r>
            <a:endParaRPr b="1"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>
                <a:solidFill>
                  <a:schemeClr val="dk1"/>
                </a:solidFill>
              </a:rPr>
              <a:t>Compute h(38) = 38 % 13 = 12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Retrieving an item</a:t>
            </a:r>
            <a:endParaRPr/>
          </a:p>
        </p:txBody>
      </p:sp>
      <p:sp>
        <p:nvSpPr>
          <p:cNvPr id="321" name="Google Shape;321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2" name="Google Shape;32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050" y="1608550"/>
            <a:ext cx="3601638" cy="451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4"/>
          <p:cNvSpPr txBox="1"/>
          <p:nvPr/>
        </p:nvSpPr>
        <p:spPr>
          <a:xfrm>
            <a:off x="5921875" y="2195600"/>
            <a:ext cx="6294900" cy="16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hashtable.get(38)</a:t>
            </a:r>
            <a:endParaRPr b="1"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>
                <a:solidFill>
                  <a:schemeClr val="dk1"/>
                </a:solidFill>
              </a:rPr>
              <a:t>Compute h(38) = 38 % 13 = 12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>
                <a:solidFill>
                  <a:schemeClr val="dk1"/>
                </a:solidFill>
              </a:rPr>
              <a:t>Access the head at A[12]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324" name="Google Shape;324;p34"/>
          <p:cNvSpPr/>
          <p:nvPr/>
        </p:nvSpPr>
        <p:spPr>
          <a:xfrm>
            <a:off x="1919186" y="5507260"/>
            <a:ext cx="573600" cy="549300"/>
          </a:xfrm>
          <a:prstGeom prst="ellipse">
            <a:avLst/>
          </a:prstGeom>
          <a:solidFill>
            <a:srgbClr val="FF0000">
              <a:alpha val="1698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Retrieving an item</a:t>
            </a:r>
            <a:endParaRPr/>
          </a:p>
        </p:txBody>
      </p:sp>
      <p:sp>
        <p:nvSpPr>
          <p:cNvPr id="330" name="Google Shape;330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1" name="Google Shape;33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050" y="1608550"/>
            <a:ext cx="3601638" cy="451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5"/>
          <p:cNvSpPr txBox="1"/>
          <p:nvPr/>
        </p:nvSpPr>
        <p:spPr>
          <a:xfrm>
            <a:off x="5921875" y="2195600"/>
            <a:ext cx="6294900" cy="24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hashtable.get(38)</a:t>
            </a:r>
            <a:endParaRPr b="1"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>
                <a:solidFill>
                  <a:schemeClr val="dk1"/>
                </a:solidFill>
              </a:rPr>
              <a:t>Compute h(38) = 38 % 13 = 12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>
                <a:solidFill>
                  <a:schemeClr val="dk1"/>
                </a:solidFill>
              </a:rPr>
              <a:t>Access the head at A[12]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>
                <a:solidFill>
                  <a:schemeClr val="dk1"/>
                </a:solidFill>
              </a:rPr>
              <a:t>Perform a linear search starting from the head until you find the element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333" name="Google Shape;333;p35"/>
          <p:cNvSpPr/>
          <p:nvPr/>
        </p:nvSpPr>
        <p:spPr>
          <a:xfrm>
            <a:off x="2923111" y="5481185"/>
            <a:ext cx="573600" cy="549300"/>
          </a:xfrm>
          <a:prstGeom prst="ellipse">
            <a:avLst/>
          </a:prstGeom>
          <a:solidFill>
            <a:srgbClr val="FF0000">
              <a:alpha val="1698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Insertion</a:t>
            </a:r>
            <a:endParaRPr/>
          </a:p>
        </p:txBody>
      </p:sp>
      <p:sp>
        <p:nvSpPr>
          <p:cNvPr id="339" name="Google Shape;339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0" name="Google Shape;34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1725" y="2603838"/>
            <a:ext cx="7248525" cy="2552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1" name="Google Shape;341;p36"/>
          <p:cNvSpPr/>
          <p:nvPr/>
        </p:nvSpPr>
        <p:spPr>
          <a:xfrm>
            <a:off x="3720362" y="4576650"/>
            <a:ext cx="997200" cy="36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6"/>
          <p:cNvSpPr txBox="1"/>
          <p:nvPr/>
        </p:nvSpPr>
        <p:spPr>
          <a:xfrm>
            <a:off x="3640604" y="4490475"/>
            <a:ext cx="1906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append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Insertion</a:t>
            </a:r>
            <a:endParaRPr/>
          </a:p>
        </p:txBody>
      </p:sp>
      <p:sp>
        <p:nvSpPr>
          <p:cNvPr id="348" name="Google Shape;348;p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9" name="Google Shape;34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050" y="1608550"/>
            <a:ext cx="3601638" cy="451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7"/>
          <p:cNvSpPr txBox="1"/>
          <p:nvPr/>
        </p:nvSpPr>
        <p:spPr>
          <a:xfrm>
            <a:off x="5256950" y="2143450"/>
            <a:ext cx="67536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hashtable.put(20, 20) // </a:t>
            </a:r>
            <a:r>
              <a:rPr b="1" lang="en-US">
                <a:solidFill>
                  <a:schemeClr val="dk1"/>
                </a:solidFill>
              </a:rPr>
              <a:t>key and value are the same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>
                <a:solidFill>
                  <a:schemeClr val="dk1"/>
                </a:solidFill>
              </a:rPr>
              <a:t>Compute h(20) = 20 % 13 = 7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Insertion</a:t>
            </a:r>
            <a:endParaRPr/>
          </a:p>
        </p:txBody>
      </p:sp>
      <p:sp>
        <p:nvSpPr>
          <p:cNvPr id="356" name="Google Shape;356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7" name="Google Shape;35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050" y="1608550"/>
            <a:ext cx="3601638" cy="451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8"/>
          <p:cNvSpPr txBox="1"/>
          <p:nvPr/>
        </p:nvSpPr>
        <p:spPr>
          <a:xfrm>
            <a:off x="5256950" y="2143450"/>
            <a:ext cx="6753600" cy="16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hashtable.put(20, 20) // </a:t>
            </a:r>
            <a:r>
              <a:rPr b="1" lang="en-US">
                <a:solidFill>
                  <a:schemeClr val="dk1"/>
                </a:solidFill>
              </a:rPr>
              <a:t>key and value are the same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>
                <a:solidFill>
                  <a:schemeClr val="dk1"/>
                </a:solidFill>
              </a:rPr>
              <a:t>Compute h(20) = 20 % 13 = 7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>
                <a:solidFill>
                  <a:schemeClr val="dk1"/>
                </a:solidFill>
              </a:rPr>
              <a:t>Insert element 20 at A[7]</a:t>
            </a:r>
            <a:endParaRPr sz="2100">
              <a:solidFill>
                <a:schemeClr val="dk1"/>
              </a:solidFill>
            </a:endParaRPr>
          </a:p>
        </p:txBody>
      </p:sp>
      <p:cxnSp>
        <p:nvCxnSpPr>
          <p:cNvPr id="359" name="Google Shape;359;p38"/>
          <p:cNvCxnSpPr/>
          <p:nvPr/>
        </p:nvCxnSpPr>
        <p:spPr>
          <a:xfrm flipH="1" rot="10800000">
            <a:off x="1365867" y="4227184"/>
            <a:ext cx="509700" cy="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60" name="Google Shape;360;p38"/>
          <p:cNvSpPr/>
          <p:nvPr/>
        </p:nvSpPr>
        <p:spPr>
          <a:xfrm>
            <a:off x="1886350" y="4051125"/>
            <a:ext cx="652800" cy="36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8"/>
          <p:cNvSpPr/>
          <p:nvPr/>
        </p:nvSpPr>
        <p:spPr>
          <a:xfrm>
            <a:off x="2072850" y="4111075"/>
            <a:ext cx="279900" cy="273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8"/>
          <p:cNvSpPr txBox="1"/>
          <p:nvPr/>
        </p:nvSpPr>
        <p:spPr>
          <a:xfrm>
            <a:off x="2039546" y="4051121"/>
            <a:ext cx="43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Insertion</a:t>
            </a:r>
            <a:endParaRPr/>
          </a:p>
        </p:txBody>
      </p:sp>
      <p:sp>
        <p:nvSpPr>
          <p:cNvPr id="368" name="Google Shape;368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9" name="Google Shape;36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050" y="1608550"/>
            <a:ext cx="3601638" cy="451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9"/>
          <p:cNvSpPr txBox="1"/>
          <p:nvPr/>
        </p:nvSpPr>
        <p:spPr>
          <a:xfrm>
            <a:off x="5256950" y="2143450"/>
            <a:ext cx="67536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hashtable.put(33, 33) // </a:t>
            </a:r>
            <a:r>
              <a:rPr b="1" lang="en-US">
                <a:solidFill>
                  <a:schemeClr val="dk1"/>
                </a:solidFill>
              </a:rPr>
              <a:t>key and value are the same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>
                <a:solidFill>
                  <a:schemeClr val="dk1"/>
                </a:solidFill>
              </a:rPr>
              <a:t>Compute h(33) = 33 % 13 = 7</a:t>
            </a:r>
            <a:endParaRPr sz="2100">
              <a:solidFill>
                <a:schemeClr val="dk1"/>
              </a:solidFill>
            </a:endParaRPr>
          </a:p>
        </p:txBody>
      </p:sp>
      <p:cxnSp>
        <p:nvCxnSpPr>
          <p:cNvPr id="371" name="Google Shape;371;p39"/>
          <p:cNvCxnSpPr/>
          <p:nvPr/>
        </p:nvCxnSpPr>
        <p:spPr>
          <a:xfrm flipH="1" rot="10800000">
            <a:off x="1365867" y="4227184"/>
            <a:ext cx="509700" cy="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72" name="Google Shape;372;p39"/>
          <p:cNvSpPr/>
          <p:nvPr/>
        </p:nvSpPr>
        <p:spPr>
          <a:xfrm>
            <a:off x="1886350" y="4051125"/>
            <a:ext cx="652800" cy="36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9"/>
          <p:cNvSpPr/>
          <p:nvPr/>
        </p:nvSpPr>
        <p:spPr>
          <a:xfrm>
            <a:off x="2072850" y="4111075"/>
            <a:ext cx="279900" cy="273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9"/>
          <p:cNvSpPr txBox="1"/>
          <p:nvPr/>
        </p:nvSpPr>
        <p:spPr>
          <a:xfrm>
            <a:off x="2039546" y="4051121"/>
            <a:ext cx="43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Insertion</a:t>
            </a:r>
            <a:endParaRPr/>
          </a:p>
        </p:txBody>
      </p:sp>
      <p:sp>
        <p:nvSpPr>
          <p:cNvPr id="380" name="Google Shape;380;p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81" name="Google Shape;38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050" y="1608550"/>
            <a:ext cx="3601638" cy="451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0"/>
          <p:cNvSpPr txBox="1"/>
          <p:nvPr/>
        </p:nvSpPr>
        <p:spPr>
          <a:xfrm>
            <a:off x="5256950" y="2143450"/>
            <a:ext cx="6753600" cy="16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hashtable.put(33, 33) // </a:t>
            </a:r>
            <a:r>
              <a:rPr b="1" lang="en-US">
                <a:solidFill>
                  <a:schemeClr val="dk1"/>
                </a:solidFill>
              </a:rPr>
              <a:t>key and value are the same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>
                <a:solidFill>
                  <a:schemeClr val="dk1"/>
                </a:solidFill>
              </a:rPr>
              <a:t>Compute h(33) = 33 % 13 = 7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>
                <a:solidFill>
                  <a:schemeClr val="dk1"/>
                </a:solidFill>
              </a:rPr>
              <a:t>Append 33 at A[7]</a:t>
            </a:r>
            <a:endParaRPr sz="2100">
              <a:solidFill>
                <a:schemeClr val="dk1"/>
              </a:solidFill>
            </a:endParaRPr>
          </a:p>
        </p:txBody>
      </p:sp>
      <p:cxnSp>
        <p:nvCxnSpPr>
          <p:cNvPr id="383" name="Google Shape;383;p40"/>
          <p:cNvCxnSpPr/>
          <p:nvPr/>
        </p:nvCxnSpPr>
        <p:spPr>
          <a:xfrm flipH="1" rot="10800000">
            <a:off x="1365867" y="4227184"/>
            <a:ext cx="509700" cy="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84" name="Google Shape;384;p40"/>
          <p:cNvSpPr/>
          <p:nvPr/>
        </p:nvSpPr>
        <p:spPr>
          <a:xfrm>
            <a:off x="1886350" y="4051125"/>
            <a:ext cx="1211400" cy="36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40"/>
          <p:cNvSpPr/>
          <p:nvPr/>
        </p:nvSpPr>
        <p:spPr>
          <a:xfrm>
            <a:off x="2072850" y="4111075"/>
            <a:ext cx="279900" cy="273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40"/>
          <p:cNvSpPr txBox="1"/>
          <p:nvPr/>
        </p:nvSpPr>
        <p:spPr>
          <a:xfrm>
            <a:off x="2036155" y="4039676"/>
            <a:ext cx="43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40"/>
          <p:cNvSpPr/>
          <p:nvPr/>
        </p:nvSpPr>
        <p:spPr>
          <a:xfrm>
            <a:off x="2528025" y="4103275"/>
            <a:ext cx="279900" cy="273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0"/>
          <p:cNvSpPr txBox="1"/>
          <p:nvPr/>
        </p:nvSpPr>
        <p:spPr>
          <a:xfrm>
            <a:off x="2485539" y="4037265"/>
            <a:ext cx="43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Removal</a:t>
            </a:r>
            <a:endParaRPr/>
          </a:p>
        </p:txBody>
      </p:sp>
      <p:sp>
        <p:nvSpPr>
          <p:cNvPr id="394" name="Google Shape;394;p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5" name="Google Shape;39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6575" y="2913925"/>
            <a:ext cx="8562975" cy="22193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6" name="Google Shape;396;p41"/>
          <p:cNvSpPr/>
          <p:nvPr/>
        </p:nvSpPr>
        <p:spPr>
          <a:xfrm>
            <a:off x="3922068" y="4549582"/>
            <a:ext cx="1277400" cy="31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41"/>
          <p:cNvSpPr txBox="1"/>
          <p:nvPr/>
        </p:nvSpPr>
        <p:spPr>
          <a:xfrm>
            <a:off x="3842310" y="4460175"/>
            <a:ext cx="1906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Insertion</a:t>
            </a:r>
            <a:endParaRPr/>
          </a:p>
        </p:txBody>
      </p:sp>
      <p:sp>
        <p:nvSpPr>
          <p:cNvPr id="403" name="Google Shape;403;p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4" name="Google Shape;40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050" y="1608550"/>
            <a:ext cx="3601638" cy="451312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42"/>
          <p:cNvSpPr txBox="1"/>
          <p:nvPr/>
        </p:nvSpPr>
        <p:spPr>
          <a:xfrm>
            <a:off x="5256950" y="2143450"/>
            <a:ext cx="6753600" cy="16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hashtable.remove(35)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>
                <a:solidFill>
                  <a:schemeClr val="dk1"/>
                </a:solidFill>
              </a:rPr>
              <a:t>Compute h(35) = 35 % 13 = 8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>
                <a:solidFill>
                  <a:schemeClr val="dk1"/>
                </a:solidFill>
              </a:rPr>
              <a:t>Nothing to remove at A[8], so do nothing</a:t>
            </a:r>
            <a:endParaRPr sz="2100">
              <a:solidFill>
                <a:schemeClr val="dk1"/>
              </a:solidFill>
            </a:endParaRPr>
          </a:p>
        </p:txBody>
      </p:sp>
      <p:cxnSp>
        <p:nvCxnSpPr>
          <p:cNvPr id="406" name="Google Shape;406;p42"/>
          <p:cNvCxnSpPr/>
          <p:nvPr/>
        </p:nvCxnSpPr>
        <p:spPr>
          <a:xfrm flipH="1" rot="10800000">
            <a:off x="1365867" y="4227184"/>
            <a:ext cx="509700" cy="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07" name="Google Shape;407;p42"/>
          <p:cNvSpPr/>
          <p:nvPr/>
        </p:nvSpPr>
        <p:spPr>
          <a:xfrm>
            <a:off x="1886350" y="4051125"/>
            <a:ext cx="1211400" cy="36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42"/>
          <p:cNvSpPr/>
          <p:nvPr/>
        </p:nvSpPr>
        <p:spPr>
          <a:xfrm>
            <a:off x="2072850" y="4111075"/>
            <a:ext cx="279900" cy="273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42"/>
          <p:cNvSpPr txBox="1"/>
          <p:nvPr/>
        </p:nvSpPr>
        <p:spPr>
          <a:xfrm>
            <a:off x="2036155" y="4039676"/>
            <a:ext cx="43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42"/>
          <p:cNvSpPr/>
          <p:nvPr/>
        </p:nvSpPr>
        <p:spPr>
          <a:xfrm>
            <a:off x="2528025" y="4103275"/>
            <a:ext cx="279900" cy="273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42"/>
          <p:cNvSpPr txBox="1"/>
          <p:nvPr/>
        </p:nvSpPr>
        <p:spPr>
          <a:xfrm>
            <a:off x="2485539" y="4037265"/>
            <a:ext cx="43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Insertion</a:t>
            </a:r>
            <a:endParaRPr/>
          </a:p>
        </p:txBody>
      </p:sp>
      <p:sp>
        <p:nvSpPr>
          <p:cNvPr id="417" name="Google Shape;417;p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8" name="Google Shape;41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050" y="1608550"/>
            <a:ext cx="3601638" cy="4513125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3"/>
          <p:cNvSpPr txBox="1"/>
          <p:nvPr/>
        </p:nvSpPr>
        <p:spPr>
          <a:xfrm>
            <a:off x="5256950" y="2143450"/>
            <a:ext cx="6753600" cy="24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hashtable.remove(20)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>
                <a:solidFill>
                  <a:schemeClr val="dk1"/>
                </a:solidFill>
              </a:rPr>
              <a:t>Compute h(20) = 20 % 13 = 7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>
                <a:solidFill>
                  <a:schemeClr val="dk1"/>
                </a:solidFill>
              </a:rPr>
              <a:t>Access the head at A[7]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>
                <a:solidFill>
                  <a:schemeClr val="dk1"/>
                </a:solidFill>
              </a:rPr>
              <a:t>Keep traversing the list at A[7] until you find 20, if found then remove it.</a:t>
            </a:r>
            <a:endParaRPr sz="2100">
              <a:solidFill>
                <a:schemeClr val="dk1"/>
              </a:solidFill>
            </a:endParaRPr>
          </a:p>
        </p:txBody>
      </p:sp>
      <p:cxnSp>
        <p:nvCxnSpPr>
          <p:cNvPr id="420" name="Google Shape;420;p43"/>
          <p:cNvCxnSpPr/>
          <p:nvPr/>
        </p:nvCxnSpPr>
        <p:spPr>
          <a:xfrm flipH="1" rot="10800000">
            <a:off x="1365867" y="4227184"/>
            <a:ext cx="509700" cy="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21" name="Google Shape;421;p43"/>
          <p:cNvSpPr/>
          <p:nvPr/>
        </p:nvSpPr>
        <p:spPr>
          <a:xfrm>
            <a:off x="1886350" y="4051125"/>
            <a:ext cx="1211400" cy="36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43"/>
          <p:cNvSpPr/>
          <p:nvPr/>
        </p:nvSpPr>
        <p:spPr>
          <a:xfrm>
            <a:off x="2072850" y="4111075"/>
            <a:ext cx="279900" cy="273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43"/>
          <p:cNvSpPr txBox="1"/>
          <p:nvPr/>
        </p:nvSpPr>
        <p:spPr>
          <a:xfrm>
            <a:off x="2036155" y="4039676"/>
            <a:ext cx="43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43"/>
          <p:cNvSpPr/>
          <p:nvPr/>
        </p:nvSpPr>
        <p:spPr>
          <a:xfrm>
            <a:off x="2528025" y="4103275"/>
            <a:ext cx="279900" cy="273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43"/>
          <p:cNvSpPr txBox="1"/>
          <p:nvPr/>
        </p:nvSpPr>
        <p:spPr>
          <a:xfrm>
            <a:off x="2485539" y="4037265"/>
            <a:ext cx="43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Insertion</a:t>
            </a:r>
            <a:endParaRPr/>
          </a:p>
        </p:txBody>
      </p:sp>
      <p:sp>
        <p:nvSpPr>
          <p:cNvPr id="431" name="Google Shape;431;p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2" name="Google Shape;43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050" y="1608550"/>
            <a:ext cx="3601638" cy="4513125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4"/>
          <p:cNvSpPr txBox="1"/>
          <p:nvPr/>
        </p:nvSpPr>
        <p:spPr>
          <a:xfrm>
            <a:off x="5256950" y="2143450"/>
            <a:ext cx="6753600" cy="24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hashtable.remove(20)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>
                <a:solidFill>
                  <a:schemeClr val="dk1"/>
                </a:solidFill>
              </a:rPr>
              <a:t>Compute h(20) = 20 % 13 = 7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>
                <a:solidFill>
                  <a:schemeClr val="dk1"/>
                </a:solidFill>
              </a:rPr>
              <a:t>Access the head at A[7]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>
                <a:solidFill>
                  <a:schemeClr val="dk1"/>
                </a:solidFill>
              </a:rPr>
              <a:t>Keep traversing the list at A[7] until you find 20, if found then remove it.</a:t>
            </a:r>
            <a:endParaRPr sz="2100">
              <a:solidFill>
                <a:schemeClr val="dk1"/>
              </a:solidFill>
            </a:endParaRPr>
          </a:p>
        </p:txBody>
      </p:sp>
      <p:cxnSp>
        <p:nvCxnSpPr>
          <p:cNvPr id="434" name="Google Shape;434;p44"/>
          <p:cNvCxnSpPr/>
          <p:nvPr/>
        </p:nvCxnSpPr>
        <p:spPr>
          <a:xfrm flipH="1" rot="10800000">
            <a:off x="1365867" y="4227184"/>
            <a:ext cx="509700" cy="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35" name="Google Shape;435;p44"/>
          <p:cNvSpPr/>
          <p:nvPr/>
        </p:nvSpPr>
        <p:spPr>
          <a:xfrm>
            <a:off x="1886350" y="4051125"/>
            <a:ext cx="627600" cy="36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44"/>
          <p:cNvSpPr/>
          <p:nvPr/>
        </p:nvSpPr>
        <p:spPr>
          <a:xfrm>
            <a:off x="1991232" y="4097175"/>
            <a:ext cx="279900" cy="273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44"/>
          <p:cNvSpPr txBox="1"/>
          <p:nvPr/>
        </p:nvSpPr>
        <p:spPr>
          <a:xfrm>
            <a:off x="1951464" y="4029465"/>
            <a:ext cx="43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Constant Time?</a:t>
            </a:r>
            <a:endParaRPr/>
          </a:p>
        </p:txBody>
      </p:sp>
      <p:sp>
        <p:nvSpPr>
          <p:cNvPr id="443" name="Google Shape;443;p4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Best Case:</a:t>
            </a:r>
            <a:endParaRPr b="1" sz="21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100"/>
              <a:buFont typeface="Roboto"/>
              <a:buChar char="●"/>
            </a:pPr>
            <a:r>
              <a:rPr lang="en-US" sz="21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Perfect hash function → No collisions → </a:t>
            </a:r>
            <a:r>
              <a:rPr b="1" lang="en-US" sz="21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O(1)</a:t>
            </a:r>
            <a:r>
              <a:rPr lang="en-US" sz="21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time.</a:t>
            </a:r>
            <a:br>
              <a:rPr lang="en-US" sz="21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-US" sz="21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Average Case:</a:t>
            </a:r>
            <a:endParaRPr b="1" sz="21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100"/>
              <a:buFont typeface="Roboto"/>
              <a:buChar char="●"/>
            </a:pPr>
            <a:r>
              <a:rPr lang="en-US" sz="21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Good hash function + balanced table → Short linked lists → </a:t>
            </a:r>
            <a:r>
              <a:rPr b="1" lang="en-US" sz="21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≈O(1)</a:t>
            </a:r>
            <a:r>
              <a:rPr lang="en-US" sz="21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-US" sz="21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-US" sz="21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Key Idea:</a:t>
            </a:r>
            <a:r>
              <a:rPr lang="en-US" sz="21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Even with a few collisions, chains stay small if the table is large enough.</a:t>
            </a:r>
            <a:endParaRPr sz="21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450" name="Google Shape;450;p4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Hash Tables = Speed + Simplicity:</a:t>
            </a:r>
            <a:endParaRPr b="1" sz="21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100"/>
              <a:buFont typeface="Roboto"/>
              <a:buAutoNum type="arabicPeriod"/>
            </a:pPr>
            <a:r>
              <a:rPr lang="en-US" sz="21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Hash function → instant index.</a:t>
            </a:r>
            <a:endParaRPr sz="21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100"/>
              <a:buFont typeface="Roboto"/>
              <a:buAutoNum type="arabicPeriod"/>
            </a:pPr>
            <a:r>
              <a:rPr lang="en-US" sz="21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Forward chaining → handle collisions.</a:t>
            </a:r>
            <a:endParaRPr sz="21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100"/>
              <a:buFont typeface="Roboto"/>
              <a:buAutoNum type="arabicPeriod"/>
            </a:pPr>
            <a:r>
              <a:rPr lang="en-US" sz="21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Result: Fast insert, search, delete!</a:t>
            </a:r>
            <a:br>
              <a:rPr lang="en-US" sz="21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-US" sz="21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Real-World Use Cases:</a:t>
            </a:r>
            <a:r>
              <a:rPr lang="en-US" sz="21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Databases, caches, spell-checkers.</a:t>
            </a:r>
            <a:endParaRPr sz="21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700"/>
          </a:p>
        </p:txBody>
      </p:sp>
      <p:sp>
        <p:nvSpPr>
          <p:cNvPr id="451" name="Google Shape;451;p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457" name="Google Shape;457;p4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-US" sz="2500"/>
              <a:t>Given an unsorted array of integers, find pairs (a,b) such that a+b = 0 in O(n) time.</a:t>
            </a:r>
            <a:endParaRPr sz="25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Insert items into </a:t>
            </a:r>
            <a:r>
              <a:rPr lang="en-US" sz="2200"/>
              <a:t>hash table</a:t>
            </a:r>
            <a:r>
              <a:rPr lang="en-US" sz="2200"/>
              <a:t> ⇒ O(n)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For each item x, find its equivalent negative pair (-x). If found, print (x, -x) ⇒ O(n)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Overall time: O(n)</a:t>
            </a:r>
            <a:endParaRPr sz="2200"/>
          </a:p>
        </p:txBody>
      </p:sp>
      <p:sp>
        <p:nvSpPr>
          <p:cNvPr id="458" name="Google Shape;458;p4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