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Roboto Mon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C8799C7-1F65-4483-BF42-F3EA354CCA82}">
  <a:tblStyle styleId="{9C8799C7-1F65-4483-BF42-F3EA354CCA8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RobotoMon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ono-bold.fntdata"/><Relationship Id="rId6" Type="http://schemas.openxmlformats.org/officeDocument/2006/relationships/slide" Target="slides/slide1.xml"/><Relationship Id="rId18" Type="http://schemas.openxmlformats.org/officeDocument/2006/relationships/font" Target="fonts/RobotoMon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2ffe3e87bb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2ffe3e87b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2d5001ccda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2d5001ccd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2d5001ccda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2d5001ccd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2d5001ccda_0_1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2d5001ccda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2d5001ccda_0_1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2d5001ccda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2d5001ccda_0_1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2d5001ccda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2d5001ccda_0_1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2d5001ccda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2d5001ccda_0_1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2d5001ccda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2d5001ccda_0_1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2d5001ccda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2d5001ccda_0_1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2d5001ccda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2d5001ccda_0_1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2d5001ccda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" name="Google Shape;35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5" name="Google Shape;45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7" name="Google Shape;5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5" name="Google Shape;65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2" name="Google Shape;72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8" name="Google Shape;78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9" name="Google Shape;79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2" name="Google Shape;82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9" name="Google Shape;8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2" name="Google Shape;92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1" name="Google Shape;10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0" name="Google Shape;110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forms.gle/u1zvA7ezXAJod9eYA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rive.google.com/file/d/1_g4HU6aAXMEssi_ALG0Uh7G9MfYlpo22/view?usp=sharing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youtube.com/watch?v=Qmt0QwzEmh0&amp;list=PLDV1Zeh2NRsB6SWUrDFW2RmDotAfPbeHu" TargetMode="External"/><Relationship Id="rId4" Type="http://schemas.openxmlformats.org/officeDocument/2006/relationships/hyperlink" Target="https://www.youtube.com/@abdul_bari/videos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algs4.cs.princeton.edu/home/" TargetMode="External"/><Relationship Id="rId4" Type="http://schemas.openxmlformats.org/officeDocument/2006/relationships/hyperlink" Target="https://www.coursera.org/learn/algorithms-part1" TargetMode="External"/><Relationship Id="rId5" Type="http://schemas.openxmlformats.org/officeDocument/2006/relationships/hyperlink" Target="https://www.coursera.org/learn/algorithms-part2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www.w3schools.com/java/" TargetMode="External"/><Relationship Id="rId4" Type="http://schemas.openxmlformats.org/officeDocument/2006/relationships/hyperlink" Target="https://www.youtube.com/watch?v=23HFxAPyJ9U&amp;list=PLZPZq0r_RZOOj_NOZYq_R2PECIMglLemc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"/>
          <p:cNvSpPr txBox="1"/>
          <p:nvPr/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CSE </a:t>
            </a:r>
            <a:r>
              <a:rPr lang="en-US" sz="6000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6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6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00">
                <a:latin typeface="Calibri"/>
                <a:ea typeface="Calibri"/>
                <a:cs typeface="Calibri"/>
                <a:sym typeface="Calibri"/>
              </a:rPr>
              <a:t>Data Structures</a:t>
            </a:r>
            <a:endParaRPr sz="4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3"/>
          <p:cNvSpPr txBox="1"/>
          <p:nvPr/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Lecture 0</a:t>
            </a: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Introduction</a:t>
            </a:r>
            <a:endParaRPr sz="3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Reference Books</a:t>
            </a:r>
            <a:endParaRPr/>
          </a:p>
        </p:txBody>
      </p:sp>
      <p:sp>
        <p:nvSpPr>
          <p:cNvPr id="124" name="Google Shape;124;p1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</a:pPr>
            <a:r>
              <a:rPr b="1" lang="en-US" sz="2600"/>
              <a:t>Algorithms, 4th Edition by Robert Sedgewick and Kevin Wayne</a:t>
            </a:r>
            <a:br>
              <a:rPr lang="en-US" sz="2600"/>
            </a:br>
            <a:endParaRPr sz="2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2600"/>
              <a:t>Introduction to Algorithms (Third Edition) by Thomas H. Cormen, Charles E. Leiserson, Ronald L. Rivest, and Clifford Stein</a:t>
            </a:r>
            <a:endParaRPr sz="2600"/>
          </a:p>
        </p:txBody>
      </p:sp>
      <p:pic>
        <p:nvPicPr>
          <p:cNvPr id="125" name="Google Shape;12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6879" y="3828226"/>
            <a:ext cx="2533600" cy="2849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36475" y="3737987"/>
            <a:ext cx="2408675" cy="3029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 Information</a:t>
            </a:r>
            <a:endParaRPr/>
          </a:p>
        </p:txBody>
      </p:sp>
      <p:sp>
        <p:nvSpPr>
          <p:cNvPr id="132" name="Google Shape;132;p1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This is a 3 credit course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So, there will be 3+1 = 4 quizzes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Out of these, best three will be selected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Mark Distribution (May Change Later)</a:t>
            </a:r>
            <a:endParaRPr/>
          </a:p>
        </p:txBody>
      </p:sp>
      <p:sp>
        <p:nvSpPr>
          <p:cNvPr id="138" name="Google Shape;138;p1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2700" y="2913413"/>
            <a:ext cx="7086600" cy="250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Contact Information</a:t>
            </a:r>
            <a:endParaRPr/>
          </a:p>
        </p:txBody>
      </p:sp>
      <p:sp>
        <p:nvSpPr>
          <p:cNvPr id="145" name="Google Shape;145;p1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Desk 4M112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anwarul.bashir@bracu.ac.bd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Prerequisites</a:t>
            </a:r>
            <a:endParaRPr/>
          </a:p>
        </p:txBody>
      </p:sp>
      <p:sp>
        <p:nvSpPr>
          <p:cNvPr id="151" name="Google Shape;151;p1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Java concepts (start revising!)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Class, methods, fields, objects, public/private access modifiers, inheritance, interface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Array creation, traversal, 1D &amp; 2D arrays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https://forms.gle/u1zvA7ezXAJod9eYA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Data Structures?</a:t>
            </a:r>
            <a:endParaRPr/>
          </a:p>
        </p:txBody>
      </p:sp>
      <p:sp>
        <p:nvSpPr>
          <p:cNvPr id="157" name="Google Shape;157;p1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As we write programs, we will need to store, retrieve, modify or delete data frequently.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We want these operations to be as efficient and as fast as possible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 data structure is a way of organizing and storing data so it can be used efficiently. Examples include arrays, lists, stacks, and trees.</a:t>
            </a:r>
            <a:endParaRPr/>
          </a:p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663" y="4473750"/>
            <a:ext cx="3838575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5000" y="4321362"/>
            <a:ext cx="4279240" cy="2536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71125" y="4473738"/>
            <a:ext cx="2171700" cy="210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Java Review</a:t>
            </a:r>
            <a:endParaRPr/>
          </a:p>
        </p:txBody>
      </p:sp>
      <p:sp>
        <p:nvSpPr>
          <p:cNvPr id="166" name="Google Shape;166;p2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https://drive.google.com/file/d/1_g4HU6aAXMEssi_ALG0Uh7G9MfYlpo22/view?usp=sharing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We will use</a:t>
            </a:r>
            <a:r>
              <a:rPr b="1" lang="en-US"/>
              <a:t> IntelliJ IDEA</a:t>
            </a:r>
            <a:r>
              <a:rPr lang="en-US"/>
              <a:t> for our Java IDE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VSCode will work as well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Java Review</a:t>
            </a:r>
            <a:endParaRPr/>
          </a:p>
        </p:txBody>
      </p:sp>
      <p:graphicFrame>
        <p:nvGraphicFramePr>
          <p:cNvPr id="172" name="Google Shape;172;p21"/>
          <p:cNvGraphicFramePr/>
          <p:nvPr/>
        </p:nvGraphicFramePr>
        <p:xfrm>
          <a:off x="1151750" y="13863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{9C8799C7-1F65-4483-BF42-F3EA354CCA82}</a:tableStyleId>
              </a:tblPr>
              <a:tblGrid>
                <a:gridCol w="1388150"/>
                <a:gridCol w="4850000"/>
                <a:gridCol w="3650350"/>
              </a:tblGrid>
              <a:tr h="505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Concept</a:t>
                      </a:r>
                      <a:endParaRPr b="1" sz="16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Description</a:t>
                      </a:r>
                      <a:endParaRPr b="1" sz="16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Example</a:t>
                      </a:r>
                      <a:endParaRPr b="1" sz="16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Class</a:t>
                      </a:r>
                      <a:endParaRPr b="1" sz="16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Blueprint for objects</a:t>
                      </a:r>
                      <a:endParaRPr sz="16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class Car {}</a:t>
                      </a:r>
                      <a:endParaRPr sz="16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Fields</a:t>
                      </a:r>
                      <a:endParaRPr b="1" sz="16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Variables inside a class</a:t>
                      </a:r>
                      <a:endParaRPr sz="16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int speed;</a:t>
                      </a:r>
                      <a:endParaRPr sz="16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Methods</a:t>
                      </a:r>
                      <a:endParaRPr b="1" sz="16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Functions inside a class</a:t>
                      </a:r>
                      <a:endParaRPr sz="16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void displayInfo() {}</a:t>
                      </a:r>
                      <a:endParaRPr sz="16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Object</a:t>
                      </a:r>
                      <a:endParaRPr b="1" sz="16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Instance of a class</a:t>
                      </a:r>
                      <a:endParaRPr sz="16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Car car1 = new Car();</a:t>
                      </a:r>
                      <a:endParaRPr sz="16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Public</a:t>
                      </a:r>
                      <a:endParaRPr b="1" sz="16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Accessible anywhere</a:t>
                      </a:r>
                      <a:endParaRPr sz="16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public void show()</a:t>
                      </a:r>
                      <a:endParaRPr sz="16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Private</a:t>
                      </a:r>
                      <a:endParaRPr b="1" sz="16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Accessible within class only</a:t>
                      </a:r>
                      <a:endParaRPr sz="16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private int age;</a:t>
                      </a:r>
                      <a:endParaRPr sz="16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5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Inheritance</a:t>
                      </a:r>
                      <a:endParaRPr b="1" sz="16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One class acquires another’s properties</a:t>
                      </a:r>
                      <a:endParaRPr sz="16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class Dog extends Animal {}</a:t>
                      </a:r>
                      <a:endParaRPr sz="16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5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Interface</a:t>
                      </a:r>
                      <a:endParaRPr b="1" sz="16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Contract for classes to implement</a:t>
                      </a:r>
                      <a:endParaRPr sz="16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interface Vehicle {}</a:t>
                      </a:r>
                      <a:endParaRPr sz="16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Resources</a:t>
            </a:r>
            <a:endParaRPr/>
          </a:p>
        </p:txBody>
      </p:sp>
      <p:sp>
        <p:nvSpPr>
          <p:cNvPr id="178" name="Google Shape;178;p2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CC0000"/>
              </a:buClr>
              <a:buSzPts val="1800"/>
              <a:buChar char="•"/>
            </a:pPr>
            <a:r>
              <a:rPr lang="en-US" u="sng">
                <a:solidFill>
                  <a:srgbClr val="CC0000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https://www.youtube.com/watch?v=Qmt0QwzEmh0&amp;list=PLDV1Zeh2NRsB6SWUrDFW2RmDotAfPbeHu</a:t>
            </a:r>
            <a:endParaRPr>
              <a:solidFill>
                <a:srgbClr val="CC0000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Excellent explanation and visualization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Contains almost all the topics we will teach in this course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Char char="•"/>
            </a:pPr>
            <a:r>
              <a:rPr lang="en-US" u="sng">
                <a:solidFill>
                  <a:srgbClr val="CC0000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https://www.youtube.com/@abdul_bari/videos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You will find almost all the topics of this course (+algorithms) in these two channels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Resources</a:t>
            </a:r>
            <a:endParaRPr/>
          </a:p>
        </p:txBody>
      </p:sp>
      <p:sp>
        <p:nvSpPr>
          <p:cNvPr id="184" name="Google Shape;184;p2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https://algs4.cs.princeton.edu/home/</a:t>
            </a:r>
            <a:r>
              <a:rPr lang="en-US"/>
              <a:t> 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Created by the authors (Robert Sedgewick, Kevin Wayne)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https://www.coursera.org/learn/algorithms-part1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u="sng">
                <a:solidFill>
                  <a:schemeClr val="hlink"/>
                </a:solidFill>
                <a:hlinkClick r:id="rId5"/>
              </a:rPr>
              <a:t>https://www.coursera.org/learn/algorithms-part2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Both are completely free!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Amazing lectures by the authors!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Java Resources</a:t>
            </a:r>
            <a:endParaRPr/>
          </a:p>
        </p:txBody>
      </p:sp>
      <p:sp>
        <p:nvSpPr>
          <p:cNvPr id="190" name="Google Shape;190;p2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https://www.w3schools.com/java/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https://www.youtube.com/watch?v=23HFxAPyJ9U&amp;list=PLZPZq0r_RZOOj_NOZYq_R2PECIMglLemc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