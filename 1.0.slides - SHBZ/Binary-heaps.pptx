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7" r:id="rId2"/>
    <p:sldId id="761" r:id="rId3"/>
    <p:sldId id="785" r:id="rId4"/>
    <p:sldId id="760" r:id="rId5"/>
    <p:sldId id="763" r:id="rId6"/>
    <p:sldId id="764" r:id="rId7"/>
    <p:sldId id="767" r:id="rId8"/>
    <p:sldId id="776" r:id="rId9"/>
    <p:sldId id="765" r:id="rId10"/>
    <p:sldId id="768" r:id="rId11"/>
    <p:sldId id="769" r:id="rId12"/>
    <p:sldId id="770" r:id="rId13"/>
    <p:sldId id="777" r:id="rId14"/>
    <p:sldId id="771" r:id="rId15"/>
    <p:sldId id="772" r:id="rId16"/>
    <p:sldId id="773" r:id="rId17"/>
    <p:sldId id="774" r:id="rId18"/>
    <p:sldId id="778" r:id="rId19"/>
    <p:sldId id="775" r:id="rId20"/>
    <p:sldId id="779" r:id="rId21"/>
    <p:sldId id="780" r:id="rId22"/>
    <p:sldId id="781" r:id="rId23"/>
    <p:sldId id="782" r:id="rId24"/>
    <p:sldId id="820" r:id="rId25"/>
    <p:sldId id="839" r:id="rId26"/>
    <p:sldId id="822" r:id="rId27"/>
    <p:sldId id="823" r:id="rId28"/>
    <p:sldId id="824" r:id="rId29"/>
    <p:sldId id="825" r:id="rId30"/>
    <p:sldId id="826" r:id="rId31"/>
    <p:sldId id="827" r:id="rId32"/>
    <p:sldId id="828" r:id="rId33"/>
    <p:sldId id="833" r:id="rId34"/>
    <p:sldId id="834" r:id="rId35"/>
    <p:sldId id="829" r:id="rId36"/>
    <p:sldId id="830" r:id="rId37"/>
    <p:sldId id="831" r:id="rId38"/>
    <p:sldId id="832" r:id="rId39"/>
    <p:sldId id="836" r:id="rId40"/>
    <p:sldId id="837" r:id="rId41"/>
    <p:sldId id="783" r:id="rId42"/>
    <p:sldId id="838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0099"/>
    <a:srgbClr val="800080"/>
    <a:srgbClr val="660066"/>
    <a:srgbClr val="531FE7"/>
    <a:srgbClr val="F2DCDB"/>
    <a:srgbClr val="D6F1F6"/>
    <a:srgbClr val="C6D9F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12" autoAdjust="0"/>
    <p:restoredTop sz="87986" autoAdjust="0"/>
  </p:normalViewPr>
  <p:slideViewPr>
    <p:cSldViewPr snapToObjects="1">
      <p:cViewPr varScale="1">
        <p:scale>
          <a:sx n="62" d="100"/>
          <a:sy n="62" d="100"/>
        </p:scale>
        <p:origin x="1348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36B012-B5C3-4AB8-9024-926D9DAB021B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D1CD36-F340-44C8-AD7C-1580A806C5A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604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82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82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2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822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2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822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82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22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2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2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22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822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2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22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22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22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822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22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822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22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22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22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8321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1895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8425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9799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7574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4750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9065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9649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433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281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84635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2447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76394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55988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74130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4498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16408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224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01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CE682-3BF7-4D5D-89CD-B603906EEBE5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96F1-322C-4821-B1F0-89FC5C408B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64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CE682-3BF7-4D5D-89CD-B603906EEBE5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96F1-322C-4821-B1F0-89FC5C408B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43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CE682-3BF7-4D5D-89CD-B603906EEBE5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96F1-322C-4821-B1F0-89FC5C408B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385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CE682-3BF7-4D5D-89CD-B603906EEBE5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96F1-322C-4821-B1F0-89FC5C408B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722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CE682-3BF7-4D5D-89CD-B603906EEBE5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96F1-322C-4821-B1F0-89FC5C408B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457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CE682-3BF7-4D5D-89CD-B603906EEBE5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96F1-322C-4821-B1F0-89FC5C408B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73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CE682-3BF7-4D5D-89CD-B603906EEBE5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96F1-322C-4821-B1F0-89FC5C408B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861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CE682-3BF7-4D5D-89CD-B603906EEBE5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96F1-322C-4821-B1F0-89FC5C408B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851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CE682-3BF7-4D5D-89CD-B603906EEBE5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96F1-322C-4821-B1F0-89FC5C408B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73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CE682-3BF7-4D5D-89CD-B603906EEBE5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96F1-322C-4821-B1F0-89FC5C408B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77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CE682-3BF7-4D5D-89CD-B603906EEBE5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96F1-322C-4821-B1F0-89FC5C408B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87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CE682-3BF7-4D5D-89CD-B603906EEBE5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5296F1-322C-4821-B1F0-89FC5C408B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915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0" y="0"/>
            <a:ext cx="9144000" cy="3861048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583668" y="5554216"/>
            <a:ext cx="7467600" cy="935124"/>
          </a:xfrm>
          <a:prstGeom prst="rect">
            <a:avLst/>
          </a:prstGeom>
        </p:spPr>
        <p:txBody>
          <a:bodyPr tIns="0"/>
          <a:lstStyle>
            <a:lvl1pPr marL="269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>
              <a:spcBef>
                <a:spcPts val="600"/>
              </a:spcBef>
              <a:buClr>
                <a:schemeClr val="accent1"/>
              </a:buClr>
              <a:buSzPct val="80000"/>
              <a:buFont typeface="Wingdings 2" pitchFamily="18" charset="2"/>
              <a:buNone/>
            </a:pPr>
            <a:r>
              <a:rPr lang="en-US" sz="2100" dirty="0">
                <a:solidFill>
                  <a:srgbClr val="5F5F5F"/>
                </a:solidFill>
                <a:latin typeface="Bookman Old Style" pitchFamily="18" charset="0"/>
              </a:rPr>
              <a:t>Department of Computer </a:t>
            </a:r>
            <a:r>
              <a:rPr lang="en-US" sz="2100" dirty="0" smtClean="0">
                <a:solidFill>
                  <a:srgbClr val="5F5F5F"/>
                </a:solidFill>
                <a:latin typeface="Bookman Old Style" pitchFamily="18" charset="0"/>
              </a:rPr>
              <a:t>Science and Engineering Bangladesh University of Engineering and Technology</a:t>
            </a:r>
            <a:endParaRPr lang="en-US" sz="2100" dirty="0">
              <a:solidFill>
                <a:srgbClr val="5F5F5F"/>
              </a:solidFill>
              <a:latin typeface="Bookman Old Style" pitchFamily="18" charset="0"/>
            </a:endParaRPr>
          </a:p>
        </p:txBody>
      </p:sp>
      <p:sp>
        <p:nvSpPr>
          <p:cNvPr id="4105" name="Text Box 9"/>
          <p:cNvSpPr txBox="1">
            <a:spLocks noChangeArrowheads="1"/>
          </p:cNvSpPr>
          <p:nvPr/>
        </p:nvSpPr>
        <p:spPr bwMode="auto">
          <a:xfrm>
            <a:off x="179512" y="673822"/>
            <a:ext cx="8807896" cy="630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500" dirty="0" smtClean="0">
                <a:solidFill>
                  <a:schemeClr val="bg1"/>
                </a:solidFill>
                <a:latin typeface="Trebuchet MS" pitchFamily="34" charset="0"/>
              </a:rPr>
              <a:t>Binary Heap</a:t>
            </a:r>
            <a:endParaRPr lang="en-US" sz="3500" dirty="0">
              <a:solidFill>
                <a:schemeClr val="bg1"/>
              </a:solidFill>
              <a:latin typeface="Trebuchet MS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508" y="2206025"/>
            <a:ext cx="70758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 smtClean="0">
                <a:latin typeface="Georgia" pitchFamily="18" charset="0"/>
              </a:rPr>
              <a:t>Dr. Md. </a:t>
            </a:r>
            <a:r>
              <a:rPr lang="en-US" sz="2200" dirty="0" err="1" smtClean="0">
                <a:latin typeface="Georgia" pitchFamily="18" charset="0"/>
              </a:rPr>
              <a:t>Shamsuzzoha</a:t>
            </a:r>
            <a:r>
              <a:rPr lang="en-US" sz="2200" dirty="0" smtClean="0">
                <a:latin typeface="Georgia" pitchFamily="18" charset="0"/>
              </a:rPr>
              <a:t> </a:t>
            </a:r>
            <a:r>
              <a:rPr lang="en-US" sz="2200" dirty="0" err="1" smtClean="0">
                <a:latin typeface="Georgia" pitchFamily="18" charset="0"/>
              </a:rPr>
              <a:t>Bayzid</a:t>
            </a:r>
            <a:endParaRPr lang="en-US" sz="2200" dirty="0">
              <a:latin typeface="Georgia" pitchFamily="18" charset="0"/>
            </a:endParaRPr>
          </a:p>
        </p:txBody>
      </p:sp>
      <p:pic>
        <p:nvPicPr>
          <p:cNvPr id="1027" name="Picture 3" descr="D:\departmental\courses\PG-OCT-2017\my-slides\BUET_LOGO.svg (1)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203" y="5085184"/>
            <a:ext cx="1517725" cy="152535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628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1520" y="8620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</a:rPr>
              <a:t>Binary Heap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74068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683568" y="2096853"/>
            <a:ext cx="7524836" cy="461665"/>
            <a:chOff x="3290836" y="1158452"/>
            <a:chExt cx="5645535" cy="360331"/>
          </a:xfrm>
        </p:grpSpPr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3290836" y="1214655"/>
              <a:ext cx="192089" cy="199834"/>
            </a:xfrm>
            <a:prstGeom prst="ellipse">
              <a:avLst/>
            </a:prstGeom>
            <a:gradFill rotWithShape="1">
              <a:gsLst>
                <a:gs pos="0">
                  <a:srgbClr val="002060">
                    <a:alpha val="51000"/>
                  </a:srgbClr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Book Antiqua" pitchFamily="18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468879" y="1158452"/>
              <a:ext cx="5467492" cy="360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smtClean="0">
                  <a:latin typeface="Book Antiqua" pitchFamily="18" charset="0"/>
                </a:rPr>
                <a:t>Structural property:</a:t>
              </a:r>
              <a:r>
                <a:rPr lang="en-US" sz="2400" dirty="0" smtClean="0">
                  <a:solidFill>
                    <a:srgbClr val="FF0000"/>
                  </a:solidFill>
                  <a:latin typeface="Book Antiqua" pitchFamily="18" charset="0"/>
                </a:rPr>
                <a:t> Almost </a:t>
              </a:r>
              <a:r>
                <a:rPr lang="en-US" sz="2400" dirty="0" smtClean="0">
                  <a:solidFill>
                    <a:srgbClr val="0000CC"/>
                  </a:solidFill>
                  <a:latin typeface="Book Antiqua" pitchFamily="18" charset="0"/>
                </a:rPr>
                <a:t>complete</a:t>
              </a:r>
              <a:r>
                <a:rPr lang="en-US" sz="2400" dirty="0" smtClean="0">
                  <a:solidFill>
                    <a:srgbClr val="FF0000"/>
                  </a:solidFill>
                  <a:latin typeface="Book Antiqua" pitchFamily="18" charset="0"/>
                </a:rPr>
                <a:t> </a:t>
              </a:r>
              <a:r>
                <a:rPr lang="en-US" sz="2400" dirty="0" smtClean="0">
                  <a:latin typeface="Book Antiqua" pitchFamily="18" charset="0"/>
                </a:rPr>
                <a:t>binary tree</a:t>
              </a:r>
              <a:endParaRPr lang="en-US" sz="2400" dirty="0">
                <a:latin typeface="Georgia" pitchFamily="18" charset="0"/>
              </a:endParaRPr>
            </a:p>
          </p:txBody>
        </p:sp>
      </p:grp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151620" y="2600908"/>
            <a:ext cx="831692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rgbClr val="4F81BD"/>
              </a:buClr>
              <a:buSzPct val="90000"/>
              <a:buFont typeface="Wingdings 3" pitchFamily="18" charset="2"/>
              <a:buChar char="}"/>
            </a:pPr>
            <a:r>
              <a:rPr lang="en-US" sz="2600" dirty="0" smtClean="0">
                <a:solidFill>
                  <a:srgbClr val="000099"/>
                </a:solidFill>
                <a:latin typeface="Garamond" pitchFamily="18" charset="0"/>
              </a:rPr>
              <a:t>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Complete</a:t>
            </a:r>
            <a:r>
              <a:rPr lang="en-US" sz="2600" dirty="0" smtClean="0">
                <a:latin typeface="Garamond" pitchFamily="18" charset="0"/>
              </a:rPr>
              <a:t> on all levels, </a:t>
            </a:r>
            <a:r>
              <a:rPr lang="en-US" sz="2600" dirty="0" smtClean="0">
                <a:solidFill>
                  <a:srgbClr val="FF0000"/>
                </a:solidFill>
                <a:latin typeface="Garamond" pitchFamily="18" charset="0"/>
              </a:rPr>
              <a:t>except</a:t>
            </a:r>
            <a:r>
              <a:rPr lang="en-US" sz="2600" dirty="0" smtClean="0">
                <a:latin typeface="Garamond" pitchFamily="18" charset="0"/>
              </a:rPr>
              <a:t> the </a:t>
            </a:r>
            <a:r>
              <a:rPr lang="en-US" sz="2600" dirty="0" smtClean="0">
                <a:solidFill>
                  <a:srgbClr val="FF0000"/>
                </a:solidFill>
                <a:latin typeface="Garamond" pitchFamily="18" charset="0"/>
              </a:rPr>
              <a:t>last</a:t>
            </a:r>
            <a:endParaRPr lang="en-US" sz="2800" dirty="0" smtClean="0">
              <a:solidFill>
                <a:srgbClr val="FF0000"/>
              </a:solidFill>
              <a:latin typeface="Garamond" pitchFamily="18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683568" y="3477779"/>
            <a:ext cx="6624738" cy="461665"/>
            <a:chOff x="3290836" y="1158452"/>
            <a:chExt cx="4970233" cy="360331"/>
          </a:xfrm>
        </p:grpSpPr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3290836" y="1214655"/>
              <a:ext cx="192089" cy="199834"/>
            </a:xfrm>
            <a:prstGeom prst="ellipse">
              <a:avLst/>
            </a:prstGeom>
            <a:gradFill rotWithShape="1">
              <a:gsLst>
                <a:gs pos="0">
                  <a:srgbClr val="002060">
                    <a:alpha val="51000"/>
                  </a:srgbClr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Book Antiqua" pitchFamily="18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468879" y="1158452"/>
              <a:ext cx="4792190" cy="360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smtClean="0">
                  <a:latin typeface="Book Antiqua" pitchFamily="18" charset="0"/>
                </a:rPr>
                <a:t>Order (heap) property:</a:t>
              </a:r>
              <a:r>
                <a:rPr lang="en-US" sz="2400" dirty="0" smtClean="0">
                  <a:solidFill>
                    <a:srgbClr val="FF0000"/>
                  </a:solidFill>
                  <a:latin typeface="Book Antiqua" pitchFamily="18" charset="0"/>
                </a:rPr>
                <a:t> Min/Max </a:t>
              </a:r>
              <a:r>
                <a:rPr lang="en-US" sz="2400" dirty="0" smtClean="0">
                  <a:latin typeface="Book Antiqua" pitchFamily="18" charset="0"/>
                </a:rPr>
                <a:t>Heap</a:t>
              </a:r>
              <a:endParaRPr lang="en-US" sz="2400" dirty="0">
                <a:latin typeface="Georgia" pitchFamily="18" charset="0"/>
              </a:endParaRPr>
            </a:p>
          </p:txBody>
        </p:sp>
      </p:grp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151620" y="4016677"/>
            <a:ext cx="831692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rgbClr val="4F81BD"/>
              </a:buClr>
              <a:buSzPct val="90000"/>
              <a:buFont typeface="Wingdings 3" pitchFamily="18" charset="2"/>
              <a:buChar char="}"/>
            </a:pPr>
            <a:r>
              <a:rPr lang="en-US" sz="2600" dirty="0">
                <a:latin typeface="Garamond" pitchFamily="18" charset="0"/>
              </a:rPr>
              <a:t>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Parent</a:t>
            </a:r>
            <a:r>
              <a:rPr lang="en-US" sz="2600" dirty="0" smtClean="0">
                <a:latin typeface="Garamond" pitchFamily="18" charset="0"/>
              </a:rPr>
              <a:t> is </a:t>
            </a:r>
            <a:r>
              <a:rPr lang="en-US" sz="2600" dirty="0" smtClean="0">
                <a:solidFill>
                  <a:srgbClr val="FF0000"/>
                </a:solidFill>
                <a:latin typeface="Garamond" pitchFamily="18" charset="0"/>
              </a:rPr>
              <a:t>less/greater</a:t>
            </a:r>
            <a:r>
              <a:rPr lang="en-US" sz="2600" dirty="0" smtClean="0">
                <a:latin typeface="Garamond" pitchFamily="18" charset="0"/>
              </a:rPr>
              <a:t> than the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children</a:t>
            </a:r>
            <a:endParaRPr lang="en-US" sz="2800" dirty="0" smtClean="0">
              <a:solidFill>
                <a:srgbClr val="0000CC"/>
              </a:solidFill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916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1520" y="8620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</a:rPr>
              <a:t>Binary Heap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74068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683568" y="1988838"/>
            <a:ext cx="6624738" cy="461665"/>
            <a:chOff x="3290836" y="1158452"/>
            <a:chExt cx="4970233" cy="360331"/>
          </a:xfrm>
        </p:grpSpPr>
        <p:sp>
          <p:nvSpPr>
            <p:cNvPr id="16" name="Oval 15"/>
            <p:cNvSpPr>
              <a:spLocks noChangeArrowheads="1"/>
            </p:cNvSpPr>
            <p:nvPr/>
          </p:nvSpPr>
          <p:spPr bwMode="auto">
            <a:xfrm>
              <a:off x="3290836" y="1214655"/>
              <a:ext cx="192089" cy="199834"/>
            </a:xfrm>
            <a:prstGeom prst="ellipse">
              <a:avLst/>
            </a:prstGeom>
            <a:gradFill rotWithShape="1">
              <a:gsLst>
                <a:gs pos="0">
                  <a:srgbClr val="002060">
                    <a:alpha val="51000"/>
                  </a:srgbClr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Book Antiqua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468879" y="1158452"/>
              <a:ext cx="4792190" cy="360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solidFill>
                    <a:srgbClr val="0000CC"/>
                  </a:solidFill>
                  <a:latin typeface="Book Antiqua" pitchFamily="18" charset="0"/>
                </a:rPr>
                <a:t>Applications</a:t>
              </a:r>
              <a:r>
                <a:rPr lang="en-US" sz="2400" dirty="0" smtClean="0">
                  <a:latin typeface="Book Antiqua" pitchFamily="18" charset="0"/>
                </a:rPr>
                <a:t>: </a:t>
              </a:r>
              <a:r>
                <a:rPr lang="en-US" sz="2400" dirty="0" smtClean="0">
                  <a:solidFill>
                    <a:srgbClr val="FF0000"/>
                  </a:solidFill>
                  <a:latin typeface="Book Antiqua" pitchFamily="18" charset="0"/>
                </a:rPr>
                <a:t>Priority Queue</a:t>
              </a:r>
              <a:r>
                <a:rPr lang="en-US" sz="2400" dirty="0" smtClean="0">
                  <a:latin typeface="Book Antiqua" pitchFamily="18" charset="0"/>
                </a:rPr>
                <a:t> </a:t>
              </a:r>
              <a:endParaRPr lang="en-US" sz="2400" dirty="0">
                <a:latin typeface="Georgia" pitchFamily="18" charset="0"/>
              </a:endParaRPr>
            </a:p>
          </p:txBody>
        </p:sp>
      </p:grp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151620" y="2635748"/>
            <a:ext cx="831692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rgbClr val="4F81BD"/>
              </a:buClr>
              <a:buSzPct val="90000"/>
              <a:buFont typeface="Wingdings 3" pitchFamily="18" charset="2"/>
              <a:buChar char="}"/>
            </a:pPr>
            <a:r>
              <a:rPr lang="en-US" sz="2600" dirty="0">
                <a:solidFill>
                  <a:srgbClr val="0000CC"/>
                </a:solidFill>
                <a:latin typeface="Garamond" pitchFamily="18" charset="0"/>
              </a:rPr>
              <a:t> </a:t>
            </a:r>
            <a:r>
              <a:rPr lang="en-US" sz="2600" dirty="0" err="1" smtClean="0">
                <a:solidFill>
                  <a:srgbClr val="0000CC"/>
                </a:solidFill>
                <a:latin typeface="Garamond" pitchFamily="18" charset="0"/>
              </a:rPr>
              <a:t>Dijkstra’s</a:t>
            </a:r>
            <a:r>
              <a:rPr lang="en-US" sz="2600" dirty="0" smtClean="0">
                <a:latin typeface="Garamond" pitchFamily="18" charset="0"/>
              </a:rPr>
              <a:t> shortest path algorithm</a:t>
            </a:r>
          </a:p>
          <a:p>
            <a:pPr>
              <a:spcBef>
                <a:spcPts val="600"/>
              </a:spcBef>
              <a:buClr>
                <a:srgbClr val="4F81BD"/>
              </a:buClr>
              <a:buSzPct val="90000"/>
              <a:buFont typeface="Wingdings 3" pitchFamily="18" charset="2"/>
              <a:buChar char="}"/>
            </a:pPr>
            <a:r>
              <a:rPr lang="en-US" sz="2600" dirty="0">
                <a:latin typeface="Garamond" pitchFamily="18" charset="0"/>
              </a:rPr>
              <a:t>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Prim’s</a:t>
            </a:r>
            <a:r>
              <a:rPr lang="en-US" sz="2600" dirty="0" smtClean="0">
                <a:latin typeface="Garamond" pitchFamily="18" charset="0"/>
              </a:rPr>
              <a:t> MST algorithm</a:t>
            </a:r>
          </a:p>
          <a:p>
            <a:pPr>
              <a:spcBef>
                <a:spcPts val="600"/>
              </a:spcBef>
              <a:buClr>
                <a:srgbClr val="4F81BD"/>
              </a:buClr>
              <a:buSzPct val="90000"/>
              <a:buFont typeface="Wingdings 3" pitchFamily="18" charset="2"/>
              <a:buChar char="}"/>
            </a:pPr>
            <a:r>
              <a:rPr lang="en-US" sz="2600" dirty="0">
                <a:latin typeface="Garamond" pitchFamily="18" charset="0"/>
              </a:rPr>
              <a:t> </a:t>
            </a:r>
            <a:r>
              <a:rPr lang="en-US" sz="2600" dirty="0" err="1" smtClean="0">
                <a:solidFill>
                  <a:srgbClr val="0000CC"/>
                </a:solidFill>
                <a:latin typeface="Garamond" pitchFamily="18" charset="0"/>
              </a:rPr>
              <a:t>Heapsort</a:t>
            </a:r>
            <a:endParaRPr lang="en-US" sz="2800" dirty="0" smtClean="0">
              <a:solidFill>
                <a:srgbClr val="0000CC"/>
              </a:solidFill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56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Straight Connector 34"/>
          <p:cNvCxnSpPr/>
          <p:nvPr/>
        </p:nvCxnSpPr>
        <p:spPr>
          <a:xfrm flipV="1">
            <a:off x="2940964" y="4257092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 flipV="1">
            <a:off x="4510848" y="2359736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2663788" y="2359736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9" idx="1"/>
          </p:cNvCxnSpPr>
          <p:nvPr/>
        </p:nvCxnSpPr>
        <p:spPr>
          <a:xfrm flipH="1" flipV="1">
            <a:off x="2589504" y="3368598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1475656" y="3270692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8" idx="1"/>
          </p:cNvCxnSpPr>
          <p:nvPr/>
        </p:nvCxnSpPr>
        <p:spPr>
          <a:xfrm flipH="1" flipV="1">
            <a:off x="1400622" y="4231945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716136" y="4231945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7571" y="8620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Min Heap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02060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4341684" y="219057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6</a:t>
            </a:r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2375756" y="316268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1231458" y="406278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546972" y="487658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1965420" y="489087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3477588" y="4041068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18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40" name="Straight Connector 39"/>
          <p:cNvCxnSpPr>
            <a:stCxn id="44" idx="1"/>
          </p:cNvCxnSpPr>
          <p:nvPr/>
        </p:nvCxnSpPr>
        <p:spPr>
          <a:xfrm flipH="1" flipV="1">
            <a:off x="6765968" y="3454898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5652120" y="3356992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>
            <a:spLocks noChangeArrowheads="1"/>
          </p:cNvSpPr>
          <p:nvPr/>
        </p:nvSpPr>
        <p:spPr bwMode="auto">
          <a:xfrm>
            <a:off x="6552220" y="324898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8</a:t>
            </a:r>
          </a:p>
        </p:txBody>
      </p:sp>
      <p:sp>
        <p:nvSpPr>
          <p:cNvPr id="43" name="Oval 42"/>
          <p:cNvSpPr>
            <a:spLocks noChangeArrowheads="1"/>
          </p:cNvSpPr>
          <p:nvPr/>
        </p:nvSpPr>
        <p:spPr bwMode="auto">
          <a:xfrm>
            <a:off x="5407922" y="414908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4" name="Oval 43"/>
          <p:cNvSpPr>
            <a:spLocks noChangeArrowheads="1"/>
          </p:cNvSpPr>
          <p:nvPr/>
        </p:nvSpPr>
        <p:spPr bwMode="auto">
          <a:xfrm>
            <a:off x="7654052" y="4127368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547664" y="2960948"/>
            <a:ext cx="975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rebuchet MS" pitchFamily="34" charset="0"/>
              </a:rPr>
              <a:t>parent</a:t>
            </a:r>
            <a:endParaRPr lang="en-US" dirty="0">
              <a:solidFill>
                <a:srgbClr val="FF0000"/>
              </a:solidFill>
              <a:latin typeface="Trebuchet MS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00522" y="3995772"/>
            <a:ext cx="975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CC"/>
                </a:solidFill>
                <a:latin typeface="Trebuchet MS" pitchFamily="34" charset="0"/>
              </a:rPr>
              <a:t>child</a:t>
            </a:r>
            <a:endParaRPr lang="en-US" dirty="0">
              <a:solidFill>
                <a:srgbClr val="0000CC"/>
              </a:solidFill>
              <a:latin typeface="Trebuchet MS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812890" y="4005064"/>
            <a:ext cx="975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CC"/>
                </a:solidFill>
                <a:latin typeface="Trebuchet MS" pitchFamily="34" charset="0"/>
              </a:rPr>
              <a:t>child</a:t>
            </a:r>
            <a:endParaRPr lang="en-US" dirty="0">
              <a:solidFill>
                <a:srgbClr val="0000CC"/>
              </a:solidFill>
              <a:latin typeface="Trebuchet MS" pitchFamily="34" charset="0"/>
            </a:endParaRPr>
          </a:p>
        </p:txBody>
      </p:sp>
      <p:cxnSp>
        <p:nvCxnSpPr>
          <p:cNvPr id="49" name="Straight Connector 48"/>
          <p:cNvCxnSpPr/>
          <p:nvPr/>
        </p:nvCxnSpPr>
        <p:spPr>
          <a:xfrm>
            <a:off x="5004048" y="2359736"/>
            <a:ext cx="3420380" cy="0"/>
          </a:xfrm>
          <a:prstGeom prst="line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7056276" y="3392996"/>
            <a:ext cx="1368152" cy="0"/>
          </a:xfrm>
          <a:prstGeom prst="line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8100392" y="4329100"/>
            <a:ext cx="324036" cy="0"/>
          </a:xfrm>
          <a:prstGeom prst="line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3283207" y="5121188"/>
            <a:ext cx="5213229" cy="0"/>
          </a:xfrm>
          <a:prstGeom prst="line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421402" y="2164794"/>
            <a:ext cx="975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rebuchet MS" pitchFamily="34" charset="0"/>
              </a:rPr>
              <a:t>L</a:t>
            </a:r>
            <a:r>
              <a:rPr lang="en-US" sz="2000" b="1" baseline="-25000" dirty="0" smtClean="0">
                <a:latin typeface="Trebuchet MS" pitchFamily="34" charset="0"/>
              </a:rPr>
              <a:t>1</a:t>
            </a:r>
            <a:endParaRPr lang="en-US" sz="2000" b="1" baseline="-25000" dirty="0">
              <a:latin typeface="Trebuchet MS" pitchFamily="34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424428" y="3172906"/>
            <a:ext cx="975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rebuchet MS" pitchFamily="34" charset="0"/>
              </a:rPr>
              <a:t>L</a:t>
            </a:r>
            <a:r>
              <a:rPr lang="en-US" sz="2000" b="1" baseline="-25000" dirty="0">
                <a:latin typeface="Trebuchet MS" pitchFamily="34" charset="0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57406" y="4109010"/>
            <a:ext cx="975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rebuchet MS" pitchFamily="34" charset="0"/>
              </a:rPr>
              <a:t>L</a:t>
            </a:r>
            <a:r>
              <a:rPr lang="en-US" sz="2000" b="1" baseline="-25000" dirty="0">
                <a:latin typeface="Trebuchet MS" pitchFamily="34" charset="0"/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00392" y="4901098"/>
            <a:ext cx="1368152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rebuchet MS" pitchFamily="34" charset="0"/>
              </a:rPr>
              <a:t>     L</a:t>
            </a:r>
            <a:r>
              <a:rPr lang="en-US" sz="2000" b="1" baseline="-25000" dirty="0" smtClean="0">
                <a:latin typeface="Trebuchet MS" pitchFamily="34" charset="0"/>
              </a:rPr>
              <a:t>4</a:t>
            </a:r>
          </a:p>
          <a:p>
            <a:r>
              <a:rPr lang="en-US" sz="2000" b="1" baseline="-25000" dirty="0" smtClean="0">
                <a:solidFill>
                  <a:srgbClr val="FF0000"/>
                </a:solidFill>
                <a:latin typeface="Trebuchet MS" pitchFamily="34" charset="0"/>
              </a:rPr>
              <a:t>incomplete</a:t>
            </a:r>
            <a:endParaRPr lang="en-US" sz="2000" b="1" baseline="-25000" dirty="0">
              <a:solidFill>
                <a:srgbClr val="FF0000"/>
              </a:solidFill>
              <a:latin typeface="Trebuchet MS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 rot="16200000">
            <a:off x="96947" y="3393762"/>
            <a:ext cx="822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log n</a:t>
            </a:r>
            <a:endParaRPr lang="en-US" sz="2000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57571" y="2400853"/>
            <a:ext cx="0" cy="2756339"/>
          </a:xfrm>
          <a:prstGeom prst="straightConnector1">
            <a:avLst/>
          </a:prstGeom>
          <a:ln w="34925">
            <a:solidFill>
              <a:schemeClr val="bg1">
                <a:lumMod val="50000"/>
              </a:schemeClr>
            </a:solidFill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>
            <a:spLocks noChangeArrowheads="1"/>
          </p:cNvSpPr>
          <p:nvPr/>
        </p:nvSpPr>
        <p:spPr bwMode="auto">
          <a:xfrm>
            <a:off x="2771800" y="4901727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127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7" grpId="0"/>
      <p:bldP spid="60" grpId="0"/>
      <p:bldP spid="61" grpId="0"/>
      <p:bldP spid="62" grpId="0"/>
      <p:bldP spid="63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1520" y="8620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</a:rPr>
              <a:t>Binary Heap: Properties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74068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719572" y="1232756"/>
            <a:ext cx="8316924" cy="1923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rgbClr val="4F81BD"/>
              </a:buClr>
              <a:buSzPct val="90000"/>
              <a:buFont typeface="Wingdings 3" pitchFamily="18" charset="2"/>
              <a:buChar char="}"/>
            </a:pP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 min/max</a:t>
            </a:r>
            <a:r>
              <a:rPr lang="en-US" sz="2600" dirty="0" smtClean="0">
                <a:latin typeface="Garamond" pitchFamily="18" charset="0"/>
              </a:rPr>
              <a:t> element in the </a:t>
            </a:r>
            <a:r>
              <a:rPr lang="en-US" sz="2600" dirty="0" smtClean="0">
                <a:solidFill>
                  <a:srgbClr val="FF0000"/>
                </a:solidFill>
                <a:latin typeface="Garamond" pitchFamily="18" charset="0"/>
              </a:rPr>
              <a:t>root</a:t>
            </a:r>
          </a:p>
          <a:p>
            <a:pPr>
              <a:spcBef>
                <a:spcPts val="600"/>
              </a:spcBef>
              <a:buClr>
                <a:srgbClr val="4F81BD"/>
              </a:buClr>
              <a:buSzPct val="90000"/>
              <a:buFont typeface="Wingdings 3" pitchFamily="18" charset="2"/>
              <a:buChar char="}"/>
            </a:pPr>
            <a:r>
              <a:rPr lang="en-US" sz="2600" dirty="0">
                <a:latin typeface="Garamond" pitchFamily="18" charset="0"/>
              </a:rPr>
              <a:t> </a:t>
            </a:r>
            <a:r>
              <a:rPr lang="en-US" sz="2600" dirty="0" smtClean="0">
                <a:latin typeface="Garamond" pitchFamily="18" charset="0"/>
              </a:rPr>
              <a:t>Heap with n elements has </a:t>
            </a:r>
            <a:r>
              <a:rPr lang="en-US" sz="2600" dirty="0" smtClean="0">
                <a:latin typeface="Courier New" pitchFamily="49" charset="0"/>
                <a:cs typeface="Courier New" pitchFamily="49" charset="0"/>
              </a:rPr>
              <a:t>floor(log n)</a:t>
            </a:r>
            <a:r>
              <a:rPr lang="en-US" sz="2600" dirty="0" smtClean="0">
                <a:latin typeface="Garamond" pitchFamily="18" charset="0"/>
              </a:rPr>
              <a:t> height</a:t>
            </a:r>
          </a:p>
          <a:p>
            <a:pPr>
              <a:spcBef>
                <a:spcPts val="600"/>
              </a:spcBef>
              <a:buClr>
                <a:srgbClr val="4F81BD"/>
              </a:buClr>
              <a:buSzPct val="90000"/>
              <a:buFont typeface="Wingdings 3" pitchFamily="18" charset="2"/>
              <a:buChar char="}"/>
            </a:pPr>
            <a:r>
              <a:rPr lang="en-US" sz="2600" dirty="0">
                <a:latin typeface="Garamond" pitchFamily="18" charset="0"/>
              </a:rPr>
              <a:t> </a:t>
            </a:r>
            <a:r>
              <a:rPr lang="en-US" sz="2600" dirty="0" smtClean="0">
                <a:latin typeface="Garamond" pitchFamily="18" charset="0"/>
              </a:rPr>
              <a:t>Maintain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pointer</a:t>
            </a:r>
            <a:r>
              <a:rPr lang="en-US" sz="2600" dirty="0" smtClean="0">
                <a:latin typeface="Garamond" pitchFamily="18" charset="0"/>
              </a:rPr>
              <a:t> to </a:t>
            </a:r>
            <a:r>
              <a:rPr lang="en-US" sz="2600" dirty="0" smtClean="0">
                <a:solidFill>
                  <a:srgbClr val="FF0000"/>
                </a:solidFill>
                <a:latin typeface="Garamond" pitchFamily="18" charset="0"/>
              </a:rPr>
              <a:t>root</a:t>
            </a:r>
            <a:r>
              <a:rPr lang="en-US" sz="2600" dirty="0" smtClean="0">
                <a:latin typeface="Garamond" pitchFamily="18" charset="0"/>
              </a:rPr>
              <a:t> node</a:t>
            </a:r>
          </a:p>
          <a:p>
            <a:pPr>
              <a:spcBef>
                <a:spcPts val="600"/>
              </a:spcBef>
              <a:buClr>
                <a:srgbClr val="4F81BD"/>
              </a:buClr>
              <a:buSzPct val="90000"/>
              <a:buFont typeface="Wingdings 3" pitchFamily="18" charset="2"/>
              <a:buChar char="}"/>
            </a:pPr>
            <a:r>
              <a:rPr lang="en-US" sz="2600" dirty="0">
                <a:latin typeface="Garamond" pitchFamily="18" charset="0"/>
              </a:rPr>
              <a:t> </a:t>
            </a:r>
            <a:r>
              <a:rPr lang="en-US" sz="2600" dirty="0" smtClean="0">
                <a:latin typeface="Garamond" pitchFamily="18" charset="0"/>
              </a:rPr>
              <a:t>Maintain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pointers</a:t>
            </a:r>
            <a:r>
              <a:rPr lang="en-US" sz="2600" dirty="0" smtClean="0">
                <a:latin typeface="Garamond" pitchFamily="18" charset="0"/>
              </a:rPr>
              <a:t> to </a:t>
            </a:r>
            <a:r>
              <a:rPr lang="en-US" sz="2600" dirty="0" smtClean="0">
                <a:solidFill>
                  <a:srgbClr val="FF0000"/>
                </a:solidFill>
                <a:latin typeface="Garamond" pitchFamily="18" charset="0"/>
              </a:rPr>
              <a:t>children</a:t>
            </a:r>
            <a:r>
              <a:rPr lang="en-US" sz="2600" dirty="0" smtClean="0">
                <a:latin typeface="Garamond" pitchFamily="18" charset="0"/>
              </a:rPr>
              <a:t> nodes</a:t>
            </a:r>
          </a:p>
        </p:txBody>
      </p:sp>
    </p:spTree>
    <p:extLst>
      <p:ext uri="{BB962C8B-B14F-4D97-AF65-F5344CB8AC3E}">
        <p14:creationId xmlns:p14="http://schemas.microsoft.com/office/powerpoint/2010/main" val="2646206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Straight Connector 37"/>
          <p:cNvCxnSpPr/>
          <p:nvPr/>
        </p:nvCxnSpPr>
        <p:spPr>
          <a:xfrm flipV="1">
            <a:off x="3131430" y="3598165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 flipV="1">
            <a:off x="4687422" y="1725956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2840362" y="1725956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9" idx="1"/>
          </p:cNvCxnSpPr>
          <p:nvPr/>
        </p:nvCxnSpPr>
        <p:spPr>
          <a:xfrm flipH="1" flipV="1">
            <a:off x="2766078" y="2734818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1652230" y="2636912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8" idx="1"/>
          </p:cNvCxnSpPr>
          <p:nvPr/>
        </p:nvCxnSpPr>
        <p:spPr>
          <a:xfrm flipH="1" flipV="1">
            <a:off x="1577196" y="3598165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892710" y="3598165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7571" y="8620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Min Heap: Array Implementation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02060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4518258" y="155679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6</a:t>
            </a:r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2552330" y="25289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1408032" y="34290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723546" y="42428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2141994" y="425709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3654162" y="3407288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18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40" name="Straight Connector 39"/>
          <p:cNvCxnSpPr>
            <a:stCxn id="44" idx="1"/>
          </p:cNvCxnSpPr>
          <p:nvPr/>
        </p:nvCxnSpPr>
        <p:spPr>
          <a:xfrm flipH="1" flipV="1">
            <a:off x="6942542" y="2821118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5828694" y="2723212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>
            <a:spLocks noChangeArrowheads="1"/>
          </p:cNvSpPr>
          <p:nvPr/>
        </p:nvSpPr>
        <p:spPr bwMode="auto">
          <a:xfrm>
            <a:off x="6728794" y="26152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8</a:t>
            </a:r>
          </a:p>
        </p:txBody>
      </p:sp>
      <p:sp>
        <p:nvSpPr>
          <p:cNvPr id="43" name="Oval 42"/>
          <p:cNvSpPr>
            <a:spLocks noChangeArrowheads="1"/>
          </p:cNvSpPr>
          <p:nvPr/>
        </p:nvSpPr>
        <p:spPr bwMode="auto">
          <a:xfrm>
            <a:off x="5584496" y="35153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4" name="Oval 43"/>
          <p:cNvSpPr>
            <a:spLocks noChangeArrowheads="1"/>
          </p:cNvSpPr>
          <p:nvPr/>
        </p:nvSpPr>
        <p:spPr bwMode="auto">
          <a:xfrm>
            <a:off x="7830626" y="3493588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880284"/>
              </p:ext>
            </p:extLst>
          </p:nvPr>
        </p:nvGraphicFramePr>
        <p:xfrm>
          <a:off x="824138" y="5279608"/>
          <a:ext cx="756428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504"/>
                <a:gridCol w="346412"/>
                <a:gridCol w="444958"/>
                <a:gridCol w="444958"/>
                <a:gridCol w="444958"/>
                <a:gridCol w="444958"/>
                <a:gridCol w="444958"/>
                <a:gridCol w="444958"/>
                <a:gridCol w="444958"/>
                <a:gridCol w="444958"/>
                <a:gridCol w="444958"/>
                <a:gridCol w="444958"/>
                <a:gridCol w="444958"/>
                <a:gridCol w="444958"/>
                <a:gridCol w="444958"/>
                <a:gridCol w="444958"/>
                <a:gridCol w="44495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smtClean="0">
                          <a:latin typeface="Book Antiqua" pitchFamily="18" charset="0"/>
                        </a:rPr>
                        <a:t>i</a:t>
                      </a:r>
                      <a:endParaRPr lang="en-US" sz="17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smtClean="0">
                          <a:latin typeface="Book Antiqua" pitchFamily="18" charset="0"/>
                        </a:rPr>
                        <a:t>key</a:t>
                      </a:r>
                      <a:endParaRPr lang="en-US" sz="17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231740" y="2240868"/>
            <a:ext cx="428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2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191070" y="3167680"/>
            <a:ext cx="428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91370" y="3176972"/>
            <a:ext cx="428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5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9" name="Oval 38"/>
          <p:cNvSpPr>
            <a:spLocks noChangeArrowheads="1"/>
          </p:cNvSpPr>
          <p:nvPr/>
        </p:nvSpPr>
        <p:spPr bwMode="auto">
          <a:xfrm>
            <a:off x="2962266" y="42428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910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6" grpId="0"/>
      <p:bldP spid="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1520" y="8620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</a:rPr>
              <a:t>Binary Heap: Properties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74068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719572" y="1232756"/>
            <a:ext cx="8316924" cy="3585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rgbClr val="4F81BD"/>
              </a:buClr>
              <a:buSzPct val="90000"/>
              <a:buFont typeface="Wingdings 3" pitchFamily="18" charset="2"/>
              <a:buChar char="}"/>
            </a:pP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 min/max</a:t>
            </a:r>
            <a:r>
              <a:rPr lang="en-US" sz="2600" dirty="0" smtClean="0">
                <a:latin typeface="Garamond" pitchFamily="18" charset="0"/>
              </a:rPr>
              <a:t> element in the </a:t>
            </a:r>
            <a:r>
              <a:rPr lang="en-US" sz="2600" dirty="0" smtClean="0">
                <a:solidFill>
                  <a:srgbClr val="FF0000"/>
                </a:solidFill>
                <a:latin typeface="Garamond" pitchFamily="18" charset="0"/>
              </a:rPr>
              <a:t>root</a:t>
            </a:r>
          </a:p>
          <a:p>
            <a:pPr>
              <a:spcBef>
                <a:spcPts val="600"/>
              </a:spcBef>
              <a:buClr>
                <a:srgbClr val="4F81BD"/>
              </a:buClr>
              <a:buSzPct val="90000"/>
              <a:buFont typeface="Wingdings 3" pitchFamily="18" charset="2"/>
              <a:buChar char="}"/>
            </a:pPr>
            <a:r>
              <a:rPr lang="en-US" sz="2600" dirty="0">
                <a:latin typeface="Garamond" pitchFamily="18" charset="0"/>
              </a:rPr>
              <a:t> </a:t>
            </a:r>
            <a:r>
              <a:rPr lang="en-US" sz="2600" dirty="0" smtClean="0">
                <a:latin typeface="Garamond" pitchFamily="18" charset="0"/>
              </a:rPr>
              <a:t>Heap with n elements has </a:t>
            </a:r>
            <a:r>
              <a:rPr lang="en-US" sz="2600" dirty="0" smtClean="0">
                <a:latin typeface="Courier New" pitchFamily="49" charset="0"/>
                <a:cs typeface="Courier New" pitchFamily="49" charset="0"/>
              </a:rPr>
              <a:t>floor(log n)</a:t>
            </a:r>
            <a:r>
              <a:rPr lang="en-US" sz="2600" dirty="0" smtClean="0">
                <a:latin typeface="Garamond" pitchFamily="18" charset="0"/>
              </a:rPr>
              <a:t> height</a:t>
            </a:r>
          </a:p>
          <a:p>
            <a:pPr>
              <a:spcBef>
                <a:spcPts val="600"/>
              </a:spcBef>
              <a:buClr>
                <a:srgbClr val="4F81BD"/>
              </a:buClr>
              <a:buSzPct val="90000"/>
              <a:buFont typeface="Wingdings 3" pitchFamily="18" charset="2"/>
              <a:buChar char="}"/>
            </a:pPr>
            <a:r>
              <a:rPr lang="en-US" sz="2600" dirty="0">
                <a:latin typeface="Garamond" pitchFamily="18" charset="0"/>
              </a:rPr>
              <a:t> </a:t>
            </a:r>
            <a:r>
              <a:rPr lang="en-US" sz="2600" dirty="0" smtClean="0">
                <a:latin typeface="Garamond" pitchFamily="18" charset="0"/>
              </a:rPr>
              <a:t>Maintain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pointer</a:t>
            </a:r>
            <a:r>
              <a:rPr lang="en-US" sz="2600" dirty="0" smtClean="0">
                <a:latin typeface="Garamond" pitchFamily="18" charset="0"/>
              </a:rPr>
              <a:t> to </a:t>
            </a:r>
            <a:r>
              <a:rPr lang="en-US" sz="2600" dirty="0" smtClean="0">
                <a:solidFill>
                  <a:srgbClr val="FF0000"/>
                </a:solidFill>
                <a:latin typeface="Garamond" pitchFamily="18" charset="0"/>
              </a:rPr>
              <a:t>root</a:t>
            </a:r>
            <a:r>
              <a:rPr lang="en-US" sz="2600" dirty="0" smtClean="0">
                <a:latin typeface="Garamond" pitchFamily="18" charset="0"/>
              </a:rPr>
              <a:t> node</a:t>
            </a:r>
          </a:p>
          <a:p>
            <a:pPr>
              <a:spcBef>
                <a:spcPts val="600"/>
              </a:spcBef>
              <a:buClr>
                <a:srgbClr val="4F81BD"/>
              </a:buClr>
              <a:buSzPct val="90000"/>
              <a:buFont typeface="Wingdings 3" pitchFamily="18" charset="2"/>
              <a:buChar char="}"/>
            </a:pPr>
            <a:r>
              <a:rPr lang="en-US" sz="2600" dirty="0">
                <a:latin typeface="Garamond" pitchFamily="18" charset="0"/>
              </a:rPr>
              <a:t> </a:t>
            </a:r>
            <a:r>
              <a:rPr lang="en-US" sz="2600" dirty="0" smtClean="0">
                <a:latin typeface="Garamond" pitchFamily="18" charset="0"/>
              </a:rPr>
              <a:t>Maintain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pointers</a:t>
            </a:r>
            <a:r>
              <a:rPr lang="en-US" sz="2600" dirty="0" smtClean="0">
                <a:latin typeface="Garamond" pitchFamily="18" charset="0"/>
              </a:rPr>
              <a:t> to </a:t>
            </a:r>
            <a:r>
              <a:rPr lang="en-US" sz="2600" dirty="0" smtClean="0">
                <a:solidFill>
                  <a:srgbClr val="FF0000"/>
                </a:solidFill>
                <a:latin typeface="Garamond" pitchFamily="18" charset="0"/>
              </a:rPr>
              <a:t>children</a:t>
            </a:r>
            <a:r>
              <a:rPr lang="en-US" sz="2600" dirty="0" smtClean="0">
                <a:latin typeface="Garamond" pitchFamily="18" charset="0"/>
              </a:rPr>
              <a:t> nodes</a:t>
            </a:r>
          </a:p>
          <a:p>
            <a:pPr>
              <a:spcBef>
                <a:spcPts val="600"/>
              </a:spcBef>
              <a:buClr>
                <a:srgbClr val="4F81BD"/>
              </a:buClr>
              <a:buSzPct val="90000"/>
              <a:buFont typeface="Wingdings 3" pitchFamily="18" charset="2"/>
              <a:buChar char="}"/>
            </a:pP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 parent(i) = floor (i/2)</a:t>
            </a:r>
          </a:p>
          <a:p>
            <a:pPr>
              <a:spcBef>
                <a:spcPts val="600"/>
              </a:spcBef>
              <a:buClr>
                <a:srgbClr val="4F81BD"/>
              </a:buClr>
              <a:buSzPct val="90000"/>
            </a:pP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  left(i) = 2i </a:t>
            </a:r>
          </a:p>
          <a:p>
            <a:pPr>
              <a:spcBef>
                <a:spcPts val="600"/>
              </a:spcBef>
              <a:buClr>
                <a:srgbClr val="4F81BD"/>
              </a:buClr>
              <a:buSzPct val="90000"/>
            </a:pPr>
            <a:r>
              <a:rPr lang="en-US" sz="22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 right(i) = 2i+1</a:t>
            </a:r>
          </a:p>
          <a:p>
            <a:pPr>
              <a:spcBef>
                <a:spcPts val="600"/>
              </a:spcBef>
              <a:buClr>
                <a:srgbClr val="4F81BD"/>
              </a:buClr>
              <a:buSzPct val="90000"/>
            </a:pPr>
            <a:endParaRPr lang="en-US" sz="2200" dirty="0" smtClean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30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1818694" y="1556792"/>
            <a:ext cx="2825314" cy="684076"/>
          </a:xfrm>
          <a:prstGeom prst="horizontalScroll">
            <a:avLst>
              <a:gd name="adj" fmla="val 12500"/>
            </a:avLst>
          </a:prstGeom>
          <a:solidFill>
            <a:srgbClr val="FFCC99"/>
          </a:solidFill>
          <a:ln w="381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1430" tIns="45715" rIns="91430" bIns="45715" anchor="ctr"/>
          <a:lstStyle/>
          <a:p>
            <a:endParaRPr 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1520" y="8620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</a:rPr>
              <a:t>Binary Heap: basic properties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74068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051720" y="1664804"/>
            <a:ext cx="576064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rgbClr val="4F81BD"/>
              </a:buClr>
              <a:buSzPct val="90000"/>
              <a:buFont typeface="Wingdings 3" pitchFamily="18" charset="2"/>
              <a:buChar char="}"/>
            </a:pPr>
            <a:r>
              <a:rPr lang="en-US" sz="2800" dirty="0" smtClean="0">
                <a:solidFill>
                  <a:srgbClr val="0000CC"/>
                </a:solidFill>
                <a:latin typeface="Garamond" pitchFamily="18" charset="0"/>
              </a:rPr>
              <a:t> Insert</a:t>
            </a:r>
            <a:endParaRPr lang="en-US" sz="2800" dirty="0" smtClean="0">
              <a:solidFill>
                <a:srgbClr val="FF0000"/>
              </a:solidFill>
              <a:latin typeface="Garamond" pitchFamily="18" charset="0"/>
            </a:endParaRPr>
          </a:p>
          <a:p>
            <a:pPr>
              <a:spcBef>
                <a:spcPts val="600"/>
              </a:spcBef>
              <a:buClr>
                <a:srgbClr val="4F81BD"/>
              </a:buClr>
              <a:buSzPct val="90000"/>
              <a:buFont typeface="Wingdings 3" pitchFamily="18" charset="2"/>
              <a:buChar char="}"/>
            </a:pPr>
            <a:r>
              <a:rPr lang="en-US" sz="2800" dirty="0">
                <a:latin typeface="Garamond" pitchFamily="18" charset="0"/>
              </a:rPr>
              <a:t> </a:t>
            </a:r>
            <a:r>
              <a:rPr lang="en-US" sz="2800" dirty="0" smtClean="0">
                <a:latin typeface="Garamond" pitchFamily="18" charset="0"/>
              </a:rPr>
              <a:t>Extract min</a:t>
            </a:r>
          </a:p>
          <a:p>
            <a:pPr>
              <a:spcBef>
                <a:spcPts val="600"/>
              </a:spcBef>
              <a:buClr>
                <a:srgbClr val="4F81BD"/>
              </a:buClr>
              <a:buSzPct val="90000"/>
              <a:buFont typeface="Wingdings 3" pitchFamily="18" charset="2"/>
              <a:buChar char="}"/>
            </a:pPr>
            <a:r>
              <a:rPr lang="en-US" sz="2800" dirty="0">
                <a:latin typeface="Garamond" pitchFamily="18" charset="0"/>
              </a:rPr>
              <a:t> </a:t>
            </a:r>
            <a:r>
              <a:rPr lang="en-US" sz="2800" dirty="0" smtClean="0">
                <a:latin typeface="Garamond" pitchFamily="18" charset="0"/>
              </a:rPr>
              <a:t>Decrease key</a:t>
            </a:r>
          </a:p>
          <a:p>
            <a:pPr>
              <a:spcBef>
                <a:spcPts val="600"/>
              </a:spcBef>
              <a:buClr>
                <a:srgbClr val="4F81BD"/>
              </a:buClr>
              <a:buSzPct val="90000"/>
              <a:buFont typeface="Wingdings 3" pitchFamily="18" charset="2"/>
              <a:buChar char="}"/>
            </a:pPr>
            <a:r>
              <a:rPr lang="en-US" sz="2800" dirty="0">
                <a:latin typeface="Garamond" pitchFamily="18" charset="0"/>
              </a:rPr>
              <a:t> </a:t>
            </a:r>
            <a:r>
              <a:rPr lang="en-US" sz="2800" dirty="0" smtClean="0">
                <a:latin typeface="Garamond" pitchFamily="18" charset="0"/>
              </a:rPr>
              <a:t>Find min</a:t>
            </a:r>
          </a:p>
          <a:p>
            <a:pPr>
              <a:spcBef>
                <a:spcPts val="600"/>
              </a:spcBef>
              <a:buClr>
                <a:srgbClr val="4F81BD"/>
              </a:buClr>
              <a:buSzPct val="90000"/>
              <a:buFont typeface="Wingdings 3" pitchFamily="18" charset="2"/>
              <a:buChar char="}"/>
            </a:pPr>
            <a:r>
              <a:rPr lang="en-US" sz="2800" dirty="0">
                <a:latin typeface="Garamond" pitchFamily="18" charset="0"/>
              </a:rPr>
              <a:t> </a:t>
            </a:r>
            <a:r>
              <a:rPr lang="en-US" sz="2800" dirty="0" smtClean="0">
                <a:latin typeface="Garamond" pitchFamily="18" charset="0"/>
              </a:rPr>
              <a:t>Delete</a:t>
            </a:r>
          </a:p>
        </p:txBody>
      </p:sp>
    </p:spTree>
    <p:extLst>
      <p:ext uri="{BB962C8B-B14F-4D97-AF65-F5344CB8AC3E}">
        <p14:creationId xmlns:p14="http://schemas.microsoft.com/office/powerpoint/2010/main" val="2651064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Connector 30"/>
          <p:cNvCxnSpPr>
            <a:stCxn id="32" idx="1"/>
          </p:cNvCxnSpPr>
          <p:nvPr/>
        </p:nvCxnSpPr>
        <p:spPr>
          <a:xfrm flipH="1" flipV="1">
            <a:off x="4028914" y="4916021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3265000" y="4905164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 flipV="1">
            <a:off x="4834884" y="3022100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2987824" y="3022100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9" idx="1"/>
          </p:cNvCxnSpPr>
          <p:nvPr/>
        </p:nvCxnSpPr>
        <p:spPr>
          <a:xfrm flipH="1" flipV="1">
            <a:off x="2913540" y="403096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1799692" y="393305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8" idx="1"/>
          </p:cNvCxnSpPr>
          <p:nvPr/>
        </p:nvCxnSpPr>
        <p:spPr>
          <a:xfrm flipH="1" flipV="1">
            <a:off x="1724658" y="4894309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1040172" y="489430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7571" y="8620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Min Heap: Insertion 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02060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4665720" y="285293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6</a:t>
            </a:r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2699792" y="38250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1555494" y="47251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871008" y="55389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2289456" y="555323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3801624" y="470343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18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40" name="Straight Connector 39"/>
          <p:cNvCxnSpPr>
            <a:stCxn id="44" idx="1"/>
          </p:cNvCxnSpPr>
          <p:nvPr/>
        </p:nvCxnSpPr>
        <p:spPr>
          <a:xfrm flipH="1" flipV="1">
            <a:off x="7090004" y="411726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5976156" y="401935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>
            <a:spLocks noChangeArrowheads="1"/>
          </p:cNvSpPr>
          <p:nvPr/>
        </p:nvSpPr>
        <p:spPr bwMode="auto">
          <a:xfrm>
            <a:off x="6876256" y="39113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8</a:t>
            </a:r>
          </a:p>
        </p:txBody>
      </p:sp>
      <p:sp>
        <p:nvSpPr>
          <p:cNvPr id="43" name="Oval 42"/>
          <p:cNvSpPr>
            <a:spLocks noChangeArrowheads="1"/>
          </p:cNvSpPr>
          <p:nvPr/>
        </p:nvSpPr>
        <p:spPr bwMode="auto">
          <a:xfrm>
            <a:off x="5731958" y="48114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4" name="Oval 43"/>
          <p:cNvSpPr>
            <a:spLocks noChangeArrowheads="1"/>
          </p:cNvSpPr>
          <p:nvPr/>
        </p:nvSpPr>
        <p:spPr bwMode="auto">
          <a:xfrm>
            <a:off x="7978088" y="478973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287524" y="944724"/>
            <a:ext cx="6624738" cy="461665"/>
            <a:chOff x="3290836" y="1158452"/>
            <a:chExt cx="4970233" cy="360331"/>
          </a:xfrm>
        </p:grpSpPr>
        <p:sp>
          <p:nvSpPr>
            <p:cNvPr id="23" name="Oval 22"/>
            <p:cNvSpPr>
              <a:spLocks noChangeArrowheads="1"/>
            </p:cNvSpPr>
            <p:nvPr/>
          </p:nvSpPr>
          <p:spPr bwMode="auto">
            <a:xfrm>
              <a:off x="3290836" y="1214655"/>
              <a:ext cx="192089" cy="199834"/>
            </a:xfrm>
            <a:prstGeom prst="ellipse">
              <a:avLst/>
            </a:prstGeom>
            <a:gradFill rotWithShape="1">
              <a:gsLst>
                <a:gs pos="0">
                  <a:srgbClr val="002060">
                    <a:alpha val="51000"/>
                  </a:srgbClr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/>
              <a:endParaRPr lang="en-US" sz="1800" b="0">
                <a:latin typeface="Book Antiqua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68879" y="1158452"/>
              <a:ext cx="4792190" cy="360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Book Antiqua" pitchFamily="18" charset="0"/>
                </a:rPr>
                <a:t> </a:t>
              </a:r>
              <a:r>
                <a:rPr lang="en-US" sz="2400" dirty="0" smtClean="0">
                  <a:solidFill>
                    <a:srgbClr val="FF0000"/>
                  </a:solidFill>
                  <a:latin typeface="Book Antiqua" pitchFamily="18" charset="0"/>
                </a:rPr>
                <a:t>Insert 7</a:t>
              </a:r>
              <a:endParaRPr lang="en-US" sz="2400" dirty="0">
                <a:latin typeface="Georgia" pitchFamily="18" charset="0"/>
              </a:endParaRPr>
            </a:p>
          </p:txBody>
        </p:sp>
      </p:grp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755576" y="1448779"/>
            <a:ext cx="8316924" cy="1000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chemeClr val="accent1"/>
              </a:buClr>
              <a:buSzPct val="90000"/>
              <a:buFont typeface="Wingdings 3" pitchFamily="18" charset="2"/>
              <a:buChar char="}"/>
            </a:pPr>
            <a:r>
              <a:rPr lang="en-US" sz="2600" dirty="0" smtClean="0">
                <a:solidFill>
                  <a:srgbClr val="000099"/>
                </a:solidFill>
                <a:latin typeface="Garamond" pitchFamily="18" charset="0"/>
              </a:rPr>
              <a:t>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Add</a:t>
            </a:r>
            <a:r>
              <a:rPr lang="en-US" sz="2600" dirty="0" smtClean="0">
                <a:latin typeface="Garamond" pitchFamily="18" charset="0"/>
              </a:rPr>
              <a:t> the new element at the </a:t>
            </a:r>
            <a:r>
              <a:rPr lang="en-US" sz="2600" dirty="0" smtClean="0">
                <a:solidFill>
                  <a:srgbClr val="FF0000"/>
                </a:solidFill>
                <a:latin typeface="Garamond" pitchFamily="18" charset="0"/>
              </a:rPr>
              <a:t>end</a:t>
            </a:r>
          </a:p>
          <a:p>
            <a:pPr>
              <a:spcBef>
                <a:spcPts val="600"/>
              </a:spcBef>
              <a:buClr>
                <a:schemeClr val="accent1"/>
              </a:buClr>
              <a:buSzPct val="90000"/>
              <a:buFont typeface="Wingdings 3" pitchFamily="18" charset="2"/>
              <a:buChar char="}"/>
            </a:pPr>
            <a:r>
              <a:rPr lang="en-US" sz="2600" dirty="0">
                <a:latin typeface="Garamond" pitchFamily="18" charset="0"/>
              </a:rPr>
              <a:t>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Bubble up</a:t>
            </a:r>
            <a:r>
              <a:rPr lang="en-US" sz="2600" dirty="0" smtClean="0">
                <a:latin typeface="Garamond" pitchFamily="18" charset="0"/>
              </a:rPr>
              <a:t> </a:t>
            </a:r>
            <a:r>
              <a:rPr lang="en-US" sz="2600" dirty="0" smtClean="0">
                <a:solidFill>
                  <a:srgbClr val="FF0000"/>
                </a:solidFill>
                <a:latin typeface="Garamond" pitchFamily="18" charset="0"/>
              </a:rPr>
              <a:t>until</a:t>
            </a:r>
            <a:r>
              <a:rPr lang="en-US" sz="2600" dirty="0" smtClean="0">
                <a:latin typeface="Garamond" pitchFamily="18" charset="0"/>
              </a:rPr>
              <a:t> the heap is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ordered</a:t>
            </a:r>
            <a:endParaRPr lang="en-US" sz="2800" dirty="0" smtClean="0">
              <a:solidFill>
                <a:srgbClr val="0000CC"/>
              </a:solidFill>
              <a:latin typeface="Garamond" pitchFamily="18" charset="0"/>
            </a:endParaRPr>
          </a:p>
        </p:txBody>
      </p:sp>
      <p:sp>
        <p:nvSpPr>
          <p:cNvPr id="30" name="Oval 29"/>
          <p:cNvSpPr>
            <a:spLocks noChangeArrowheads="1"/>
          </p:cNvSpPr>
          <p:nvPr/>
        </p:nvSpPr>
        <p:spPr bwMode="auto">
          <a:xfrm>
            <a:off x="3095836" y="5549799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2" name="Oval 31"/>
          <p:cNvSpPr>
            <a:spLocks noChangeArrowheads="1"/>
          </p:cNvSpPr>
          <p:nvPr/>
        </p:nvSpPr>
        <p:spPr bwMode="auto">
          <a:xfrm>
            <a:off x="4593712" y="5574948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grpSp>
        <p:nvGrpSpPr>
          <p:cNvPr id="34" name="Group 16"/>
          <p:cNvGrpSpPr>
            <a:grpSpLocks/>
          </p:cNvGrpSpPr>
          <p:nvPr/>
        </p:nvGrpSpPr>
        <p:grpSpPr bwMode="auto">
          <a:xfrm>
            <a:off x="6192180" y="5388525"/>
            <a:ext cx="2171299" cy="920795"/>
            <a:chOff x="2621" y="2143"/>
            <a:chExt cx="1686" cy="782"/>
          </a:xfrm>
        </p:grpSpPr>
        <p:sp>
          <p:nvSpPr>
            <p:cNvPr id="35" name="AutoShape 9"/>
            <p:cNvSpPr>
              <a:spLocks noChangeArrowheads="1"/>
            </p:cNvSpPr>
            <p:nvPr/>
          </p:nvSpPr>
          <p:spPr bwMode="auto">
            <a:xfrm>
              <a:off x="2621" y="2143"/>
              <a:ext cx="1686" cy="782"/>
            </a:xfrm>
            <a:prstGeom prst="wedgeEllipseCallout">
              <a:avLst>
                <a:gd name="adj1" fmla="val -125535"/>
                <a:gd name="adj2" fmla="val -57833"/>
              </a:avLst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lIns="82479" tIns="41239" rIns="82479" bIns="41239"/>
            <a:lstStyle/>
            <a:p>
              <a:pPr algn="ctr" defTabSz="825500"/>
              <a:endParaRPr kumimoji="1" lang="en-US" sz="1600">
                <a:ea typeface="ＭＳ Ｐゴシック" pitchFamily="34" charset="-128"/>
              </a:endParaRPr>
            </a:p>
          </p:txBody>
        </p:sp>
        <p:sp>
          <p:nvSpPr>
            <p:cNvPr id="36" name="Text Box 10"/>
            <p:cNvSpPr txBox="1">
              <a:spLocks noChangeArrowheads="1"/>
            </p:cNvSpPr>
            <p:nvPr/>
          </p:nvSpPr>
          <p:spPr bwMode="auto">
            <a:xfrm>
              <a:off x="2697" y="2256"/>
              <a:ext cx="1546" cy="6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2479" tIns="41239" rIns="82479" bIns="41239">
              <a:spAutoFit/>
            </a:bodyPr>
            <a:lstStyle/>
            <a:p>
              <a:pPr algn="ctr" defTabSz="825500">
                <a:spcBef>
                  <a:spcPct val="50000"/>
                </a:spcBef>
              </a:pPr>
              <a:r>
                <a:rPr kumimoji="1" lang="en-US" altLang="ja-JP" dirty="0" smtClean="0">
                  <a:solidFill>
                    <a:schemeClr val="bg1"/>
                  </a:solidFill>
                  <a:latin typeface="Book Antiqua" pitchFamily="18" charset="0"/>
                </a:rPr>
                <a:t>Heap order</a:t>
              </a:r>
            </a:p>
            <a:p>
              <a:pPr algn="ctr" defTabSz="825500">
                <a:spcBef>
                  <a:spcPct val="50000"/>
                </a:spcBef>
              </a:pPr>
              <a:r>
                <a:rPr kumimoji="1" lang="en-US" altLang="ja-JP" dirty="0" smtClean="0">
                  <a:solidFill>
                    <a:schemeClr val="bg1"/>
                  </a:solidFill>
                  <a:latin typeface="Book Antiqua" pitchFamily="18" charset="0"/>
                </a:rPr>
                <a:t>violated</a:t>
              </a:r>
              <a:endParaRPr kumimoji="1" lang="en-US" altLang="ja-JP" dirty="0">
                <a:solidFill>
                  <a:schemeClr val="bg1"/>
                </a:solidFill>
                <a:latin typeface="Book Antiqua" pitchFamily="18" charset="0"/>
              </a:endParaRPr>
            </a:p>
          </p:txBody>
        </p:sp>
      </p:grpSp>
      <p:grpSp>
        <p:nvGrpSpPr>
          <p:cNvPr id="37" name="Group 16"/>
          <p:cNvGrpSpPr>
            <a:grpSpLocks/>
          </p:cNvGrpSpPr>
          <p:nvPr/>
        </p:nvGrpSpPr>
        <p:grpSpPr bwMode="auto">
          <a:xfrm>
            <a:off x="6048164" y="5400300"/>
            <a:ext cx="1883064" cy="692996"/>
            <a:chOff x="2621" y="1787"/>
            <a:chExt cx="1686" cy="782"/>
          </a:xfrm>
        </p:grpSpPr>
        <p:sp>
          <p:nvSpPr>
            <p:cNvPr id="38" name="AutoShape 9"/>
            <p:cNvSpPr>
              <a:spLocks noChangeArrowheads="1"/>
            </p:cNvSpPr>
            <p:nvPr/>
          </p:nvSpPr>
          <p:spPr bwMode="auto">
            <a:xfrm>
              <a:off x="2621" y="1787"/>
              <a:ext cx="1686" cy="782"/>
            </a:xfrm>
            <a:prstGeom prst="wedgeEllipseCallout">
              <a:avLst>
                <a:gd name="adj1" fmla="val -125535"/>
                <a:gd name="adj2" fmla="val -57833"/>
              </a:avLst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lIns="82479" tIns="41239" rIns="82479" bIns="41239"/>
            <a:lstStyle/>
            <a:p>
              <a:pPr algn="ctr" defTabSz="825500"/>
              <a:endParaRPr kumimoji="1" lang="en-US" sz="1600">
                <a:ea typeface="ＭＳ Ｐゴシック" pitchFamily="34" charset="-128"/>
              </a:endParaRPr>
            </a:p>
          </p:txBody>
        </p:sp>
        <p:sp>
          <p:nvSpPr>
            <p:cNvPr id="39" name="Text Box 10"/>
            <p:cNvSpPr txBox="1">
              <a:spLocks noChangeArrowheads="1"/>
            </p:cNvSpPr>
            <p:nvPr/>
          </p:nvSpPr>
          <p:spPr bwMode="auto">
            <a:xfrm>
              <a:off x="2697" y="2019"/>
              <a:ext cx="1546" cy="3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2479" tIns="41239" rIns="82479" bIns="41239">
              <a:spAutoFit/>
            </a:bodyPr>
            <a:lstStyle/>
            <a:p>
              <a:pPr algn="ctr" defTabSz="825500">
                <a:spcBef>
                  <a:spcPct val="50000"/>
                </a:spcBef>
              </a:pPr>
              <a:r>
                <a:rPr kumimoji="1" lang="en-US" altLang="ja-JP" dirty="0" smtClean="0">
                  <a:solidFill>
                    <a:schemeClr val="bg1"/>
                  </a:solidFill>
                  <a:latin typeface="Book Antiqua" pitchFamily="18" charset="0"/>
                </a:rPr>
                <a:t>Bubble-up</a:t>
              </a:r>
              <a:endParaRPr kumimoji="1" lang="en-US" altLang="ja-JP" dirty="0">
                <a:solidFill>
                  <a:schemeClr val="bg1"/>
                </a:solidFill>
                <a:latin typeface="Book Antiqua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7745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Connector 30"/>
          <p:cNvCxnSpPr>
            <a:stCxn id="32" idx="1"/>
          </p:cNvCxnSpPr>
          <p:nvPr/>
        </p:nvCxnSpPr>
        <p:spPr>
          <a:xfrm flipH="1" flipV="1">
            <a:off x="4028914" y="4916021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3265000" y="4905164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 flipV="1">
            <a:off x="4834884" y="3022100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2987824" y="3022100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9" idx="1"/>
          </p:cNvCxnSpPr>
          <p:nvPr/>
        </p:nvCxnSpPr>
        <p:spPr>
          <a:xfrm flipH="1" flipV="1">
            <a:off x="2913540" y="403096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1799692" y="393305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8" idx="1"/>
          </p:cNvCxnSpPr>
          <p:nvPr/>
        </p:nvCxnSpPr>
        <p:spPr>
          <a:xfrm flipH="1" flipV="1">
            <a:off x="1724658" y="4894309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1040172" y="489430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7571" y="8620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Min Heap: Insertion 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02060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4665720" y="285293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6</a:t>
            </a:r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2699792" y="38250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1555494" y="47251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871008" y="55389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2289456" y="555323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3801624" y="470343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18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40" name="Straight Connector 39"/>
          <p:cNvCxnSpPr>
            <a:stCxn id="44" idx="1"/>
          </p:cNvCxnSpPr>
          <p:nvPr/>
        </p:nvCxnSpPr>
        <p:spPr>
          <a:xfrm flipH="1" flipV="1">
            <a:off x="7090004" y="411726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5976156" y="401935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>
            <a:spLocks noChangeArrowheads="1"/>
          </p:cNvSpPr>
          <p:nvPr/>
        </p:nvSpPr>
        <p:spPr bwMode="auto">
          <a:xfrm>
            <a:off x="6876256" y="39113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8</a:t>
            </a:r>
          </a:p>
        </p:txBody>
      </p:sp>
      <p:sp>
        <p:nvSpPr>
          <p:cNvPr id="43" name="Oval 42"/>
          <p:cNvSpPr>
            <a:spLocks noChangeArrowheads="1"/>
          </p:cNvSpPr>
          <p:nvPr/>
        </p:nvSpPr>
        <p:spPr bwMode="auto">
          <a:xfrm>
            <a:off x="5731958" y="48114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4" name="Oval 43"/>
          <p:cNvSpPr>
            <a:spLocks noChangeArrowheads="1"/>
          </p:cNvSpPr>
          <p:nvPr/>
        </p:nvSpPr>
        <p:spPr bwMode="auto">
          <a:xfrm>
            <a:off x="7978088" y="478973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287524" y="944724"/>
            <a:ext cx="6624738" cy="461665"/>
            <a:chOff x="3290836" y="1158452"/>
            <a:chExt cx="4970233" cy="360331"/>
          </a:xfrm>
        </p:grpSpPr>
        <p:sp>
          <p:nvSpPr>
            <p:cNvPr id="23" name="Oval 22"/>
            <p:cNvSpPr>
              <a:spLocks noChangeArrowheads="1"/>
            </p:cNvSpPr>
            <p:nvPr/>
          </p:nvSpPr>
          <p:spPr bwMode="auto">
            <a:xfrm>
              <a:off x="3290836" y="1214655"/>
              <a:ext cx="192089" cy="199834"/>
            </a:xfrm>
            <a:prstGeom prst="ellipse">
              <a:avLst/>
            </a:prstGeom>
            <a:gradFill rotWithShape="1">
              <a:gsLst>
                <a:gs pos="0">
                  <a:srgbClr val="002060">
                    <a:alpha val="51000"/>
                  </a:srgbClr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/>
              <a:endParaRPr lang="en-US" sz="1800" b="0">
                <a:latin typeface="Book Antiqua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68879" y="1158452"/>
              <a:ext cx="4792190" cy="360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Book Antiqua" pitchFamily="18" charset="0"/>
                </a:rPr>
                <a:t> </a:t>
              </a:r>
              <a:r>
                <a:rPr lang="en-US" sz="2400" dirty="0" smtClean="0">
                  <a:solidFill>
                    <a:srgbClr val="FF0000"/>
                  </a:solidFill>
                  <a:latin typeface="Book Antiqua" pitchFamily="18" charset="0"/>
                </a:rPr>
                <a:t>Insert 7</a:t>
              </a:r>
              <a:endParaRPr lang="en-US" sz="2400" dirty="0">
                <a:latin typeface="Georgia" pitchFamily="18" charset="0"/>
              </a:endParaRPr>
            </a:p>
          </p:txBody>
        </p:sp>
      </p:grp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755576" y="1448779"/>
            <a:ext cx="8316924" cy="1000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chemeClr val="accent1"/>
              </a:buClr>
              <a:buSzPct val="90000"/>
              <a:buFont typeface="Wingdings 3" pitchFamily="18" charset="2"/>
              <a:buChar char="}"/>
            </a:pPr>
            <a:r>
              <a:rPr lang="en-US" sz="2600" dirty="0" smtClean="0">
                <a:solidFill>
                  <a:srgbClr val="000099"/>
                </a:solidFill>
                <a:latin typeface="Garamond" pitchFamily="18" charset="0"/>
              </a:rPr>
              <a:t>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Add</a:t>
            </a:r>
            <a:r>
              <a:rPr lang="en-US" sz="2600" dirty="0" smtClean="0">
                <a:latin typeface="Garamond" pitchFamily="18" charset="0"/>
              </a:rPr>
              <a:t> the new element at the </a:t>
            </a:r>
            <a:r>
              <a:rPr lang="en-US" sz="2600" dirty="0" smtClean="0">
                <a:solidFill>
                  <a:srgbClr val="FF0000"/>
                </a:solidFill>
                <a:latin typeface="Garamond" pitchFamily="18" charset="0"/>
              </a:rPr>
              <a:t>end</a:t>
            </a:r>
          </a:p>
          <a:p>
            <a:pPr>
              <a:spcBef>
                <a:spcPts val="600"/>
              </a:spcBef>
              <a:buClr>
                <a:schemeClr val="accent1"/>
              </a:buClr>
              <a:buSzPct val="90000"/>
              <a:buFont typeface="Wingdings 3" pitchFamily="18" charset="2"/>
              <a:buChar char="}"/>
            </a:pPr>
            <a:r>
              <a:rPr lang="en-US" sz="2600" dirty="0">
                <a:latin typeface="Garamond" pitchFamily="18" charset="0"/>
              </a:rPr>
              <a:t>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Bubble up</a:t>
            </a:r>
            <a:r>
              <a:rPr lang="en-US" sz="2600" dirty="0" smtClean="0">
                <a:latin typeface="Garamond" pitchFamily="18" charset="0"/>
              </a:rPr>
              <a:t> </a:t>
            </a:r>
            <a:r>
              <a:rPr lang="en-US" sz="2600" dirty="0" smtClean="0">
                <a:solidFill>
                  <a:srgbClr val="FF0000"/>
                </a:solidFill>
                <a:latin typeface="Garamond" pitchFamily="18" charset="0"/>
              </a:rPr>
              <a:t>until</a:t>
            </a:r>
            <a:r>
              <a:rPr lang="en-US" sz="2600" dirty="0" smtClean="0">
                <a:latin typeface="Garamond" pitchFamily="18" charset="0"/>
              </a:rPr>
              <a:t> the heap is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ordered</a:t>
            </a:r>
            <a:endParaRPr lang="en-US" sz="2800" dirty="0" smtClean="0">
              <a:solidFill>
                <a:srgbClr val="0000CC"/>
              </a:solidFill>
              <a:latin typeface="Garamond" pitchFamily="18" charset="0"/>
            </a:endParaRPr>
          </a:p>
        </p:txBody>
      </p:sp>
      <p:sp>
        <p:nvSpPr>
          <p:cNvPr id="30" name="Oval 29"/>
          <p:cNvSpPr>
            <a:spLocks noChangeArrowheads="1"/>
          </p:cNvSpPr>
          <p:nvPr/>
        </p:nvSpPr>
        <p:spPr bwMode="auto">
          <a:xfrm>
            <a:off x="3095836" y="5549799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2" name="Oval 31"/>
          <p:cNvSpPr>
            <a:spLocks noChangeArrowheads="1"/>
          </p:cNvSpPr>
          <p:nvPr/>
        </p:nvSpPr>
        <p:spPr bwMode="auto">
          <a:xfrm>
            <a:off x="4593712" y="5574948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grpSp>
        <p:nvGrpSpPr>
          <p:cNvPr id="34" name="Group 16"/>
          <p:cNvGrpSpPr>
            <a:grpSpLocks/>
          </p:cNvGrpSpPr>
          <p:nvPr/>
        </p:nvGrpSpPr>
        <p:grpSpPr bwMode="auto">
          <a:xfrm>
            <a:off x="6192180" y="5388525"/>
            <a:ext cx="2171299" cy="920795"/>
            <a:chOff x="2621" y="2143"/>
            <a:chExt cx="1686" cy="782"/>
          </a:xfrm>
        </p:grpSpPr>
        <p:sp>
          <p:nvSpPr>
            <p:cNvPr id="35" name="AutoShape 9"/>
            <p:cNvSpPr>
              <a:spLocks noChangeArrowheads="1"/>
            </p:cNvSpPr>
            <p:nvPr/>
          </p:nvSpPr>
          <p:spPr bwMode="auto">
            <a:xfrm>
              <a:off x="2621" y="2143"/>
              <a:ext cx="1686" cy="782"/>
            </a:xfrm>
            <a:prstGeom prst="wedgeEllipseCallout">
              <a:avLst>
                <a:gd name="adj1" fmla="val -125535"/>
                <a:gd name="adj2" fmla="val -57833"/>
              </a:avLst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lIns="82479" tIns="41239" rIns="82479" bIns="41239"/>
            <a:lstStyle/>
            <a:p>
              <a:pPr algn="ctr" defTabSz="825500"/>
              <a:endParaRPr kumimoji="1" lang="en-US" sz="1600">
                <a:ea typeface="ＭＳ Ｐゴシック" pitchFamily="34" charset="-128"/>
              </a:endParaRPr>
            </a:p>
          </p:txBody>
        </p:sp>
        <p:sp>
          <p:nvSpPr>
            <p:cNvPr id="36" name="Text Box 10"/>
            <p:cNvSpPr txBox="1">
              <a:spLocks noChangeArrowheads="1"/>
            </p:cNvSpPr>
            <p:nvPr/>
          </p:nvSpPr>
          <p:spPr bwMode="auto">
            <a:xfrm>
              <a:off x="2697" y="2256"/>
              <a:ext cx="1546" cy="6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2479" tIns="41239" rIns="82479" bIns="41239">
              <a:spAutoFit/>
            </a:bodyPr>
            <a:lstStyle/>
            <a:p>
              <a:pPr algn="ctr" defTabSz="825500">
                <a:spcBef>
                  <a:spcPct val="50000"/>
                </a:spcBef>
              </a:pPr>
              <a:r>
                <a:rPr kumimoji="1" lang="en-US" altLang="ja-JP" dirty="0" smtClean="0">
                  <a:solidFill>
                    <a:schemeClr val="bg1"/>
                  </a:solidFill>
                  <a:latin typeface="Book Antiqua" pitchFamily="18" charset="0"/>
                </a:rPr>
                <a:t>Heap order</a:t>
              </a:r>
            </a:p>
            <a:p>
              <a:pPr algn="ctr" defTabSz="825500">
                <a:spcBef>
                  <a:spcPct val="50000"/>
                </a:spcBef>
              </a:pPr>
              <a:r>
                <a:rPr kumimoji="1" lang="en-US" altLang="ja-JP" dirty="0" smtClean="0">
                  <a:solidFill>
                    <a:schemeClr val="bg1"/>
                  </a:solidFill>
                  <a:latin typeface="Book Antiqua" pitchFamily="18" charset="0"/>
                </a:rPr>
                <a:t>violated</a:t>
              </a:r>
              <a:endParaRPr kumimoji="1" lang="en-US" altLang="ja-JP" dirty="0">
                <a:solidFill>
                  <a:schemeClr val="bg1"/>
                </a:solidFill>
                <a:latin typeface="Book Antiqua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4487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Connector 30"/>
          <p:cNvCxnSpPr>
            <a:stCxn id="32" idx="1"/>
          </p:cNvCxnSpPr>
          <p:nvPr/>
        </p:nvCxnSpPr>
        <p:spPr>
          <a:xfrm flipH="1" flipV="1">
            <a:off x="4028914" y="4916021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3265000" y="4905164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 flipV="1">
            <a:off x="4834884" y="3022100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2987824" y="3022100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9" idx="1"/>
          </p:cNvCxnSpPr>
          <p:nvPr/>
        </p:nvCxnSpPr>
        <p:spPr>
          <a:xfrm flipH="1" flipV="1">
            <a:off x="2913540" y="403096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1799692" y="393305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8" idx="1"/>
          </p:cNvCxnSpPr>
          <p:nvPr/>
        </p:nvCxnSpPr>
        <p:spPr>
          <a:xfrm flipH="1" flipV="1">
            <a:off x="1724658" y="4894309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1040172" y="489430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7571" y="8620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Min Heap: Insertion 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02060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4665720" y="285293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6</a:t>
            </a:r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2699792" y="38250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1555494" y="47251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871008" y="55389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2289456" y="555323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3801624" y="470343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18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40" name="Straight Connector 39"/>
          <p:cNvCxnSpPr>
            <a:stCxn id="44" idx="1"/>
          </p:cNvCxnSpPr>
          <p:nvPr/>
        </p:nvCxnSpPr>
        <p:spPr>
          <a:xfrm flipH="1" flipV="1">
            <a:off x="7090004" y="411726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5976156" y="401935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>
            <a:spLocks noChangeArrowheads="1"/>
          </p:cNvSpPr>
          <p:nvPr/>
        </p:nvSpPr>
        <p:spPr bwMode="auto">
          <a:xfrm>
            <a:off x="6876256" y="39113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8</a:t>
            </a:r>
          </a:p>
        </p:txBody>
      </p:sp>
      <p:sp>
        <p:nvSpPr>
          <p:cNvPr id="43" name="Oval 42"/>
          <p:cNvSpPr>
            <a:spLocks noChangeArrowheads="1"/>
          </p:cNvSpPr>
          <p:nvPr/>
        </p:nvSpPr>
        <p:spPr bwMode="auto">
          <a:xfrm>
            <a:off x="5731958" y="48114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4" name="Oval 43"/>
          <p:cNvSpPr>
            <a:spLocks noChangeArrowheads="1"/>
          </p:cNvSpPr>
          <p:nvPr/>
        </p:nvSpPr>
        <p:spPr bwMode="auto">
          <a:xfrm>
            <a:off x="7978088" y="478973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287524" y="944724"/>
            <a:ext cx="6624738" cy="461665"/>
            <a:chOff x="3290836" y="1158452"/>
            <a:chExt cx="4970233" cy="360331"/>
          </a:xfrm>
        </p:grpSpPr>
        <p:sp>
          <p:nvSpPr>
            <p:cNvPr id="23" name="Oval 22"/>
            <p:cNvSpPr>
              <a:spLocks noChangeArrowheads="1"/>
            </p:cNvSpPr>
            <p:nvPr/>
          </p:nvSpPr>
          <p:spPr bwMode="auto">
            <a:xfrm>
              <a:off x="3290836" y="1214655"/>
              <a:ext cx="192089" cy="199834"/>
            </a:xfrm>
            <a:prstGeom prst="ellipse">
              <a:avLst/>
            </a:prstGeom>
            <a:gradFill rotWithShape="1">
              <a:gsLst>
                <a:gs pos="0">
                  <a:srgbClr val="002060">
                    <a:alpha val="51000"/>
                  </a:srgbClr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/>
              <a:endParaRPr lang="en-US" sz="1800" b="0">
                <a:latin typeface="Book Antiqua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68879" y="1158452"/>
              <a:ext cx="4792190" cy="360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Book Antiqua" pitchFamily="18" charset="0"/>
                </a:rPr>
                <a:t> </a:t>
              </a:r>
              <a:r>
                <a:rPr lang="en-US" sz="2400" dirty="0" smtClean="0">
                  <a:solidFill>
                    <a:srgbClr val="FF0000"/>
                  </a:solidFill>
                  <a:latin typeface="Book Antiqua" pitchFamily="18" charset="0"/>
                </a:rPr>
                <a:t>Insert 7</a:t>
              </a:r>
              <a:endParaRPr lang="en-US" sz="2400" dirty="0">
                <a:latin typeface="Georgia" pitchFamily="18" charset="0"/>
              </a:endParaRPr>
            </a:p>
          </p:txBody>
        </p:sp>
      </p:grp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755576" y="1448779"/>
            <a:ext cx="8316924" cy="1000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chemeClr val="accent1"/>
              </a:buClr>
              <a:buSzPct val="90000"/>
              <a:buFont typeface="Wingdings 3" pitchFamily="18" charset="2"/>
              <a:buChar char="}"/>
            </a:pPr>
            <a:r>
              <a:rPr lang="en-US" sz="2600" dirty="0" smtClean="0">
                <a:solidFill>
                  <a:srgbClr val="000099"/>
                </a:solidFill>
                <a:latin typeface="Garamond" pitchFamily="18" charset="0"/>
              </a:rPr>
              <a:t>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Add</a:t>
            </a:r>
            <a:r>
              <a:rPr lang="en-US" sz="2600" dirty="0" smtClean="0">
                <a:latin typeface="Garamond" pitchFamily="18" charset="0"/>
              </a:rPr>
              <a:t> the new element at the </a:t>
            </a:r>
            <a:r>
              <a:rPr lang="en-US" sz="2600" dirty="0" smtClean="0">
                <a:solidFill>
                  <a:srgbClr val="FF0000"/>
                </a:solidFill>
                <a:latin typeface="Garamond" pitchFamily="18" charset="0"/>
              </a:rPr>
              <a:t>end</a:t>
            </a:r>
          </a:p>
          <a:p>
            <a:pPr>
              <a:spcBef>
                <a:spcPts val="600"/>
              </a:spcBef>
              <a:buClr>
                <a:schemeClr val="accent1"/>
              </a:buClr>
              <a:buSzPct val="90000"/>
              <a:buFont typeface="Wingdings 3" pitchFamily="18" charset="2"/>
              <a:buChar char="}"/>
            </a:pPr>
            <a:r>
              <a:rPr lang="en-US" sz="2600" dirty="0">
                <a:latin typeface="Garamond" pitchFamily="18" charset="0"/>
              </a:rPr>
              <a:t>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Bubble up</a:t>
            </a:r>
            <a:r>
              <a:rPr lang="en-US" sz="2600" dirty="0" smtClean="0">
                <a:latin typeface="Garamond" pitchFamily="18" charset="0"/>
              </a:rPr>
              <a:t> </a:t>
            </a:r>
            <a:r>
              <a:rPr lang="en-US" sz="2600" dirty="0" smtClean="0">
                <a:solidFill>
                  <a:srgbClr val="FF0000"/>
                </a:solidFill>
                <a:latin typeface="Garamond" pitchFamily="18" charset="0"/>
              </a:rPr>
              <a:t>until</a:t>
            </a:r>
            <a:r>
              <a:rPr lang="en-US" sz="2600" dirty="0" smtClean="0">
                <a:latin typeface="Garamond" pitchFamily="18" charset="0"/>
              </a:rPr>
              <a:t> the heap is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ordered</a:t>
            </a:r>
            <a:endParaRPr lang="en-US" sz="2800" dirty="0" smtClean="0">
              <a:solidFill>
                <a:srgbClr val="0000CC"/>
              </a:solidFill>
              <a:latin typeface="Garamond" pitchFamily="18" charset="0"/>
            </a:endParaRPr>
          </a:p>
        </p:txBody>
      </p:sp>
      <p:sp>
        <p:nvSpPr>
          <p:cNvPr id="30" name="Oval 29"/>
          <p:cNvSpPr>
            <a:spLocks noChangeArrowheads="1"/>
          </p:cNvSpPr>
          <p:nvPr/>
        </p:nvSpPr>
        <p:spPr bwMode="auto">
          <a:xfrm>
            <a:off x="3095836" y="5549799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2" name="Oval 31"/>
          <p:cNvSpPr>
            <a:spLocks noChangeArrowheads="1"/>
          </p:cNvSpPr>
          <p:nvPr/>
        </p:nvSpPr>
        <p:spPr bwMode="auto">
          <a:xfrm>
            <a:off x="4593712" y="5574948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7" name="Freeform 6"/>
          <p:cNvSpPr/>
          <p:nvPr/>
        </p:nvSpPr>
        <p:spPr>
          <a:xfrm rot="2888270">
            <a:off x="4214335" y="4885056"/>
            <a:ext cx="917541" cy="348466"/>
          </a:xfrm>
          <a:custGeom>
            <a:avLst/>
            <a:gdLst>
              <a:gd name="connsiteX0" fmla="*/ 0 w 1109472"/>
              <a:gd name="connsiteY0" fmla="*/ 329202 h 341394"/>
              <a:gd name="connsiteX1" fmla="*/ 560832 w 1109472"/>
              <a:gd name="connsiteY1" fmla="*/ 18 h 341394"/>
              <a:gd name="connsiteX2" fmla="*/ 1109472 w 1109472"/>
              <a:gd name="connsiteY2" fmla="*/ 341394 h 34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9472" h="341394">
                <a:moveTo>
                  <a:pt x="0" y="329202"/>
                </a:moveTo>
                <a:cubicBezTo>
                  <a:pt x="187960" y="163594"/>
                  <a:pt x="375920" y="-2014"/>
                  <a:pt x="560832" y="18"/>
                </a:cubicBezTo>
                <a:cubicBezTo>
                  <a:pt x="745744" y="2050"/>
                  <a:pt x="927608" y="171722"/>
                  <a:pt x="1109472" y="341394"/>
                </a:cubicBezTo>
              </a:path>
            </a:pathLst>
          </a:custGeom>
          <a:ln w="3810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267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74561E-6 L -0.08784 -0.1274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92" y="-638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22 -0.00046 L 0.08819 0.1251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62" y="62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Connector 30"/>
          <p:cNvCxnSpPr>
            <a:stCxn id="32" idx="1"/>
          </p:cNvCxnSpPr>
          <p:nvPr/>
        </p:nvCxnSpPr>
        <p:spPr>
          <a:xfrm flipH="1" flipV="1">
            <a:off x="4028914" y="4916021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3265000" y="4905164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 flipV="1">
            <a:off x="4834884" y="3022100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2987824" y="3022100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9" idx="1"/>
          </p:cNvCxnSpPr>
          <p:nvPr/>
        </p:nvCxnSpPr>
        <p:spPr>
          <a:xfrm flipH="1" flipV="1">
            <a:off x="2913540" y="403096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1799692" y="393305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8" idx="1"/>
          </p:cNvCxnSpPr>
          <p:nvPr/>
        </p:nvCxnSpPr>
        <p:spPr>
          <a:xfrm flipH="1" flipV="1">
            <a:off x="1724658" y="4894309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1040172" y="489430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7571" y="8620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Min Heap: Insertion 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02060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4665720" y="285293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6</a:t>
            </a:r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2699792" y="38250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1555494" y="47251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871008" y="55389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2289456" y="555323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3801624" y="470343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7</a:t>
            </a:r>
          </a:p>
        </p:txBody>
      </p:sp>
      <p:cxnSp>
        <p:nvCxnSpPr>
          <p:cNvPr id="40" name="Straight Connector 39"/>
          <p:cNvCxnSpPr>
            <a:stCxn id="44" idx="1"/>
          </p:cNvCxnSpPr>
          <p:nvPr/>
        </p:nvCxnSpPr>
        <p:spPr>
          <a:xfrm flipH="1" flipV="1">
            <a:off x="7090004" y="411726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5976156" y="401935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>
            <a:spLocks noChangeArrowheads="1"/>
          </p:cNvSpPr>
          <p:nvPr/>
        </p:nvSpPr>
        <p:spPr bwMode="auto">
          <a:xfrm>
            <a:off x="6876256" y="39113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8</a:t>
            </a:r>
          </a:p>
        </p:txBody>
      </p:sp>
      <p:sp>
        <p:nvSpPr>
          <p:cNvPr id="43" name="Oval 42"/>
          <p:cNvSpPr>
            <a:spLocks noChangeArrowheads="1"/>
          </p:cNvSpPr>
          <p:nvPr/>
        </p:nvSpPr>
        <p:spPr bwMode="auto">
          <a:xfrm>
            <a:off x="5731958" y="48114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4" name="Oval 43"/>
          <p:cNvSpPr>
            <a:spLocks noChangeArrowheads="1"/>
          </p:cNvSpPr>
          <p:nvPr/>
        </p:nvSpPr>
        <p:spPr bwMode="auto">
          <a:xfrm>
            <a:off x="7978088" y="478973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287524" y="944724"/>
            <a:ext cx="6624738" cy="461665"/>
            <a:chOff x="3290836" y="1158452"/>
            <a:chExt cx="4970233" cy="360331"/>
          </a:xfrm>
        </p:grpSpPr>
        <p:sp>
          <p:nvSpPr>
            <p:cNvPr id="23" name="Oval 22"/>
            <p:cNvSpPr>
              <a:spLocks noChangeArrowheads="1"/>
            </p:cNvSpPr>
            <p:nvPr/>
          </p:nvSpPr>
          <p:spPr bwMode="auto">
            <a:xfrm>
              <a:off x="3290836" y="1214655"/>
              <a:ext cx="192089" cy="199834"/>
            </a:xfrm>
            <a:prstGeom prst="ellipse">
              <a:avLst/>
            </a:prstGeom>
            <a:gradFill rotWithShape="1">
              <a:gsLst>
                <a:gs pos="0">
                  <a:srgbClr val="002060">
                    <a:alpha val="51000"/>
                  </a:srgbClr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/>
              <a:endParaRPr lang="en-US" sz="1800" b="0">
                <a:latin typeface="Book Antiqua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68879" y="1158452"/>
              <a:ext cx="4792190" cy="360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Book Antiqua" pitchFamily="18" charset="0"/>
                </a:rPr>
                <a:t> </a:t>
              </a:r>
              <a:r>
                <a:rPr lang="en-US" sz="2400" dirty="0" smtClean="0">
                  <a:solidFill>
                    <a:srgbClr val="FF0000"/>
                  </a:solidFill>
                  <a:latin typeface="Book Antiqua" pitchFamily="18" charset="0"/>
                </a:rPr>
                <a:t>Insert 7</a:t>
              </a:r>
              <a:endParaRPr lang="en-US" sz="2400" dirty="0">
                <a:latin typeface="Georgia" pitchFamily="18" charset="0"/>
              </a:endParaRPr>
            </a:p>
          </p:txBody>
        </p:sp>
      </p:grp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755576" y="1448779"/>
            <a:ext cx="8316924" cy="1000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chemeClr val="accent1"/>
              </a:buClr>
              <a:buSzPct val="90000"/>
              <a:buFont typeface="Wingdings 3" pitchFamily="18" charset="2"/>
              <a:buChar char="}"/>
            </a:pPr>
            <a:r>
              <a:rPr lang="en-US" sz="2600" dirty="0" smtClean="0">
                <a:solidFill>
                  <a:srgbClr val="000099"/>
                </a:solidFill>
                <a:latin typeface="Garamond" pitchFamily="18" charset="0"/>
              </a:rPr>
              <a:t>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Add</a:t>
            </a:r>
            <a:r>
              <a:rPr lang="en-US" sz="2600" dirty="0" smtClean="0">
                <a:latin typeface="Garamond" pitchFamily="18" charset="0"/>
              </a:rPr>
              <a:t> the new element at the </a:t>
            </a:r>
            <a:r>
              <a:rPr lang="en-US" sz="2600" dirty="0" smtClean="0">
                <a:solidFill>
                  <a:srgbClr val="FF0000"/>
                </a:solidFill>
                <a:latin typeface="Garamond" pitchFamily="18" charset="0"/>
              </a:rPr>
              <a:t>end</a:t>
            </a:r>
          </a:p>
          <a:p>
            <a:pPr>
              <a:spcBef>
                <a:spcPts val="600"/>
              </a:spcBef>
              <a:buClr>
                <a:schemeClr val="accent1"/>
              </a:buClr>
              <a:buSzPct val="90000"/>
              <a:buFont typeface="Wingdings 3" pitchFamily="18" charset="2"/>
              <a:buChar char="}"/>
            </a:pPr>
            <a:r>
              <a:rPr lang="en-US" sz="2600" dirty="0">
                <a:latin typeface="Garamond" pitchFamily="18" charset="0"/>
              </a:rPr>
              <a:t>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Bubble up</a:t>
            </a:r>
            <a:r>
              <a:rPr lang="en-US" sz="2600" dirty="0" smtClean="0">
                <a:latin typeface="Garamond" pitchFamily="18" charset="0"/>
              </a:rPr>
              <a:t> </a:t>
            </a:r>
            <a:r>
              <a:rPr lang="en-US" sz="2600" dirty="0" smtClean="0">
                <a:solidFill>
                  <a:srgbClr val="FF0000"/>
                </a:solidFill>
                <a:latin typeface="Garamond" pitchFamily="18" charset="0"/>
              </a:rPr>
              <a:t>until</a:t>
            </a:r>
            <a:r>
              <a:rPr lang="en-US" sz="2600" dirty="0" smtClean="0">
                <a:latin typeface="Garamond" pitchFamily="18" charset="0"/>
              </a:rPr>
              <a:t> the heap is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ordered</a:t>
            </a:r>
            <a:endParaRPr lang="en-US" sz="2800" dirty="0" smtClean="0">
              <a:solidFill>
                <a:srgbClr val="0000CC"/>
              </a:solidFill>
              <a:latin typeface="Garamond" pitchFamily="18" charset="0"/>
            </a:endParaRPr>
          </a:p>
        </p:txBody>
      </p:sp>
      <p:sp>
        <p:nvSpPr>
          <p:cNvPr id="30" name="Oval 29"/>
          <p:cNvSpPr>
            <a:spLocks noChangeArrowheads="1"/>
          </p:cNvSpPr>
          <p:nvPr/>
        </p:nvSpPr>
        <p:spPr bwMode="auto">
          <a:xfrm>
            <a:off x="3095836" y="5549799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2" name="Oval 31"/>
          <p:cNvSpPr>
            <a:spLocks noChangeArrowheads="1"/>
          </p:cNvSpPr>
          <p:nvPr/>
        </p:nvSpPr>
        <p:spPr bwMode="auto">
          <a:xfrm>
            <a:off x="4593712" y="5574948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18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7" name="Freeform 6"/>
          <p:cNvSpPr/>
          <p:nvPr/>
        </p:nvSpPr>
        <p:spPr>
          <a:xfrm rot="2204291">
            <a:off x="3216519" y="3981198"/>
            <a:ext cx="937019" cy="353509"/>
          </a:xfrm>
          <a:custGeom>
            <a:avLst/>
            <a:gdLst>
              <a:gd name="connsiteX0" fmla="*/ 0 w 1109472"/>
              <a:gd name="connsiteY0" fmla="*/ 329202 h 341394"/>
              <a:gd name="connsiteX1" fmla="*/ 560832 w 1109472"/>
              <a:gd name="connsiteY1" fmla="*/ 18 h 341394"/>
              <a:gd name="connsiteX2" fmla="*/ 1109472 w 1109472"/>
              <a:gd name="connsiteY2" fmla="*/ 341394 h 34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9472" h="341394">
                <a:moveTo>
                  <a:pt x="0" y="329202"/>
                </a:moveTo>
                <a:cubicBezTo>
                  <a:pt x="187960" y="163594"/>
                  <a:pt x="375920" y="-2014"/>
                  <a:pt x="560832" y="18"/>
                </a:cubicBezTo>
                <a:cubicBezTo>
                  <a:pt x="745744" y="2050"/>
                  <a:pt x="927608" y="171722"/>
                  <a:pt x="1109472" y="341394"/>
                </a:cubicBezTo>
              </a:path>
            </a:pathLst>
          </a:custGeom>
          <a:ln w="3810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48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1.35985E-6 L 0.12326 0.1327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63" y="663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78 0.00486 L -0.11649 -0.12673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72" y="-65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9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1818694" y="2096852"/>
            <a:ext cx="2825314" cy="684076"/>
          </a:xfrm>
          <a:prstGeom prst="horizontalScroll">
            <a:avLst>
              <a:gd name="adj" fmla="val 12500"/>
            </a:avLst>
          </a:prstGeom>
          <a:solidFill>
            <a:srgbClr val="FFCC99"/>
          </a:solidFill>
          <a:ln w="381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1430" tIns="45715" rIns="91430" bIns="45715" anchor="ctr"/>
          <a:lstStyle/>
          <a:p>
            <a:endParaRPr 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1520" y="8620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</a:rPr>
              <a:t>Binary Heap: basic properties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74068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051720" y="1664804"/>
            <a:ext cx="576064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rgbClr val="4F81BD"/>
              </a:buClr>
              <a:buSzPct val="90000"/>
              <a:buFont typeface="Wingdings 3" pitchFamily="18" charset="2"/>
              <a:buChar char="}"/>
            </a:pPr>
            <a:r>
              <a:rPr lang="en-US" sz="2800" dirty="0" smtClean="0">
                <a:solidFill>
                  <a:srgbClr val="0000CC"/>
                </a:solidFill>
                <a:latin typeface="Garamond" pitchFamily="18" charset="0"/>
              </a:rPr>
              <a:t> </a:t>
            </a:r>
            <a:r>
              <a:rPr lang="en-US" sz="2800" dirty="0" smtClean="0">
                <a:latin typeface="Garamond" pitchFamily="18" charset="0"/>
              </a:rPr>
              <a:t>Insert</a:t>
            </a:r>
          </a:p>
          <a:p>
            <a:pPr>
              <a:spcBef>
                <a:spcPts val="600"/>
              </a:spcBef>
              <a:buClr>
                <a:srgbClr val="4F81BD"/>
              </a:buClr>
              <a:buSzPct val="90000"/>
              <a:buFont typeface="Wingdings 3" pitchFamily="18" charset="2"/>
              <a:buChar char="}"/>
            </a:pPr>
            <a:r>
              <a:rPr lang="en-US" sz="2800" dirty="0">
                <a:latin typeface="Garamond" pitchFamily="18" charset="0"/>
              </a:rPr>
              <a:t> </a:t>
            </a:r>
            <a:r>
              <a:rPr lang="en-US" sz="2800" dirty="0" smtClean="0">
                <a:latin typeface="Garamond" pitchFamily="18" charset="0"/>
              </a:rPr>
              <a:t>Extract min</a:t>
            </a:r>
          </a:p>
          <a:p>
            <a:pPr>
              <a:spcBef>
                <a:spcPts val="600"/>
              </a:spcBef>
              <a:buClr>
                <a:srgbClr val="4F81BD"/>
              </a:buClr>
              <a:buSzPct val="90000"/>
              <a:buFont typeface="Wingdings 3" pitchFamily="18" charset="2"/>
              <a:buChar char="}"/>
            </a:pPr>
            <a:r>
              <a:rPr lang="en-US" sz="2800" dirty="0">
                <a:latin typeface="Garamond" pitchFamily="18" charset="0"/>
              </a:rPr>
              <a:t> </a:t>
            </a:r>
            <a:r>
              <a:rPr lang="en-US" sz="2800" dirty="0" smtClean="0">
                <a:latin typeface="Garamond" pitchFamily="18" charset="0"/>
              </a:rPr>
              <a:t>Decrease key</a:t>
            </a:r>
          </a:p>
          <a:p>
            <a:pPr>
              <a:spcBef>
                <a:spcPts val="600"/>
              </a:spcBef>
              <a:buClr>
                <a:srgbClr val="4F81BD"/>
              </a:buClr>
              <a:buSzPct val="90000"/>
              <a:buFont typeface="Wingdings 3" pitchFamily="18" charset="2"/>
              <a:buChar char="}"/>
            </a:pPr>
            <a:r>
              <a:rPr lang="en-US" sz="2800" dirty="0">
                <a:latin typeface="Garamond" pitchFamily="18" charset="0"/>
              </a:rPr>
              <a:t> </a:t>
            </a:r>
            <a:r>
              <a:rPr lang="en-US" sz="2800" dirty="0" smtClean="0">
                <a:latin typeface="Garamond" pitchFamily="18" charset="0"/>
              </a:rPr>
              <a:t>Find min</a:t>
            </a:r>
          </a:p>
          <a:p>
            <a:pPr>
              <a:spcBef>
                <a:spcPts val="600"/>
              </a:spcBef>
              <a:buClr>
                <a:srgbClr val="4F81BD"/>
              </a:buClr>
              <a:buSzPct val="90000"/>
              <a:buFont typeface="Wingdings 3" pitchFamily="18" charset="2"/>
              <a:buChar char="}"/>
            </a:pPr>
            <a:r>
              <a:rPr lang="en-US" sz="2800" dirty="0">
                <a:latin typeface="Garamond" pitchFamily="18" charset="0"/>
              </a:rPr>
              <a:t> </a:t>
            </a:r>
            <a:r>
              <a:rPr lang="en-US" sz="2800" dirty="0" smtClean="0">
                <a:latin typeface="Garamond" pitchFamily="18" charset="0"/>
              </a:rPr>
              <a:t>Delete</a:t>
            </a:r>
          </a:p>
        </p:txBody>
      </p:sp>
    </p:spTree>
    <p:extLst>
      <p:ext uri="{BB962C8B-B14F-4D97-AF65-F5344CB8AC3E}">
        <p14:creationId xmlns:p14="http://schemas.microsoft.com/office/powerpoint/2010/main" val="2395592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/>
          <p:cNvCxnSpPr/>
          <p:nvPr/>
        </p:nvCxnSpPr>
        <p:spPr>
          <a:xfrm flipV="1">
            <a:off x="3265000" y="4905164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 flipV="1">
            <a:off x="4834884" y="3022100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2987824" y="3022100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9" idx="1"/>
          </p:cNvCxnSpPr>
          <p:nvPr/>
        </p:nvCxnSpPr>
        <p:spPr>
          <a:xfrm flipH="1" flipV="1">
            <a:off x="2913540" y="403096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1799692" y="393305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8" idx="1"/>
          </p:cNvCxnSpPr>
          <p:nvPr/>
        </p:nvCxnSpPr>
        <p:spPr>
          <a:xfrm flipH="1" flipV="1">
            <a:off x="1724658" y="4894309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1040172" y="489430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7571" y="8620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Min Heap: Extract min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02060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4665720" y="285293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6</a:t>
            </a:r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2699792" y="38250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1555494" y="47251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871008" y="55389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2289456" y="555323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3801624" y="470343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18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40" name="Straight Connector 39"/>
          <p:cNvCxnSpPr>
            <a:stCxn id="44" idx="1"/>
          </p:cNvCxnSpPr>
          <p:nvPr/>
        </p:nvCxnSpPr>
        <p:spPr>
          <a:xfrm flipH="1" flipV="1">
            <a:off x="7090004" y="411726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5976156" y="401935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>
            <a:spLocks noChangeArrowheads="1"/>
          </p:cNvSpPr>
          <p:nvPr/>
        </p:nvSpPr>
        <p:spPr bwMode="auto">
          <a:xfrm>
            <a:off x="6876256" y="39113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8</a:t>
            </a:r>
          </a:p>
        </p:txBody>
      </p:sp>
      <p:sp>
        <p:nvSpPr>
          <p:cNvPr id="43" name="Oval 42"/>
          <p:cNvSpPr>
            <a:spLocks noChangeArrowheads="1"/>
          </p:cNvSpPr>
          <p:nvPr/>
        </p:nvSpPr>
        <p:spPr bwMode="auto">
          <a:xfrm>
            <a:off x="5731958" y="48114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4" name="Oval 43"/>
          <p:cNvSpPr>
            <a:spLocks noChangeArrowheads="1"/>
          </p:cNvSpPr>
          <p:nvPr/>
        </p:nvSpPr>
        <p:spPr bwMode="auto">
          <a:xfrm>
            <a:off x="7978088" y="478973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503548" y="1124744"/>
            <a:ext cx="8316924" cy="1000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chemeClr val="accent1"/>
              </a:buClr>
              <a:buSzPct val="90000"/>
              <a:buFont typeface="Wingdings 3" pitchFamily="18" charset="2"/>
              <a:buChar char="}"/>
            </a:pPr>
            <a:r>
              <a:rPr lang="en-US" sz="2600" dirty="0" smtClean="0">
                <a:solidFill>
                  <a:srgbClr val="000099"/>
                </a:solidFill>
                <a:latin typeface="Garamond" pitchFamily="18" charset="0"/>
              </a:rPr>
              <a:t> </a:t>
            </a:r>
            <a:r>
              <a:rPr lang="en-US" sz="2600" dirty="0" smtClean="0">
                <a:solidFill>
                  <a:srgbClr val="FF0000"/>
                </a:solidFill>
                <a:latin typeface="Garamond" pitchFamily="18" charset="0"/>
              </a:rPr>
              <a:t>Exchange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 root</a:t>
            </a:r>
            <a:r>
              <a:rPr lang="en-US" sz="2600" dirty="0" smtClean="0">
                <a:latin typeface="Garamond" pitchFamily="18" charset="0"/>
              </a:rPr>
              <a:t> with the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last node</a:t>
            </a:r>
            <a:r>
              <a:rPr lang="en-US" sz="2600" dirty="0" smtClean="0">
                <a:latin typeface="Garamond" pitchFamily="18" charset="0"/>
              </a:rPr>
              <a:t> (right-most leaf)</a:t>
            </a:r>
          </a:p>
          <a:p>
            <a:pPr>
              <a:spcBef>
                <a:spcPts val="600"/>
              </a:spcBef>
              <a:buClr>
                <a:schemeClr val="accent1"/>
              </a:buClr>
              <a:buSzPct val="90000"/>
              <a:buFont typeface="Wingdings 3" pitchFamily="18" charset="2"/>
              <a:buChar char="}"/>
            </a:pPr>
            <a:r>
              <a:rPr lang="en-US" sz="2600" dirty="0" smtClean="0">
                <a:solidFill>
                  <a:srgbClr val="FF0000"/>
                </a:solidFill>
                <a:latin typeface="Garamond" pitchFamily="18" charset="0"/>
              </a:rPr>
              <a:t> Sink down</a:t>
            </a:r>
            <a:r>
              <a:rPr lang="en-US" sz="2600" dirty="0" smtClean="0">
                <a:latin typeface="Garamond" pitchFamily="18" charset="0"/>
              </a:rPr>
              <a:t> until the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heap property</a:t>
            </a:r>
            <a:r>
              <a:rPr lang="en-US" sz="2600" dirty="0" smtClean="0">
                <a:latin typeface="Garamond" pitchFamily="18" charset="0"/>
              </a:rPr>
              <a:t> is retained</a:t>
            </a:r>
            <a:endParaRPr lang="en-US" sz="2800" dirty="0" smtClean="0">
              <a:solidFill>
                <a:srgbClr val="0000CC"/>
              </a:solidFill>
              <a:latin typeface="Garamond" pitchFamily="18" charset="0"/>
            </a:endParaRPr>
          </a:p>
        </p:txBody>
      </p:sp>
      <p:sp>
        <p:nvSpPr>
          <p:cNvPr id="30" name="Oval 29"/>
          <p:cNvSpPr>
            <a:spLocks noChangeArrowheads="1"/>
          </p:cNvSpPr>
          <p:nvPr/>
        </p:nvSpPr>
        <p:spPr bwMode="auto">
          <a:xfrm>
            <a:off x="3095836" y="5549799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5" name="Freeform 44"/>
          <p:cNvSpPr/>
          <p:nvPr/>
        </p:nvSpPr>
        <p:spPr>
          <a:xfrm rot="7212789">
            <a:off x="3178599" y="4266593"/>
            <a:ext cx="2779695" cy="761842"/>
          </a:xfrm>
          <a:custGeom>
            <a:avLst/>
            <a:gdLst>
              <a:gd name="connsiteX0" fmla="*/ 0 w 1109472"/>
              <a:gd name="connsiteY0" fmla="*/ 329202 h 341394"/>
              <a:gd name="connsiteX1" fmla="*/ 560832 w 1109472"/>
              <a:gd name="connsiteY1" fmla="*/ 18 h 341394"/>
              <a:gd name="connsiteX2" fmla="*/ 1109472 w 1109472"/>
              <a:gd name="connsiteY2" fmla="*/ 341394 h 34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9472" h="341394">
                <a:moveTo>
                  <a:pt x="0" y="329202"/>
                </a:moveTo>
                <a:cubicBezTo>
                  <a:pt x="187960" y="163594"/>
                  <a:pt x="375920" y="-2014"/>
                  <a:pt x="560832" y="18"/>
                </a:cubicBezTo>
                <a:cubicBezTo>
                  <a:pt x="745744" y="2050"/>
                  <a:pt x="927608" y="171722"/>
                  <a:pt x="1109472" y="341394"/>
                </a:cubicBezTo>
              </a:path>
            </a:pathLst>
          </a:custGeom>
          <a:ln w="3810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511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75763E-6 L -0.17032 0.38992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24" y="19496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49861E-6 L 0.16927 -0.38298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55" y="-191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0" grpId="0" animBg="1"/>
      <p:bldP spid="45" grpId="1" animBg="1"/>
      <p:bldP spid="45" grpId="2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/>
          <p:cNvCxnSpPr/>
          <p:nvPr/>
        </p:nvCxnSpPr>
        <p:spPr>
          <a:xfrm flipV="1">
            <a:off x="3265000" y="4905164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 flipV="1">
            <a:off x="4834884" y="3022100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2987824" y="3022100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9" idx="1"/>
          </p:cNvCxnSpPr>
          <p:nvPr/>
        </p:nvCxnSpPr>
        <p:spPr>
          <a:xfrm flipH="1" flipV="1">
            <a:off x="2913540" y="403096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1799692" y="393305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8" idx="1"/>
          </p:cNvCxnSpPr>
          <p:nvPr/>
        </p:nvCxnSpPr>
        <p:spPr>
          <a:xfrm flipH="1" flipV="1">
            <a:off x="1724658" y="4894309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1040172" y="489430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7571" y="8620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Min Heap: Extract min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02060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4665720" y="285293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2699792" y="38250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1555494" y="47251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871008" y="55389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2289456" y="555323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3801624" y="470343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18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40" name="Straight Connector 39"/>
          <p:cNvCxnSpPr>
            <a:stCxn id="44" idx="1"/>
          </p:cNvCxnSpPr>
          <p:nvPr/>
        </p:nvCxnSpPr>
        <p:spPr>
          <a:xfrm flipH="1" flipV="1">
            <a:off x="7090004" y="411726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5976156" y="401935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>
            <a:spLocks noChangeArrowheads="1"/>
          </p:cNvSpPr>
          <p:nvPr/>
        </p:nvSpPr>
        <p:spPr bwMode="auto">
          <a:xfrm>
            <a:off x="6876256" y="39113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8</a:t>
            </a:r>
          </a:p>
        </p:txBody>
      </p:sp>
      <p:sp>
        <p:nvSpPr>
          <p:cNvPr id="43" name="Oval 42"/>
          <p:cNvSpPr>
            <a:spLocks noChangeArrowheads="1"/>
          </p:cNvSpPr>
          <p:nvPr/>
        </p:nvSpPr>
        <p:spPr bwMode="auto">
          <a:xfrm>
            <a:off x="5731958" y="48114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4" name="Oval 43"/>
          <p:cNvSpPr>
            <a:spLocks noChangeArrowheads="1"/>
          </p:cNvSpPr>
          <p:nvPr/>
        </p:nvSpPr>
        <p:spPr bwMode="auto">
          <a:xfrm>
            <a:off x="7978088" y="478973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503548" y="1124744"/>
            <a:ext cx="8316924" cy="1000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chemeClr val="accent1"/>
              </a:buClr>
              <a:buSzPct val="90000"/>
              <a:buFont typeface="Wingdings 3" pitchFamily="18" charset="2"/>
              <a:buChar char="}"/>
            </a:pPr>
            <a:r>
              <a:rPr lang="en-US" sz="2600" dirty="0" smtClean="0">
                <a:solidFill>
                  <a:srgbClr val="000099"/>
                </a:solidFill>
                <a:latin typeface="Garamond" pitchFamily="18" charset="0"/>
              </a:rPr>
              <a:t> </a:t>
            </a:r>
            <a:r>
              <a:rPr lang="en-US" sz="2600" dirty="0" smtClean="0">
                <a:solidFill>
                  <a:srgbClr val="FF0000"/>
                </a:solidFill>
                <a:latin typeface="Garamond" pitchFamily="18" charset="0"/>
              </a:rPr>
              <a:t>Exchange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 root</a:t>
            </a:r>
            <a:r>
              <a:rPr lang="en-US" sz="2600" dirty="0" smtClean="0">
                <a:latin typeface="Garamond" pitchFamily="18" charset="0"/>
              </a:rPr>
              <a:t> with the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last node</a:t>
            </a:r>
            <a:r>
              <a:rPr lang="en-US" sz="2600" dirty="0" smtClean="0">
                <a:latin typeface="Garamond" pitchFamily="18" charset="0"/>
              </a:rPr>
              <a:t> (right-most leaf)</a:t>
            </a:r>
          </a:p>
          <a:p>
            <a:pPr>
              <a:spcBef>
                <a:spcPts val="600"/>
              </a:spcBef>
              <a:buClr>
                <a:schemeClr val="accent1"/>
              </a:buClr>
              <a:buSzPct val="90000"/>
              <a:buFont typeface="Wingdings 3" pitchFamily="18" charset="2"/>
              <a:buChar char="}"/>
            </a:pPr>
            <a:r>
              <a:rPr lang="en-US" sz="2600" dirty="0" smtClean="0">
                <a:solidFill>
                  <a:srgbClr val="FF0000"/>
                </a:solidFill>
                <a:latin typeface="Garamond" pitchFamily="18" charset="0"/>
              </a:rPr>
              <a:t> Sink down</a:t>
            </a:r>
            <a:r>
              <a:rPr lang="en-US" sz="2600" dirty="0" smtClean="0">
                <a:latin typeface="Garamond" pitchFamily="18" charset="0"/>
              </a:rPr>
              <a:t> until the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heap property</a:t>
            </a:r>
            <a:r>
              <a:rPr lang="en-US" sz="2600" dirty="0" smtClean="0">
                <a:latin typeface="Garamond" pitchFamily="18" charset="0"/>
              </a:rPr>
              <a:t> is retained</a:t>
            </a:r>
            <a:endParaRPr lang="en-US" sz="2800" dirty="0" smtClean="0">
              <a:solidFill>
                <a:srgbClr val="0000CC"/>
              </a:solidFill>
              <a:latin typeface="Garamond" pitchFamily="18" charset="0"/>
            </a:endParaRPr>
          </a:p>
        </p:txBody>
      </p:sp>
      <p:sp>
        <p:nvSpPr>
          <p:cNvPr id="30" name="Oval 29"/>
          <p:cNvSpPr>
            <a:spLocks noChangeArrowheads="1"/>
          </p:cNvSpPr>
          <p:nvPr/>
        </p:nvSpPr>
        <p:spPr bwMode="auto">
          <a:xfrm>
            <a:off x="3095836" y="5549799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6</a:t>
            </a:r>
          </a:p>
        </p:txBody>
      </p:sp>
      <p:grpSp>
        <p:nvGrpSpPr>
          <p:cNvPr id="47" name="Group 16"/>
          <p:cNvGrpSpPr>
            <a:grpSpLocks/>
          </p:cNvGrpSpPr>
          <p:nvPr/>
        </p:nvGrpSpPr>
        <p:grpSpPr bwMode="auto">
          <a:xfrm>
            <a:off x="6480212" y="2348880"/>
            <a:ext cx="2171299" cy="920795"/>
            <a:chOff x="2621" y="2143"/>
            <a:chExt cx="1686" cy="782"/>
          </a:xfrm>
        </p:grpSpPr>
        <p:sp>
          <p:nvSpPr>
            <p:cNvPr id="48" name="AutoShape 9"/>
            <p:cNvSpPr>
              <a:spLocks noChangeArrowheads="1"/>
            </p:cNvSpPr>
            <p:nvPr/>
          </p:nvSpPr>
          <p:spPr bwMode="auto">
            <a:xfrm>
              <a:off x="2621" y="2143"/>
              <a:ext cx="1686" cy="782"/>
            </a:xfrm>
            <a:prstGeom prst="wedgeEllipseCallout">
              <a:avLst>
                <a:gd name="adj1" fmla="val -114305"/>
                <a:gd name="adj2" fmla="val 21611"/>
              </a:avLst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lIns="82479" tIns="41239" rIns="82479" bIns="41239"/>
            <a:lstStyle/>
            <a:p>
              <a:pPr algn="ctr" defTabSz="825500"/>
              <a:endParaRPr kumimoji="1" lang="en-US" sz="1600">
                <a:ea typeface="ＭＳ Ｐゴシック" pitchFamily="34" charset="-128"/>
              </a:endParaRPr>
            </a:p>
          </p:txBody>
        </p:sp>
        <p:sp>
          <p:nvSpPr>
            <p:cNvPr id="49" name="Text Box 10"/>
            <p:cNvSpPr txBox="1">
              <a:spLocks noChangeArrowheads="1"/>
            </p:cNvSpPr>
            <p:nvPr/>
          </p:nvSpPr>
          <p:spPr bwMode="auto">
            <a:xfrm>
              <a:off x="2697" y="2256"/>
              <a:ext cx="1546" cy="6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2479" tIns="41239" rIns="82479" bIns="41239">
              <a:spAutoFit/>
            </a:bodyPr>
            <a:lstStyle/>
            <a:p>
              <a:pPr algn="ctr" defTabSz="825500">
                <a:spcBef>
                  <a:spcPct val="50000"/>
                </a:spcBef>
              </a:pPr>
              <a:r>
                <a:rPr kumimoji="1" lang="en-US" altLang="ja-JP" dirty="0" smtClean="0">
                  <a:solidFill>
                    <a:schemeClr val="bg1"/>
                  </a:solidFill>
                  <a:latin typeface="Book Antiqua" pitchFamily="18" charset="0"/>
                </a:rPr>
                <a:t>Heap order</a:t>
              </a:r>
            </a:p>
            <a:p>
              <a:pPr algn="ctr" defTabSz="825500">
                <a:spcBef>
                  <a:spcPct val="50000"/>
                </a:spcBef>
              </a:pPr>
              <a:r>
                <a:rPr kumimoji="1" lang="en-US" altLang="ja-JP" dirty="0" smtClean="0">
                  <a:solidFill>
                    <a:schemeClr val="bg1"/>
                  </a:solidFill>
                  <a:latin typeface="Book Antiqua" pitchFamily="18" charset="0"/>
                </a:rPr>
                <a:t>violated</a:t>
              </a:r>
              <a:endParaRPr kumimoji="1" lang="en-US" altLang="ja-JP" dirty="0">
                <a:solidFill>
                  <a:schemeClr val="bg1"/>
                </a:solidFill>
                <a:latin typeface="Book Antiqua" pitchFamily="18" charset="0"/>
              </a:endParaRPr>
            </a:p>
          </p:txBody>
        </p:sp>
      </p:grpSp>
      <p:grpSp>
        <p:nvGrpSpPr>
          <p:cNvPr id="50" name="Group 16"/>
          <p:cNvGrpSpPr>
            <a:grpSpLocks/>
          </p:cNvGrpSpPr>
          <p:nvPr/>
        </p:nvGrpSpPr>
        <p:grpSpPr bwMode="auto">
          <a:xfrm>
            <a:off x="6613372" y="2420888"/>
            <a:ext cx="1883064" cy="692996"/>
            <a:chOff x="2621" y="1787"/>
            <a:chExt cx="1686" cy="782"/>
          </a:xfrm>
        </p:grpSpPr>
        <p:sp>
          <p:nvSpPr>
            <p:cNvPr id="51" name="AutoShape 9"/>
            <p:cNvSpPr>
              <a:spLocks noChangeArrowheads="1"/>
            </p:cNvSpPr>
            <p:nvPr/>
          </p:nvSpPr>
          <p:spPr bwMode="auto">
            <a:xfrm>
              <a:off x="2621" y="1787"/>
              <a:ext cx="1686" cy="782"/>
            </a:xfrm>
            <a:prstGeom prst="wedgeEllipseCallout">
              <a:avLst>
                <a:gd name="adj1" fmla="val -131362"/>
                <a:gd name="adj2" fmla="val 35411"/>
              </a:avLst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lIns="82479" tIns="41239" rIns="82479" bIns="41239"/>
            <a:lstStyle/>
            <a:p>
              <a:pPr algn="ctr" defTabSz="825500"/>
              <a:endParaRPr kumimoji="1" lang="en-US" sz="1600">
                <a:ea typeface="ＭＳ Ｐゴシック" pitchFamily="34" charset="-128"/>
              </a:endParaRPr>
            </a:p>
          </p:txBody>
        </p:sp>
        <p:sp>
          <p:nvSpPr>
            <p:cNvPr id="52" name="Text Box 10"/>
            <p:cNvSpPr txBox="1">
              <a:spLocks noChangeArrowheads="1"/>
            </p:cNvSpPr>
            <p:nvPr/>
          </p:nvSpPr>
          <p:spPr bwMode="auto">
            <a:xfrm>
              <a:off x="2697" y="2019"/>
              <a:ext cx="1546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2479" tIns="41239" rIns="82479" bIns="41239">
              <a:spAutoFit/>
            </a:bodyPr>
            <a:lstStyle/>
            <a:p>
              <a:pPr algn="ctr" defTabSz="825500">
                <a:spcBef>
                  <a:spcPct val="50000"/>
                </a:spcBef>
              </a:pPr>
              <a:r>
                <a:rPr kumimoji="1" lang="en-US" altLang="ja-JP" dirty="0" smtClean="0">
                  <a:solidFill>
                    <a:schemeClr val="bg1"/>
                  </a:solidFill>
                  <a:latin typeface="Book Antiqua" pitchFamily="18" charset="0"/>
                </a:rPr>
                <a:t>Sink-down</a:t>
              </a:r>
              <a:endParaRPr kumimoji="1" lang="en-US" altLang="ja-JP" dirty="0">
                <a:solidFill>
                  <a:schemeClr val="bg1"/>
                </a:solidFill>
                <a:latin typeface="Book Antiqua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4489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 flipH="1" flipV="1">
            <a:off x="4834884" y="3022100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2987824" y="3022100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9" idx="1"/>
          </p:cNvCxnSpPr>
          <p:nvPr/>
        </p:nvCxnSpPr>
        <p:spPr>
          <a:xfrm flipH="1" flipV="1">
            <a:off x="2913540" y="403096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1799692" y="393305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8" idx="1"/>
          </p:cNvCxnSpPr>
          <p:nvPr/>
        </p:nvCxnSpPr>
        <p:spPr>
          <a:xfrm flipH="1" flipV="1">
            <a:off x="1724658" y="4894309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1040172" y="489430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7571" y="8620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Min Heap: Extract min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02060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2699792" y="38250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1555494" y="47251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871008" y="55389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2289456" y="555323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3801624" y="470343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18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40" name="Straight Connector 39"/>
          <p:cNvCxnSpPr>
            <a:stCxn id="44" idx="1"/>
          </p:cNvCxnSpPr>
          <p:nvPr/>
        </p:nvCxnSpPr>
        <p:spPr>
          <a:xfrm flipH="1" flipV="1">
            <a:off x="7090004" y="411726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5976156" y="401935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>
            <a:spLocks noChangeArrowheads="1"/>
          </p:cNvSpPr>
          <p:nvPr/>
        </p:nvSpPr>
        <p:spPr bwMode="auto">
          <a:xfrm>
            <a:off x="6876256" y="39113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8</a:t>
            </a:r>
          </a:p>
        </p:txBody>
      </p:sp>
      <p:sp>
        <p:nvSpPr>
          <p:cNvPr id="43" name="Oval 42"/>
          <p:cNvSpPr>
            <a:spLocks noChangeArrowheads="1"/>
          </p:cNvSpPr>
          <p:nvPr/>
        </p:nvSpPr>
        <p:spPr bwMode="auto">
          <a:xfrm>
            <a:off x="5731958" y="48114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4" name="Oval 43"/>
          <p:cNvSpPr>
            <a:spLocks noChangeArrowheads="1"/>
          </p:cNvSpPr>
          <p:nvPr/>
        </p:nvSpPr>
        <p:spPr bwMode="auto">
          <a:xfrm>
            <a:off x="7978088" y="478973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503548" y="1124744"/>
            <a:ext cx="8316924" cy="1000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chemeClr val="accent1"/>
              </a:buClr>
              <a:buSzPct val="90000"/>
              <a:buFont typeface="Wingdings 3" pitchFamily="18" charset="2"/>
              <a:buChar char="}"/>
            </a:pPr>
            <a:r>
              <a:rPr lang="en-US" sz="2600" dirty="0" smtClean="0">
                <a:solidFill>
                  <a:srgbClr val="000099"/>
                </a:solidFill>
                <a:latin typeface="Garamond" pitchFamily="18" charset="0"/>
              </a:rPr>
              <a:t> </a:t>
            </a:r>
            <a:r>
              <a:rPr lang="en-US" sz="2600" dirty="0" smtClean="0">
                <a:solidFill>
                  <a:srgbClr val="FF0000"/>
                </a:solidFill>
                <a:latin typeface="Garamond" pitchFamily="18" charset="0"/>
              </a:rPr>
              <a:t>Exchange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 root</a:t>
            </a:r>
            <a:r>
              <a:rPr lang="en-US" sz="2600" dirty="0" smtClean="0">
                <a:latin typeface="Garamond" pitchFamily="18" charset="0"/>
              </a:rPr>
              <a:t> with the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last node</a:t>
            </a:r>
            <a:r>
              <a:rPr lang="en-US" sz="2600" dirty="0" smtClean="0">
                <a:latin typeface="Garamond" pitchFamily="18" charset="0"/>
              </a:rPr>
              <a:t> (right-most leaf)</a:t>
            </a:r>
          </a:p>
          <a:p>
            <a:pPr>
              <a:spcBef>
                <a:spcPts val="600"/>
              </a:spcBef>
              <a:buClr>
                <a:schemeClr val="accent1"/>
              </a:buClr>
              <a:buSzPct val="90000"/>
              <a:buFont typeface="Wingdings 3" pitchFamily="18" charset="2"/>
              <a:buChar char="}"/>
            </a:pPr>
            <a:r>
              <a:rPr lang="en-US" sz="2600" dirty="0" smtClean="0">
                <a:solidFill>
                  <a:srgbClr val="FF0000"/>
                </a:solidFill>
                <a:latin typeface="Garamond" pitchFamily="18" charset="0"/>
              </a:rPr>
              <a:t> Sink down</a:t>
            </a:r>
            <a:r>
              <a:rPr lang="en-US" sz="2600" dirty="0" smtClean="0">
                <a:latin typeface="Garamond" pitchFamily="18" charset="0"/>
              </a:rPr>
              <a:t> until the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heap property</a:t>
            </a:r>
            <a:r>
              <a:rPr lang="en-US" sz="2600" dirty="0" smtClean="0">
                <a:latin typeface="Garamond" pitchFamily="18" charset="0"/>
              </a:rPr>
              <a:t> is retained</a:t>
            </a:r>
            <a:endParaRPr lang="en-US" sz="2800" dirty="0" smtClean="0">
              <a:solidFill>
                <a:srgbClr val="0000CC"/>
              </a:solidFill>
              <a:latin typeface="Garamond" pitchFamily="18" charset="0"/>
            </a:endParaRPr>
          </a:p>
        </p:txBody>
      </p:sp>
      <p:sp>
        <p:nvSpPr>
          <p:cNvPr id="31" name="Freeform 30"/>
          <p:cNvSpPr/>
          <p:nvPr/>
        </p:nvSpPr>
        <p:spPr>
          <a:xfrm rot="12288208">
            <a:off x="4627111" y="3670329"/>
            <a:ext cx="2126723" cy="536356"/>
          </a:xfrm>
          <a:custGeom>
            <a:avLst/>
            <a:gdLst>
              <a:gd name="connsiteX0" fmla="*/ 0 w 1109472"/>
              <a:gd name="connsiteY0" fmla="*/ 329202 h 341394"/>
              <a:gd name="connsiteX1" fmla="*/ 560832 w 1109472"/>
              <a:gd name="connsiteY1" fmla="*/ 18 h 341394"/>
              <a:gd name="connsiteX2" fmla="*/ 1109472 w 1109472"/>
              <a:gd name="connsiteY2" fmla="*/ 341394 h 34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9472" h="341394">
                <a:moveTo>
                  <a:pt x="0" y="329202"/>
                </a:moveTo>
                <a:cubicBezTo>
                  <a:pt x="187960" y="163594"/>
                  <a:pt x="375920" y="-2014"/>
                  <a:pt x="560832" y="18"/>
                </a:cubicBezTo>
                <a:cubicBezTo>
                  <a:pt x="745744" y="2050"/>
                  <a:pt x="927608" y="171722"/>
                  <a:pt x="1109472" y="341394"/>
                </a:cubicBezTo>
              </a:path>
            </a:pathLst>
          </a:custGeom>
          <a:ln w="3810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4665720" y="285293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909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2.92322E-6 L -0.23907 -0.1524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962" y="-763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78 0.00185 L 0.24184 0.15564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44" y="76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 flipH="1" flipV="1">
            <a:off x="4834884" y="3022100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2987824" y="3022100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9" idx="1"/>
          </p:cNvCxnSpPr>
          <p:nvPr/>
        </p:nvCxnSpPr>
        <p:spPr>
          <a:xfrm flipH="1" flipV="1">
            <a:off x="2913540" y="403096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1799692" y="393305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8" idx="1"/>
          </p:cNvCxnSpPr>
          <p:nvPr/>
        </p:nvCxnSpPr>
        <p:spPr>
          <a:xfrm flipH="1" flipV="1">
            <a:off x="1724658" y="4894309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1040172" y="489430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7571" y="8620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Min Heap: Extract min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02060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2699792" y="38250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1555494" y="47251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871008" y="55389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2289456" y="555323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3801624" y="470343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18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40" name="Straight Connector 39"/>
          <p:cNvCxnSpPr>
            <a:stCxn id="44" idx="1"/>
          </p:cNvCxnSpPr>
          <p:nvPr/>
        </p:nvCxnSpPr>
        <p:spPr>
          <a:xfrm flipH="1" flipV="1">
            <a:off x="7090004" y="411726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5976156" y="401935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>
            <a:spLocks noChangeArrowheads="1"/>
          </p:cNvSpPr>
          <p:nvPr/>
        </p:nvSpPr>
        <p:spPr bwMode="auto">
          <a:xfrm>
            <a:off x="6876256" y="39113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3" name="Oval 42"/>
          <p:cNvSpPr>
            <a:spLocks noChangeArrowheads="1"/>
          </p:cNvSpPr>
          <p:nvPr/>
        </p:nvSpPr>
        <p:spPr bwMode="auto">
          <a:xfrm>
            <a:off x="5731958" y="48114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4" name="Oval 43"/>
          <p:cNvSpPr>
            <a:spLocks noChangeArrowheads="1"/>
          </p:cNvSpPr>
          <p:nvPr/>
        </p:nvSpPr>
        <p:spPr bwMode="auto">
          <a:xfrm>
            <a:off x="7978088" y="478973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503548" y="1124744"/>
            <a:ext cx="8316924" cy="1000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chemeClr val="accent1"/>
              </a:buClr>
              <a:buSzPct val="90000"/>
              <a:buFont typeface="Wingdings 3" pitchFamily="18" charset="2"/>
              <a:buChar char="}"/>
            </a:pPr>
            <a:r>
              <a:rPr lang="en-US" sz="2600" dirty="0" smtClean="0">
                <a:solidFill>
                  <a:srgbClr val="000099"/>
                </a:solidFill>
                <a:latin typeface="Garamond" pitchFamily="18" charset="0"/>
              </a:rPr>
              <a:t> </a:t>
            </a:r>
            <a:r>
              <a:rPr lang="en-US" sz="2600" dirty="0" smtClean="0">
                <a:solidFill>
                  <a:srgbClr val="FF0000"/>
                </a:solidFill>
                <a:latin typeface="Garamond" pitchFamily="18" charset="0"/>
              </a:rPr>
              <a:t>Exchange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 root</a:t>
            </a:r>
            <a:r>
              <a:rPr lang="en-US" sz="2600" dirty="0" smtClean="0">
                <a:latin typeface="Garamond" pitchFamily="18" charset="0"/>
              </a:rPr>
              <a:t> with the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last node</a:t>
            </a:r>
            <a:r>
              <a:rPr lang="en-US" sz="2600" dirty="0" smtClean="0">
                <a:latin typeface="Garamond" pitchFamily="18" charset="0"/>
              </a:rPr>
              <a:t> (right-most leaf)</a:t>
            </a:r>
          </a:p>
          <a:p>
            <a:pPr>
              <a:spcBef>
                <a:spcPts val="600"/>
              </a:spcBef>
              <a:buClr>
                <a:schemeClr val="accent1"/>
              </a:buClr>
              <a:buSzPct val="90000"/>
              <a:buFont typeface="Wingdings 3" pitchFamily="18" charset="2"/>
              <a:buChar char="}"/>
            </a:pPr>
            <a:r>
              <a:rPr lang="en-US" sz="2600" dirty="0" smtClean="0">
                <a:solidFill>
                  <a:srgbClr val="FF0000"/>
                </a:solidFill>
                <a:latin typeface="Garamond" pitchFamily="18" charset="0"/>
              </a:rPr>
              <a:t> Sink down</a:t>
            </a:r>
            <a:r>
              <a:rPr lang="en-US" sz="2600" dirty="0" smtClean="0">
                <a:latin typeface="Garamond" pitchFamily="18" charset="0"/>
              </a:rPr>
              <a:t> until the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heap property</a:t>
            </a:r>
            <a:r>
              <a:rPr lang="en-US" sz="2600" dirty="0" smtClean="0">
                <a:latin typeface="Garamond" pitchFamily="18" charset="0"/>
              </a:rPr>
              <a:t> is retained</a:t>
            </a:r>
            <a:endParaRPr lang="en-US" sz="2800" dirty="0" smtClean="0">
              <a:solidFill>
                <a:srgbClr val="0000CC"/>
              </a:solidFill>
              <a:latin typeface="Garamond" pitchFamily="18" charset="0"/>
            </a:endParaRPr>
          </a:p>
        </p:txBody>
      </p:sp>
      <p:sp>
        <p:nvSpPr>
          <p:cNvPr id="31" name="Freeform 30"/>
          <p:cNvSpPr/>
          <p:nvPr/>
        </p:nvSpPr>
        <p:spPr>
          <a:xfrm rot="8421843">
            <a:off x="6157046" y="4625598"/>
            <a:ext cx="1225467" cy="350009"/>
          </a:xfrm>
          <a:custGeom>
            <a:avLst/>
            <a:gdLst>
              <a:gd name="connsiteX0" fmla="*/ 0 w 1109472"/>
              <a:gd name="connsiteY0" fmla="*/ 329202 h 341394"/>
              <a:gd name="connsiteX1" fmla="*/ 560832 w 1109472"/>
              <a:gd name="connsiteY1" fmla="*/ 18 h 341394"/>
              <a:gd name="connsiteX2" fmla="*/ 1109472 w 1109472"/>
              <a:gd name="connsiteY2" fmla="*/ 341394 h 34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9472" h="341394">
                <a:moveTo>
                  <a:pt x="0" y="329202"/>
                </a:moveTo>
                <a:cubicBezTo>
                  <a:pt x="187960" y="163594"/>
                  <a:pt x="375920" y="-2014"/>
                  <a:pt x="560832" y="18"/>
                </a:cubicBezTo>
                <a:cubicBezTo>
                  <a:pt x="745744" y="2050"/>
                  <a:pt x="927608" y="171722"/>
                  <a:pt x="1109472" y="341394"/>
                </a:cubicBezTo>
              </a:path>
            </a:pathLst>
          </a:custGeom>
          <a:ln w="3810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4665720" y="285293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91312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2.92322E-6 L -0.12882 0.1359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41" y="679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27567E-6 L 0.12604 -0.1364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02" y="-68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9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1818694" y="2600908"/>
            <a:ext cx="2825314" cy="684076"/>
          </a:xfrm>
          <a:prstGeom prst="horizontalScroll">
            <a:avLst>
              <a:gd name="adj" fmla="val 12500"/>
            </a:avLst>
          </a:prstGeom>
          <a:solidFill>
            <a:srgbClr val="FFCC99"/>
          </a:solidFill>
          <a:ln w="381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1430" tIns="45715" rIns="91430" bIns="45715" anchor="ctr"/>
          <a:lstStyle/>
          <a:p>
            <a:endParaRPr 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1520" y="8620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</a:rPr>
              <a:t>Binary Heap: basic properties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74068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051720" y="1664804"/>
            <a:ext cx="576064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rgbClr val="4F81BD"/>
              </a:buClr>
              <a:buSzPct val="90000"/>
              <a:buFont typeface="Wingdings 3" pitchFamily="18" charset="2"/>
              <a:buChar char="}"/>
            </a:pPr>
            <a:r>
              <a:rPr lang="en-US" sz="2800" dirty="0" smtClean="0">
                <a:solidFill>
                  <a:srgbClr val="0000CC"/>
                </a:solidFill>
                <a:latin typeface="Garamond" pitchFamily="18" charset="0"/>
              </a:rPr>
              <a:t> </a:t>
            </a:r>
            <a:r>
              <a:rPr lang="en-US" sz="2800" dirty="0" smtClean="0">
                <a:latin typeface="Garamond" pitchFamily="18" charset="0"/>
              </a:rPr>
              <a:t>Insert</a:t>
            </a:r>
          </a:p>
          <a:p>
            <a:pPr>
              <a:spcBef>
                <a:spcPts val="600"/>
              </a:spcBef>
              <a:buClr>
                <a:srgbClr val="4F81BD"/>
              </a:buClr>
              <a:buSzPct val="90000"/>
              <a:buFont typeface="Wingdings 3" pitchFamily="18" charset="2"/>
              <a:buChar char="}"/>
            </a:pPr>
            <a:r>
              <a:rPr lang="en-US" sz="2800" dirty="0">
                <a:latin typeface="Garamond" pitchFamily="18" charset="0"/>
              </a:rPr>
              <a:t> </a:t>
            </a:r>
            <a:r>
              <a:rPr lang="en-US" sz="2800" dirty="0" smtClean="0">
                <a:latin typeface="Garamond" pitchFamily="18" charset="0"/>
              </a:rPr>
              <a:t>Extract min</a:t>
            </a:r>
          </a:p>
          <a:p>
            <a:pPr>
              <a:spcBef>
                <a:spcPts val="600"/>
              </a:spcBef>
              <a:buClr>
                <a:srgbClr val="4F81BD"/>
              </a:buClr>
              <a:buSzPct val="90000"/>
              <a:buFont typeface="Wingdings 3" pitchFamily="18" charset="2"/>
              <a:buChar char="}"/>
            </a:pPr>
            <a:r>
              <a:rPr lang="en-US" sz="2800" dirty="0">
                <a:latin typeface="Garamond" pitchFamily="18" charset="0"/>
              </a:rPr>
              <a:t> </a:t>
            </a:r>
            <a:r>
              <a:rPr lang="en-US" sz="2800" dirty="0" smtClean="0">
                <a:latin typeface="Garamond" pitchFamily="18" charset="0"/>
              </a:rPr>
              <a:t>Decrease key</a:t>
            </a:r>
          </a:p>
          <a:p>
            <a:pPr>
              <a:spcBef>
                <a:spcPts val="600"/>
              </a:spcBef>
              <a:buClr>
                <a:srgbClr val="4F81BD"/>
              </a:buClr>
              <a:buSzPct val="90000"/>
              <a:buFont typeface="Wingdings 3" pitchFamily="18" charset="2"/>
              <a:buChar char="}"/>
            </a:pPr>
            <a:r>
              <a:rPr lang="en-US" sz="2800" dirty="0">
                <a:latin typeface="Garamond" pitchFamily="18" charset="0"/>
              </a:rPr>
              <a:t> </a:t>
            </a:r>
            <a:r>
              <a:rPr lang="en-US" sz="2800" dirty="0" smtClean="0">
                <a:latin typeface="Garamond" pitchFamily="18" charset="0"/>
              </a:rPr>
              <a:t>Find min</a:t>
            </a:r>
          </a:p>
          <a:p>
            <a:pPr>
              <a:spcBef>
                <a:spcPts val="600"/>
              </a:spcBef>
              <a:buClr>
                <a:srgbClr val="4F81BD"/>
              </a:buClr>
              <a:buSzPct val="90000"/>
              <a:buFont typeface="Wingdings 3" pitchFamily="18" charset="2"/>
              <a:buChar char="}"/>
            </a:pPr>
            <a:r>
              <a:rPr lang="en-US" sz="2800" dirty="0">
                <a:latin typeface="Garamond" pitchFamily="18" charset="0"/>
              </a:rPr>
              <a:t> </a:t>
            </a:r>
            <a:r>
              <a:rPr lang="en-US" sz="2800" dirty="0" smtClean="0">
                <a:latin typeface="Garamond" pitchFamily="18" charset="0"/>
              </a:rPr>
              <a:t>Delete</a:t>
            </a:r>
          </a:p>
        </p:txBody>
      </p:sp>
    </p:spTree>
    <p:extLst>
      <p:ext uri="{BB962C8B-B14F-4D97-AF65-F5344CB8AC3E}">
        <p14:creationId xmlns:p14="http://schemas.microsoft.com/office/powerpoint/2010/main" val="321636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7571" y="8620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Min Heap: Decrease key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02060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24" name="Straight Connector 23"/>
          <p:cNvCxnSpPr/>
          <p:nvPr/>
        </p:nvCxnSpPr>
        <p:spPr>
          <a:xfrm flipV="1">
            <a:off x="3265000" y="4905164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 flipV="1">
            <a:off x="4834884" y="3022100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2987824" y="3022100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47" idx="1"/>
          </p:cNvCxnSpPr>
          <p:nvPr/>
        </p:nvCxnSpPr>
        <p:spPr>
          <a:xfrm flipH="1" flipV="1">
            <a:off x="2913540" y="403096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1799692" y="393305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46" idx="1"/>
          </p:cNvCxnSpPr>
          <p:nvPr/>
        </p:nvCxnSpPr>
        <p:spPr>
          <a:xfrm flipH="1" flipV="1">
            <a:off x="1724658" y="4894309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1040172" y="489430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>
            <a:spLocks noChangeArrowheads="1"/>
          </p:cNvSpPr>
          <p:nvPr/>
        </p:nvSpPr>
        <p:spPr bwMode="auto">
          <a:xfrm>
            <a:off x="4665720" y="285293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6</a:t>
            </a:r>
          </a:p>
        </p:txBody>
      </p:sp>
      <p:sp>
        <p:nvSpPr>
          <p:cNvPr id="38" name="Oval 37"/>
          <p:cNvSpPr>
            <a:spLocks noChangeArrowheads="1"/>
          </p:cNvSpPr>
          <p:nvPr/>
        </p:nvSpPr>
        <p:spPr bwMode="auto">
          <a:xfrm>
            <a:off x="2699792" y="38250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9" name="Oval 38"/>
          <p:cNvSpPr>
            <a:spLocks noChangeArrowheads="1"/>
          </p:cNvSpPr>
          <p:nvPr/>
        </p:nvSpPr>
        <p:spPr bwMode="auto">
          <a:xfrm>
            <a:off x="1555494" y="47251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5" name="Oval 44"/>
          <p:cNvSpPr>
            <a:spLocks noChangeArrowheads="1"/>
          </p:cNvSpPr>
          <p:nvPr/>
        </p:nvSpPr>
        <p:spPr bwMode="auto">
          <a:xfrm>
            <a:off x="871008" y="55389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6" name="Oval 45"/>
          <p:cNvSpPr>
            <a:spLocks noChangeArrowheads="1"/>
          </p:cNvSpPr>
          <p:nvPr/>
        </p:nvSpPr>
        <p:spPr bwMode="auto">
          <a:xfrm>
            <a:off x="2289456" y="555323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7" name="Oval 46"/>
          <p:cNvSpPr>
            <a:spLocks noChangeArrowheads="1"/>
          </p:cNvSpPr>
          <p:nvPr/>
        </p:nvSpPr>
        <p:spPr bwMode="auto">
          <a:xfrm>
            <a:off x="3801624" y="470343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18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48" name="Straight Connector 47"/>
          <p:cNvCxnSpPr>
            <a:stCxn id="52" idx="1"/>
          </p:cNvCxnSpPr>
          <p:nvPr/>
        </p:nvCxnSpPr>
        <p:spPr>
          <a:xfrm flipH="1" flipV="1">
            <a:off x="7090004" y="411726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5976156" y="401935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>
            <a:spLocks noChangeArrowheads="1"/>
          </p:cNvSpPr>
          <p:nvPr/>
        </p:nvSpPr>
        <p:spPr bwMode="auto">
          <a:xfrm>
            <a:off x="6876256" y="39113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8</a:t>
            </a:r>
          </a:p>
        </p:txBody>
      </p:sp>
      <p:sp>
        <p:nvSpPr>
          <p:cNvPr id="51" name="Oval 50"/>
          <p:cNvSpPr>
            <a:spLocks noChangeArrowheads="1"/>
          </p:cNvSpPr>
          <p:nvPr/>
        </p:nvSpPr>
        <p:spPr bwMode="auto">
          <a:xfrm>
            <a:off x="5731958" y="48114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52" name="Oval 51"/>
          <p:cNvSpPr>
            <a:spLocks noChangeArrowheads="1"/>
          </p:cNvSpPr>
          <p:nvPr/>
        </p:nvSpPr>
        <p:spPr bwMode="auto">
          <a:xfrm>
            <a:off x="7978088" y="478973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grpSp>
        <p:nvGrpSpPr>
          <p:cNvPr id="53" name="Group 52"/>
          <p:cNvGrpSpPr/>
          <p:nvPr/>
        </p:nvGrpSpPr>
        <p:grpSpPr>
          <a:xfrm>
            <a:off x="287524" y="944724"/>
            <a:ext cx="6624738" cy="461665"/>
            <a:chOff x="3290836" y="1158452"/>
            <a:chExt cx="4970233" cy="360331"/>
          </a:xfrm>
        </p:grpSpPr>
        <p:sp>
          <p:nvSpPr>
            <p:cNvPr id="54" name="Oval 53"/>
            <p:cNvSpPr>
              <a:spLocks noChangeArrowheads="1"/>
            </p:cNvSpPr>
            <p:nvPr/>
          </p:nvSpPr>
          <p:spPr bwMode="auto">
            <a:xfrm>
              <a:off x="3290836" y="1214655"/>
              <a:ext cx="192089" cy="199834"/>
            </a:xfrm>
            <a:prstGeom prst="ellipse">
              <a:avLst/>
            </a:prstGeom>
            <a:gradFill rotWithShape="1">
              <a:gsLst>
                <a:gs pos="0">
                  <a:srgbClr val="002060">
                    <a:alpha val="51000"/>
                  </a:srgbClr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/>
              <a:endParaRPr lang="en-US" sz="1800" b="0">
                <a:latin typeface="Book Antiqua" pitchFamily="18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468879" y="1158452"/>
              <a:ext cx="4792190" cy="360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Book Antiqua" pitchFamily="18" charset="0"/>
                </a:rPr>
                <a:t> </a:t>
              </a:r>
              <a:r>
                <a:rPr lang="en-US" sz="2400" dirty="0" smtClean="0">
                  <a:latin typeface="Book Antiqua" pitchFamily="18" charset="0"/>
                </a:rPr>
                <a:t>Insert x (x = 17 in this example )</a:t>
              </a:r>
              <a:endParaRPr lang="en-US" sz="2400" dirty="0">
                <a:latin typeface="Georgia" pitchFamily="18" charset="0"/>
              </a:endParaRPr>
            </a:p>
          </p:txBody>
        </p:sp>
      </p:grpSp>
      <p:sp>
        <p:nvSpPr>
          <p:cNvPr id="56" name="Rectangle 55"/>
          <p:cNvSpPr>
            <a:spLocks noChangeArrowheads="1"/>
          </p:cNvSpPr>
          <p:nvPr/>
        </p:nvSpPr>
        <p:spPr bwMode="auto">
          <a:xfrm>
            <a:off x="755576" y="1448779"/>
            <a:ext cx="8316924" cy="1000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chemeClr val="accent1"/>
              </a:buClr>
              <a:buSzPct val="90000"/>
              <a:buFont typeface="Wingdings 3" pitchFamily="18" charset="2"/>
              <a:buChar char="}"/>
            </a:pPr>
            <a:r>
              <a:rPr lang="en-US" sz="2600" dirty="0" smtClean="0">
                <a:solidFill>
                  <a:srgbClr val="000099"/>
                </a:solidFill>
                <a:latin typeface="Garamond" pitchFamily="18" charset="0"/>
              </a:rPr>
              <a:t>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Decrease </a:t>
            </a:r>
            <a:r>
              <a:rPr lang="en-US" sz="2600" dirty="0" smtClean="0">
                <a:solidFill>
                  <a:srgbClr val="FF0000"/>
                </a:solidFill>
                <a:latin typeface="Garamond" pitchFamily="18" charset="0"/>
              </a:rPr>
              <a:t>x</a:t>
            </a:r>
          </a:p>
          <a:p>
            <a:pPr>
              <a:spcBef>
                <a:spcPts val="600"/>
              </a:spcBef>
              <a:buClr>
                <a:schemeClr val="accent1"/>
              </a:buClr>
              <a:buSzPct val="90000"/>
              <a:buFont typeface="Wingdings 3" pitchFamily="18" charset="2"/>
              <a:buChar char="}"/>
            </a:pPr>
            <a:r>
              <a:rPr lang="en-US" sz="2600" dirty="0">
                <a:latin typeface="Garamond" pitchFamily="18" charset="0"/>
              </a:rPr>
              <a:t>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Bubble up</a:t>
            </a:r>
            <a:r>
              <a:rPr lang="en-US" sz="2600" dirty="0" smtClean="0">
                <a:latin typeface="Garamond" pitchFamily="18" charset="0"/>
              </a:rPr>
              <a:t> </a:t>
            </a:r>
            <a:r>
              <a:rPr lang="en-US" sz="2600" dirty="0" smtClean="0">
                <a:solidFill>
                  <a:srgbClr val="FF0000"/>
                </a:solidFill>
                <a:latin typeface="Garamond" pitchFamily="18" charset="0"/>
              </a:rPr>
              <a:t>until</a:t>
            </a:r>
            <a:r>
              <a:rPr lang="en-US" sz="2600" dirty="0" smtClean="0">
                <a:latin typeface="Garamond" pitchFamily="18" charset="0"/>
              </a:rPr>
              <a:t> the heap is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ordered</a:t>
            </a:r>
            <a:endParaRPr lang="en-US" sz="2800" dirty="0" smtClean="0">
              <a:solidFill>
                <a:srgbClr val="0000CC"/>
              </a:solidFill>
              <a:latin typeface="Garamond" pitchFamily="18" charset="0"/>
            </a:endParaRPr>
          </a:p>
        </p:txBody>
      </p:sp>
      <p:sp>
        <p:nvSpPr>
          <p:cNvPr id="57" name="Oval 56"/>
          <p:cNvSpPr>
            <a:spLocks noChangeArrowheads="1"/>
          </p:cNvSpPr>
          <p:nvPr/>
        </p:nvSpPr>
        <p:spPr bwMode="auto">
          <a:xfrm>
            <a:off x="3095836" y="5549799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303748" y="5805264"/>
            <a:ext cx="44518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>
                <a:solidFill>
                  <a:srgbClr val="FF0000"/>
                </a:solidFill>
              </a:rPr>
              <a:t>x</a:t>
            </a:r>
            <a:endParaRPr lang="en-US" sz="25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687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"/>
          <p:cNvSpPr>
            <a:spLocks noChangeArrowheads="1"/>
          </p:cNvSpPr>
          <p:nvPr/>
        </p:nvSpPr>
        <p:spPr bwMode="auto">
          <a:xfrm>
            <a:off x="1818694" y="3609020"/>
            <a:ext cx="2825314" cy="684076"/>
          </a:xfrm>
          <a:prstGeom prst="horizontalScroll">
            <a:avLst>
              <a:gd name="adj" fmla="val 12500"/>
            </a:avLst>
          </a:prstGeom>
          <a:solidFill>
            <a:srgbClr val="FFCC99"/>
          </a:solidFill>
          <a:ln w="381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1430" tIns="45715" rIns="91430" bIns="45715" anchor="ctr"/>
          <a:lstStyle/>
          <a:p>
            <a:endParaRPr lang="en-US"/>
          </a:p>
        </p:txBody>
      </p:sp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1818694" y="3068960"/>
            <a:ext cx="2825314" cy="684076"/>
          </a:xfrm>
          <a:prstGeom prst="horizontalScroll">
            <a:avLst>
              <a:gd name="adj" fmla="val 12500"/>
            </a:avLst>
          </a:prstGeom>
          <a:solidFill>
            <a:srgbClr val="FFCC99"/>
          </a:solidFill>
          <a:ln w="381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1430" tIns="45715" rIns="91430" bIns="45715" anchor="ctr"/>
          <a:lstStyle/>
          <a:p>
            <a:endParaRPr 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1520" y="8620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</a:rPr>
              <a:t>Binary Heap: basic properties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74068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051720" y="1664804"/>
            <a:ext cx="576064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rgbClr val="4F81BD"/>
              </a:buClr>
              <a:buSzPct val="90000"/>
              <a:buFont typeface="Wingdings 3" pitchFamily="18" charset="2"/>
              <a:buChar char="}"/>
            </a:pPr>
            <a:r>
              <a:rPr lang="en-US" sz="2800" dirty="0" smtClean="0">
                <a:solidFill>
                  <a:srgbClr val="0000CC"/>
                </a:solidFill>
                <a:latin typeface="Garamond" pitchFamily="18" charset="0"/>
              </a:rPr>
              <a:t> </a:t>
            </a:r>
            <a:r>
              <a:rPr lang="en-US" sz="2800" dirty="0" smtClean="0">
                <a:latin typeface="Garamond" pitchFamily="18" charset="0"/>
              </a:rPr>
              <a:t>Insert</a:t>
            </a:r>
          </a:p>
          <a:p>
            <a:pPr>
              <a:spcBef>
                <a:spcPts val="600"/>
              </a:spcBef>
              <a:buClr>
                <a:srgbClr val="4F81BD"/>
              </a:buClr>
              <a:buSzPct val="90000"/>
              <a:buFont typeface="Wingdings 3" pitchFamily="18" charset="2"/>
              <a:buChar char="}"/>
            </a:pPr>
            <a:r>
              <a:rPr lang="en-US" sz="2800" dirty="0">
                <a:latin typeface="Garamond" pitchFamily="18" charset="0"/>
              </a:rPr>
              <a:t> </a:t>
            </a:r>
            <a:r>
              <a:rPr lang="en-US" sz="2800" dirty="0" smtClean="0">
                <a:latin typeface="Garamond" pitchFamily="18" charset="0"/>
              </a:rPr>
              <a:t>Extract min</a:t>
            </a:r>
          </a:p>
          <a:p>
            <a:pPr>
              <a:spcBef>
                <a:spcPts val="600"/>
              </a:spcBef>
              <a:buClr>
                <a:srgbClr val="4F81BD"/>
              </a:buClr>
              <a:buSzPct val="90000"/>
              <a:buFont typeface="Wingdings 3" pitchFamily="18" charset="2"/>
              <a:buChar char="}"/>
            </a:pPr>
            <a:r>
              <a:rPr lang="en-US" sz="2800" dirty="0">
                <a:latin typeface="Garamond" pitchFamily="18" charset="0"/>
              </a:rPr>
              <a:t> </a:t>
            </a:r>
            <a:r>
              <a:rPr lang="en-US" sz="2800" dirty="0" smtClean="0">
                <a:latin typeface="Garamond" pitchFamily="18" charset="0"/>
              </a:rPr>
              <a:t>Decrease key</a:t>
            </a:r>
          </a:p>
          <a:p>
            <a:pPr>
              <a:spcBef>
                <a:spcPts val="600"/>
              </a:spcBef>
              <a:buClr>
                <a:srgbClr val="4F81BD"/>
              </a:buClr>
              <a:buSzPct val="90000"/>
              <a:buFont typeface="Wingdings 3" pitchFamily="18" charset="2"/>
              <a:buChar char="}"/>
            </a:pPr>
            <a:r>
              <a:rPr lang="en-US" sz="2800" dirty="0">
                <a:latin typeface="Garamond" pitchFamily="18" charset="0"/>
              </a:rPr>
              <a:t> </a:t>
            </a:r>
            <a:r>
              <a:rPr lang="en-US" sz="2800" dirty="0" smtClean="0">
                <a:latin typeface="Garamond" pitchFamily="18" charset="0"/>
              </a:rPr>
              <a:t>Find min</a:t>
            </a:r>
          </a:p>
          <a:p>
            <a:pPr>
              <a:spcBef>
                <a:spcPts val="600"/>
              </a:spcBef>
              <a:buClr>
                <a:srgbClr val="4F81BD"/>
              </a:buClr>
              <a:buSzPct val="90000"/>
              <a:buFont typeface="Wingdings 3" pitchFamily="18" charset="2"/>
              <a:buChar char="}"/>
            </a:pPr>
            <a:r>
              <a:rPr lang="en-US" sz="2800" dirty="0">
                <a:latin typeface="Garamond" pitchFamily="18" charset="0"/>
              </a:rPr>
              <a:t> </a:t>
            </a:r>
            <a:r>
              <a:rPr lang="en-US" sz="2800" dirty="0" smtClean="0">
                <a:latin typeface="Garamond" pitchFamily="18" charset="0"/>
              </a:rPr>
              <a:t>Delete</a:t>
            </a: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2051720" y="5049180"/>
            <a:ext cx="4860540" cy="79208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57150">
            <a:solidFill>
              <a:schemeClr val="tx2"/>
            </a:solidFill>
            <a:round/>
            <a:headEnd/>
            <a:tailEnd/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lvl="0" algn="ctr"/>
            <a:r>
              <a:rPr lang="en-US" sz="2600" dirty="0" smtClean="0">
                <a:latin typeface="Book Antiqua" pitchFamily="18" charset="0"/>
              </a:rPr>
              <a:t>Just return the </a:t>
            </a:r>
            <a:r>
              <a:rPr lang="en-US" sz="2600" dirty="0" smtClean="0">
                <a:solidFill>
                  <a:srgbClr val="FF0000"/>
                </a:solidFill>
                <a:latin typeface="Book Antiqua" pitchFamily="18" charset="0"/>
              </a:rPr>
              <a:t>root</a:t>
            </a:r>
            <a:r>
              <a:rPr lang="en-US" sz="2600" dirty="0" smtClean="0">
                <a:latin typeface="Book Antiqua" pitchFamily="18" charset="0"/>
              </a:rPr>
              <a:t>!</a:t>
            </a:r>
            <a:endParaRPr lang="en-US" sz="2600" dirty="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1062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 animBg="1"/>
      <p:bldP spid="6" grpId="1" animBg="1"/>
      <p:bldP spid="7" grpId="0" animBg="1"/>
      <p:bldP spid="7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7571" y="8620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Min Heap: Delete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02060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24" name="Straight Connector 23"/>
          <p:cNvCxnSpPr/>
          <p:nvPr/>
        </p:nvCxnSpPr>
        <p:spPr>
          <a:xfrm flipV="1">
            <a:off x="3265000" y="4905164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 flipV="1">
            <a:off x="4834884" y="3022100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2987824" y="3022100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47" idx="1"/>
          </p:cNvCxnSpPr>
          <p:nvPr/>
        </p:nvCxnSpPr>
        <p:spPr>
          <a:xfrm flipH="1" flipV="1">
            <a:off x="2913540" y="403096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1799692" y="393305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46" idx="1"/>
          </p:cNvCxnSpPr>
          <p:nvPr/>
        </p:nvCxnSpPr>
        <p:spPr>
          <a:xfrm flipH="1" flipV="1">
            <a:off x="1724658" y="4894309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1040172" y="489430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>
            <a:spLocks noChangeArrowheads="1"/>
          </p:cNvSpPr>
          <p:nvPr/>
        </p:nvSpPr>
        <p:spPr bwMode="auto">
          <a:xfrm>
            <a:off x="4665720" y="285293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6</a:t>
            </a:r>
          </a:p>
        </p:txBody>
      </p:sp>
      <p:sp>
        <p:nvSpPr>
          <p:cNvPr id="38" name="Oval 37"/>
          <p:cNvSpPr>
            <a:spLocks noChangeArrowheads="1"/>
          </p:cNvSpPr>
          <p:nvPr/>
        </p:nvSpPr>
        <p:spPr bwMode="auto">
          <a:xfrm>
            <a:off x="2699792" y="38250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9" name="Oval 38"/>
          <p:cNvSpPr>
            <a:spLocks noChangeArrowheads="1"/>
          </p:cNvSpPr>
          <p:nvPr/>
        </p:nvSpPr>
        <p:spPr bwMode="auto">
          <a:xfrm>
            <a:off x="1555494" y="47251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5" name="Oval 44"/>
          <p:cNvSpPr>
            <a:spLocks noChangeArrowheads="1"/>
          </p:cNvSpPr>
          <p:nvPr/>
        </p:nvSpPr>
        <p:spPr bwMode="auto">
          <a:xfrm>
            <a:off x="871008" y="55389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6" name="Oval 45"/>
          <p:cNvSpPr>
            <a:spLocks noChangeArrowheads="1"/>
          </p:cNvSpPr>
          <p:nvPr/>
        </p:nvSpPr>
        <p:spPr bwMode="auto">
          <a:xfrm>
            <a:off x="2289456" y="555323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7" name="Oval 46"/>
          <p:cNvSpPr>
            <a:spLocks noChangeArrowheads="1"/>
          </p:cNvSpPr>
          <p:nvPr/>
        </p:nvSpPr>
        <p:spPr bwMode="auto">
          <a:xfrm>
            <a:off x="3801624" y="470343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18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48" name="Straight Connector 47"/>
          <p:cNvCxnSpPr>
            <a:stCxn id="52" idx="1"/>
          </p:cNvCxnSpPr>
          <p:nvPr/>
        </p:nvCxnSpPr>
        <p:spPr>
          <a:xfrm flipH="1" flipV="1">
            <a:off x="7090004" y="411726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5976156" y="401935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>
            <a:spLocks noChangeArrowheads="1"/>
          </p:cNvSpPr>
          <p:nvPr/>
        </p:nvSpPr>
        <p:spPr bwMode="auto">
          <a:xfrm>
            <a:off x="6876256" y="39113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8</a:t>
            </a:r>
          </a:p>
        </p:txBody>
      </p:sp>
      <p:sp>
        <p:nvSpPr>
          <p:cNvPr id="51" name="Oval 50"/>
          <p:cNvSpPr>
            <a:spLocks noChangeArrowheads="1"/>
          </p:cNvSpPr>
          <p:nvPr/>
        </p:nvSpPr>
        <p:spPr bwMode="auto">
          <a:xfrm>
            <a:off x="5731958" y="481144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52" name="Oval 51"/>
          <p:cNvSpPr>
            <a:spLocks noChangeArrowheads="1"/>
          </p:cNvSpPr>
          <p:nvPr/>
        </p:nvSpPr>
        <p:spPr bwMode="auto">
          <a:xfrm>
            <a:off x="7978088" y="478973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grpSp>
        <p:nvGrpSpPr>
          <p:cNvPr id="53" name="Group 52"/>
          <p:cNvGrpSpPr/>
          <p:nvPr/>
        </p:nvGrpSpPr>
        <p:grpSpPr>
          <a:xfrm>
            <a:off x="287524" y="944724"/>
            <a:ext cx="6624738" cy="461665"/>
            <a:chOff x="3290836" y="1158452"/>
            <a:chExt cx="4970233" cy="360331"/>
          </a:xfrm>
        </p:grpSpPr>
        <p:sp>
          <p:nvSpPr>
            <p:cNvPr id="54" name="Oval 53"/>
            <p:cNvSpPr>
              <a:spLocks noChangeArrowheads="1"/>
            </p:cNvSpPr>
            <p:nvPr/>
          </p:nvSpPr>
          <p:spPr bwMode="auto">
            <a:xfrm>
              <a:off x="3290836" y="1214655"/>
              <a:ext cx="192089" cy="199834"/>
            </a:xfrm>
            <a:prstGeom prst="ellipse">
              <a:avLst/>
            </a:prstGeom>
            <a:gradFill rotWithShape="1">
              <a:gsLst>
                <a:gs pos="0">
                  <a:srgbClr val="002060">
                    <a:alpha val="51000"/>
                  </a:srgbClr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/>
              <a:endParaRPr lang="en-US" sz="1800" b="0">
                <a:latin typeface="Book Antiqua" pitchFamily="18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468879" y="1158452"/>
              <a:ext cx="4792190" cy="360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Book Antiqua" pitchFamily="18" charset="0"/>
                </a:rPr>
                <a:t> </a:t>
              </a:r>
              <a:r>
                <a:rPr lang="en-US" sz="2400" dirty="0" smtClean="0">
                  <a:latin typeface="Book Antiqua" pitchFamily="18" charset="0"/>
                </a:rPr>
                <a:t>Delete x (x =10 in this example)</a:t>
              </a:r>
              <a:endParaRPr lang="en-US" sz="2400" dirty="0">
                <a:latin typeface="Georgia" pitchFamily="18" charset="0"/>
              </a:endParaRPr>
            </a:p>
          </p:txBody>
        </p:sp>
      </p:grpSp>
      <p:sp>
        <p:nvSpPr>
          <p:cNvPr id="56" name="Rectangle 55"/>
          <p:cNvSpPr>
            <a:spLocks noChangeArrowheads="1"/>
          </p:cNvSpPr>
          <p:nvPr/>
        </p:nvSpPr>
        <p:spPr bwMode="auto">
          <a:xfrm>
            <a:off x="755576" y="1448779"/>
            <a:ext cx="8316924" cy="1000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chemeClr val="accent1"/>
              </a:buClr>
              <a:buSzPct val="90000"/>
              <a:buFont typeface="Wingdings 3" pitchFamily="18" charset="2"/>
              <a:buChar char="}"/>
            </a:pPr>
            <a:r>
              <a:rPr lang="en-US" sz="2600" dirty="0" smtClean="0">
                <a:solidFill>
                  <a:srgbClr val="000099"/>
                </a:solidFill>
                <a:latin typeface="Garamond" pitchFamily="18" charset="0"/>
              </a:rPr>
              <a:t>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Exchange with </a:t>
            </a:r>
            <a:r>
              <a:rPr lang="en-US" sz="2600" dirty="0" smtClean="0">
                <a:solidFill>
                  <a:srgbClr val="FF0000"/>
                </a:solidFill>
                <a:latin typeface="Garamond" pitchFamily="18" charset="0"/>
              </a:rPr>
              <a:t>the last node</a:t>
            </a:r>
          </a:p>
          <a:p>
            <a:pPr>
              <a:spcBef>
                <a:spcPts val="600"/>
              </a:spcBef>
              <a:buClr>
                <a:schemeClr val="accent1"/>
              </a:buClr>
              <a:buSzPct val="90000"/>
              <a:buFont typeface="Wingdings 3" pitchFamily="18" charset="2"/>
              <a:buChar char="}"/>
            </a:pPr>
            <a:r>
              <a:rPr lang="en-US" sz="2600" dirty="0">
                <a:latin typeface="Garamond" pitchFamily="18" charset="0"/>
              </a:rPr>
              <a:t>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Bubble up/sink down</a:t>
            </a:r>
            <a:r>
              <a:rPr lang="en-US" sz="2600" dirty="0" smtClean="0">
                <a:latin typeface="Garamond" pitchFamily="18" charset="0"/>
              </a:rPr>
              <a:t> </a:t>
            </a:r>
            <a:r>
              <a:rPr lang="en-US" sz="2600" dirty="0" smtClean="0">
                <a:solidFill>
                  <a:srgbClr val="FF0000"/>
                </a:solidFill>
                <a:latin typeface="Garamond" pitchFamily="18" charset="0"/>
              </a:rPr>
              <a:t>until</a:t>
            </a:r>
            <a:r>
              <a:rPr lang="en-US" sz="2600" dirty="0" smtClean="0">
                <a:latin typeface="Garamond" pitchFamily="18" charset="0"/>
              </a:rPr>
              <a:t> the heap is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ordered</a:t>
            </a:r>
            <a:endParaRPr lang="en-US" sz="2800" dirty="0" smtClean="0">
              <a:solidFill>
                <a:srgbClr val="0000CC"/>
              </a:solidFill>
              <a:latin typeface="Garamond" pitchFamily="18" charset="0"/>
            </a:endParaRPr>
          </a:p>
        </p:txBody>
      </p:sp>
      <p:sp>
        <p:nvSpPr>
          <p:cNvPr id="57" name="Oval 56"/>
          <p:cNvSpPr>
            <a:spLocks noChangeArrowheads="1"/>
          </p:cNvSpPr>
          <p:nvPr/>
        </p:nvSpPr>
        <p:spPr bwMode="auto">
          <a:xfrm>
            <a:off x="3095836" y="5549799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86659" y="3383994"/>
            <a:ext cx="44518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>
                <a:solidFill>
                  <a:srgbClr val="FF0000"/>
                </a:solidFill>
              </a:rPr>
              <a:t>x</a:t>
            </a:r>
            <a:endParaRPr lang="en-US" sz="25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63988" y="5734417"/>
            <a:ext cx="38524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rgbClr val="0000CC"/>
                </a:solidFill>
                <a:latin typeface="Trebuchet MS" pitchFamily="34" charset="0"/>
              </a:rPr>
              <a:t>Bubble</a:t>
            </a:r>
            <a:r>
              <a:rPr lang="en-US" sz="2200" dirty="0" smtClean="0">
                <a:latin typeface="Trebuchet MS" pitchFamily="34" charset="0"/>
              </a:rPr>
              <a:t> up or </a:t>
            </a:r>
            <a:r>
              <a:rPr lang="en-US" sz="2200" dirty="0" smtClean="0">
                <a:solidFill>
                  <a:srgbClr val="FF0000"/>
                </a:solidFill>
                <a:latin typeface="Trebuchet MS" pitchFamily="34" charset="0"/>
              </a:rPr>
              <a:t>Sink</a:t>
            </a:r>
            <a:r>
              <a:rPr lang="en-US" sz="2200" dirty="0" smtClean="0">
                <a:latin typeface="Trebuchet MS" pitchFamily="34" charset="0"/>
              </a:rPr>
              <a:t> down?</a:t>
            </a:r>
            <a:endParaRPr lang="en-US" sz="2200" dirty="0">
              <a:latin typeface="Trebuchet MS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463988" y="6202469"/>
            <a:ext cx="38524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rgbClr val="FF0000"/>
                </a:solidFill>
                <a:latin typeface="Trebuchet MS" pitchFamily="34" charset="0"/>
              </a:rPr>
              <a:t>What if</a:t>
            </a:r>
            <a:r>
              <a:rPr lang="en-US" sz="2200" dirty="0" smtClean="0">
                <a:latin typeface="Trebuchet MS" pitchFamily="34" charset="0"/>
              </a:rPr>
              <a:t> x = 11?</a:t>
            </a:r>
            <a:endParaRPr lang="en-US" sz="2200" dirty="0">
              <a:latin typeface="Trebuchet MS" pitchFamily="34" charset="0"/>
            </a:endParaRPr>
          </a:p>
        </p:txBody>
      </p:sp>
      <p:sp>
        <p:nvSpPr>
          <p:cNvPr id="33" name="Freeform 32"/>
          <p:cNvSpPr/>
          <p:nvPr/>
        </p:nvSpPr>
        <p:spPr>
          <a:xfrm rot="15394044">
            <a:off x="2130018" y="4758770"/>
            <a:ext cx="1306707" cy="329245"/>
          </a:xfrm>
          <a:custGeom>
            <a:avLst/>
            <a:gdLst>
              <a:gd name="connsiteX0" fmla="*/ 0 w 1109472"/>
              <a:gd name="connsiteY0" fmla="*/ 329202 h 341394"/>
              <a:gd name="connsiteX1" fmla="*/ 560832 w 1109472"/>
              <a:gd name="connsiteY1" fmla="*/ 18 h 341394"/>
              <a:gd name="connsiteX2" fmla="*/ 1109472 w 1109472"/>
              <a:gd name="connsiteY2" fmla="*/ 341394 h 34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9472" h="341394">
                <a:moveTo>
                  <a:pt x="0" y="329202"/>
                </a:moveTo>
                <a:cubicBezTo>
                  <a:pt x="187960" y="163594"/>
                  <a:pt x="375920" y="-2014"/>
                  <a:pt x="560832" y="18"/>
                </a:cubicBezTo>
                <a:cubicBezTo>
                  <a:pt x="745744" y="2050"/>
                  <a:pt x="927608" y="171722"/>
                  <a:pt x="1109472" y="341394"/>
                </a:cubicBezTo>
              </a:path>
            </a:pathLst>
          </a:custGeom>
          <a:ln w="3810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718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7571" y="8620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Min Heap: Running time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02060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647705"/>
              </p:ext>
            </p:extLst>
          </p:nvPr>
        </p:nvGraphicFramePr>
        <p:xfrm>
          <a:off x="2123728" y="1744020"/>
          <a:ext cx="492020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0104"/>
                <a:gridCol w="246010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Book Antiqua" pitchFamily="18" charset="0"/>
                        </a:rPr>
                        <a:t>Operation</a:t>
                      </a:r>
                      <a:endParaRPr lang="en-US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Book Antiqua" pitchFamily="18" charset="0"/>
                        </a:rPr>
                        <a:t>Running</a:t>
                      </a:r>
                      <a:r>
                        <a:rPr lang="en-US" baseline="0" dirty="0" smtClean="0">
                          <a:latin typeface="Book Antiqua" pitchFamily="18" charset="0"/>
                        </a:rPr>
                        <a:t> time</a:t>
                      </a:r>
                      <a:endParaRPr lang="en-US" dirty="0">
                        <a:latin typeface="Book Antiqua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Book Antiqua" pitchFamily="18" charset="0"/>
                        </a:rPr>
                        <a:t>Insert</a:t>
                      </a:r>
                      <a:endParaRPr lang="en-US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Book Antiqua" pitchFamily="18" charset="0"/>
                        </a:rPr>
                        <a:t>O(</a:t>
                      </a:r>
                      <a:r>
                        <a:rPr lang="en-US" dirty="0" err="1" smtClean="0">
                          <a:latin typeface="Book Antiqua" pitchFamily="18" charset="0"/>
                        </a:rPr>
                        <a:t>logn</a:t>
                      </a:r>
                      <a:r>
                        <a:rPr lang="en-US" dirty="0" smtClean="0">
                          <a:latin typeface="Book Antiqua" pitchFamily="18" charset="0"/>
                        </a:rPr>
                        <a:t>)</a:t>
                      </a:r>
                      <a:endParaRPr lang="en-US" dirty="0">
                        <a:latin typeface="Book Antiqua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Book Antiqua" pitchFamily="18" charset="0"/>
                        </a:rPr>
                        <a:t>Decrease</a:t>
                      </a:r>
                      <a:r>
                        <a:rPr lang="en-US" baseline="0" dirty="0" smtClean="0">
                          <a:latin typeface="Book Antiqua" pitchFamily="18" charset="0"/>
                        </a:rPr>
                        <a:t> key</a:t>
                      </a:r>
                      <a:endParaRPr lang="en-US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Book Antiqua" pitchFamily="18" charset="0"/>
                        </a:rPr>
                        <a:t>O(</a:t>
                      </a:r>
                      <a:r>
                        <a:rPr lang="en-US" dirty="0" err="1" smtClean="0">
                          <a:latin typeface="Book Antiqua" pitchFamily="18" charset="0"/>
                        </a:rPr>
                        <a:t>logn</a:t>
                      </a:r>
                      <a:r>
                        <a:rPr lang="en-US" dirty="0" smtClean="0">
                          <a:latin typeface="Book Antiqua" pitchFamily="18" charset="0"/>
                        </a:rPr>
                        <a:t>)</a:t>
                      </a:r>
                      <a:endParaRPr lang="en-US" dirty="0">
                        <a:latin typeface="Book Antiqua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Book Antiqua" pitchFamily="18" charset="0"/>
                        </a:rPr>
                        <a:t>Extract min</a:t>
                      </a:r>
                      <a:endParaRPr lang="en-US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Book Antiqua" pitchFamily="18" charset="0"/>
                        </a:rPr>
                        <a:t>O(</a:t>
                      </a:r>
                      <a:r>
                        <a:rPr lang="en-US" dirty="0" err="1" smtClean="0">
                          <a:latin typeface="Book Antiqua" pitchFamily="18" charset="0"/>
                        </a:rPr>
                        <a:t>logn</a:t>
                      </a:r>
                      <a:r>
                        <a:rPr lang="en-US" dirty="0" smtClean="0">
                          <a:latin typeface="Book Antiqua" pitchFamily="18" charset="0"/>
                        </a:rPr>
                        <a:t>)</a:t>
                      </a:r>
                      <a:endParaRPr lang="en-US" dirty="0">
                        <a:latin typeface="Book Antiqua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Book Antiqua" pitchFamily="18" charset="0"/>
                        </a:rPr>
                        <a:t>Delete</a:t>
                      </a:r>
                      <a:endParaRPr lang="en-US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Book Antiqua" pitchFamily="18" charset="0"/>
                        </a:rPr>
                        <a:t>O(</a:t>
                      </a:r>
                      <a:r>
                        <a:rPr lang="en-US" dirty="0" err="1" smtClean="0">
                          <a:latin typeface="Book Antiqua" pitchFamily="18" charset="0"/>
                        </a:rPr>
                        <a:t>logn</a:t>
                      </a:r>
                      <a:r>
                        <a:rPr lang="en-US" dirty="0" smtClean="0">
                          <a:latin typeface="Book Antiqua" pitchFamily="18" charset="0"/>
                        </a:rPr>
                        <a:t>)</a:t>
                      </a:r>
                      <a:endParaRPr lang="en-US" dirty="0">
                        <a:latin typeface="Book Antiqua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Book Antiqua" pitchFamily="18" charset="0"/>
                        </a:rPr>
                        <a:t>Find min</a:t>
                      </a:r>
                      <a:endParaRPr lang="en-US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Book Antiqua" pitchFamily="18" charset="0"/>
                        </a:rPr>
                        <a:t>O(1)</a:t>
                      </a:r>
                      <a:endParaRPr lang="en-US" dirty="0">
                        <a:latin typeface="Book Antiqua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3431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7571" y="8620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Building a heap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02060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75556" y="1628800"/>
            <a:ext cx="8316924" cy="2646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chemeClr val="accent1"/>
              </a:buClr>
              <a:buSzPct val="90000"/>
              <a:buFont typeface="Wingdings 3" pitchFamily="18" charset="2"/>
              <a:buChar char="}"/>
            </a:pPr>
            <a:r>
              <a:rPr lang="en-US" sz="2600" b="1" dirty="0" smtClean="0">
                <a:solidFill>
                  <a:srgbClr val="000099"/>
                </a:solidFill>
                <a:latin typeface="Garamond" pitchFamily="18" charset="0"/>
              </a:rPr>
              <a:t> </a:t>
            </a:r>
            <a:r>
              <a:rPr lang="en-US" sz="2600" b="1" dirty="0" smtClean="0">
                <a:latin typeface="Garamond" pitchFamily="18" charset="0"/>
              </a:rPr>
              <a:t>Method 1:</a:t>
            </a:r>
            <a:r>
              <a:rPr lang="en-US" sz="2600" dirty="0" smtClean="0">
                <a:latin typeface="Garamond" pitchFamily="18" charset="0"/>
              </a:rPr>
              <a:t>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Perform </a:t>
            </a:r>
            <a:r>
              <a:rPr lang="en-US" sz="2600" dirty="0" smtClean="0">
                <a:latin typeface="Garamond" pitchFamily="18" charset="0"/>
              </a:rPr>
              <a:t>n </a:t>
            </a:r>
            <a:r>
              <a:rPr lang="en-US" sz="2600" dirty="0" smtClean="0">
                <a:solidFill>
                  <a:srgbClr val="FF0000"/>
                </a:solidFill>
                <a:latin typeface="Garamond" pitchFamily="18" charset="0"/>
              </a:rPr>
              <a:t>insert</a:t>
            </a:r>
            <a:r>
              <a:rPr lang="en-US" sz="2600" dirty="0" smtClean="0">
                <a:latin typeface="Garamond" pitchFamily="18" charset="0"/>
              </a:rPr>
              <a:t> operations</a:t>
            </a:r>
          </a:p>
          <a:p>
            <a:pPr lvl="1">
              <a:spcBef>
                <a:spcPts val="600"/>
              </a:spcBef>
              <a:buClr>
                <a:schemeClr val="accent1"/>
              </a:buClr>
              <a:buSzPct val="90000"/>
              <a:buFont typeface="Wingdings 3" pitchFamily="18" charset="2"/>
              <a:buChar char="}"/>
            </a:pPr>
            <a:r>
              <a:rPr lang="en-US" sz="2600" dirty="0">
                <a:solidFill>
                  <a:srgbClr val="000099"/>
                </a:solidFill>
                <a:latin typeface="Garamond" pitchFamily="18" charset="0"/>
              </a:rPr>
              <a:t> </a:t>
            </a:r>
            <a:r>
              <a:rPr lang="en-US" sz="2600" dirty="0" smtClean="0">
                <a:latin typeface="Garamond" pitchFamily="18" charset="0"/>
              </a:rPr>
              <a:t>Running time: O(</a:t>
            </a:r>
            <a:r>
              <a:rPr lang="en-US" sz="2600" dirty="0" err="1" smtClean="0">
                <a:latin typeface="Garamond" pitchFamily="18" charset="0"/>
              </a:rPr>
              <a:t>nlogn</a:t>
            </a:r>
            <a:r>
              <a:rPr lang="en-US" sz="2600" dirty="0" smtClean="0">
                <a:latin typeface="Garamond" pitchFamily="18" charset="0"/>
              </a:rPr>
              <a:t>)</a:t>
            </a:r>
          </a:p>
          <a:p>
            <a:pPr>
              <a:spcBef>
                <a:spcPts val="600"/>
              </a:spcBef>
              <a:buClr>
                <a:schemeClr val="accent1"/>
              </a:buClr>
              <a:buSzPct val="90000"/>
              <a:buFont typeface="Wingdings 3" pitchFamily="18" charset="2"/>
              <a:buChar char="}"/>
            </a:pPr>
            <a:r>
              <a:rPr lang="en-US" sz="2600" b="1" dirty="0" smtClean="0">
                <a:latin typeface="Garamond" pitchFamily="18" charset="0"/>
              </a:rPr>
              <a:t> Method 2:</a:t>
            </a:r>
            <a:r>
              <a:rPr lang="en-US" sz="2600" dirty="0" smtClean="0">
                <a:latin typeface="Garamond" pitchFamily="18" charset="0"/>
              </a:rPr>
              <a:t>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Construct</a:t>
            </a:r>
            <a:r>
              <a:rPr lang="en-US" sz="2600" dirty="0" smtClean="0">
                <a:latin typeface="Garamond" pitchFamily="18" charset="0"/>
              </a:rPr>
              <a:t> a binary tree; for i = n to 1, repeatedly exchange the element in node i with its smaller child until the heap property is achieved (i.e., 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perform</a:t>
            </a:r>
            <a:r>
              <a:rPr lang="en-US" sz="2600" dirty="0" smtClean="0">
                <a:latin typeface="Garamond" pitchFamily="18" charset="0"/>
              </a:rPr>
              <a:t> </a:t>
            </a:r>
            <a:r>
              <a:rPr lang="en-US" sz="2600" dirty="0" err="1" smtClean="0">
                <a:solidFill>
                  <a:srgbClr val="FF0000"/>
                </a:solidFill>
                <a:latin typeface="Garamond" pitchFamily="18" charset="0"/>
              </a:rPr>
              <a:t>heapify</a:t>
            </a:r>
            <a:r>
              <a:rPr lang="en-US" sz="2600" dirty="0" smtClean="0">
                <a:solidFill>
                  <a:srgbClr val="FF0000"/>
                </a:solidFill>
                <a:latin typeface="Garamond" pitchFamily="18" charset="0"/>
              </a:rPr>
              <a:t> </a:t>
            </a:r>
            <a:r>
              <a:rPr lang="en-US" sz="2600" dirty="0" smtClean="0">
                <a:latin typeface="Garamond" pitchFamily="18" charset="0"/>
              </a:rPr>
              <a:t>for each node in a </a:t>
            </a:r>
            <a:r>
              <a:rPr lang="en-US" sz="2600" dirty="0" smtClean="0">
                <a:solidFill>
                  <a:srgbClr val="FF0000"/>
                </a:solidFill>
                <a:latin typeface="Garamond" pitchFamily="18" charset="0"/>
              </a:rPr>
              <a:t>bottom-up</a:t>
            </a:r>
            <a:r>
              <a:rPr lang="en-US" sz="2600" dirty="0" smtClean="0">
                <a:latin typeface="Garamond" pitchFamily="18" charset="0"/>
              </a:rPr>
              <a:t> fashion)</a:t>
            </a:r>
            <a:endParaRPr lang="en-US" sz="2800" dirty="0" smtClean="0">
              <a:latin typeface="Garamond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7524" y="944724"/>
            <a:ext cx="6624738" cy="461665"/>
            <a:chOff x="3290836" y="1158452"/>
            <a:chExt cx="4970233" cy="360331"/>
          </a:xfrm>
        </p:grpSpPr>
        <p:sp>
          <p:nvSpPr>
            <p:cNvPr id="9" name="Oval 8"/>
            <p:cNvSpPr>
              <a:spLocks noChangeArrowheads="1"/>
            </p:cNvSpPr>
            <p:nvPr/>
          </p:nvSpPr>
          <p:spPr bwMode="auto">
            <a:xfrm>
              <a:off x="3290836" y="1214655"/>
              <a:ext cx="192089" cy="199834"/>
            </a:xfrm>
            <a:prstGeom prst="ellipse">
              <a:avLst/>
            </a:prstGeom>
            <a:gradFill rotWithShape="1">
              <a:gsLst>
                <a:gs pos="0">
                  <a:srgbClr val="002060">
                    <a:alpha val="51000"/>
                  </a:srgbClr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/>
              <a:endParaRPr lang="en-US" sz="1800" b="0">
                <a:latin typeface="Book Antiqua" pitchFamily="18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468879" y="1158452"/>
              <a:ext cx="4792190" cy="360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Book Antiqua" pitchFamily="18" charset="0"/>
                </a:rPr>
                <a:t> </a:t>
              </a:r>
              <a:r>
                <a:rPr lang="en-US" sz="2400" dirty="0" smtClean="0">
                  <a:latin typeface="Book Antiqua" pitchFamily="18" charset="0"/>
                </a:rPr>
                <a:t>Given n elements, </a:t>
              </a:r>
              <a:r>
                <a:rPr lang="en-US" sz="2400" dirty="0" smtClean="0">
                  <a:solidFill>
                    <a:srgbClr val="0000CC"/>
                  </a:solidFill>
                  <a:latin typeface="Book Antiqua" pitchFamily="18" charset="0"/>
                </a:rPr>
                <a:t>construct</a:t>
              </a:r>
              <a:r>
                <a:rPr lang="en-US" sz="2400" dirty="0" smtClean="0">
                  <a:latin typeface="Book Antiqua" pitchFamily="18" charset="0"/>
                </a:rPr>
                <a:t> a binary a heap</a:t>
              </a:r>
              <a:endParaRPr lang="en-US" sz="2400" dirty="0">
                <a:latin typeface="Georgia" pitchFamily="18" charset="0"/>
              </a:endParaRPr>
            </a:p>
          </p:txBody>
        </p:sp>
      </p:grpSp>
      <p:sp>
        <p:nvSpPr>
          <p:cNvPr id="12" name="AutoShape 5"/>
          <p:cNvSpPr>
            <a:spLocks noChangeArrowheads="1"/>
          </p:cNvSpPr>
          <p:nvPr/>
        </p:nvSpPr>
        <p:spPr bwMode="auto">
          <a:xfrm>
            <a:off x="611560" y="5114801"/>
            <a:ext cx="8194376" cy="1302531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57150">
            <a:solidFill>
              <a:schemeClr val="tx2"/>
            </a:solidFill>
            <a:round/>
            <a:headEnd/>
            <a:tailEnd/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US" sz="2200" dirty="0" smtClean="0">
                <a:solidFill>
                  <a:srgbClr val="FF0000"/>
                </a:solidFill>
                <a:latin typeface="Trebuchet MS" pitchFamily="34" charset="0"/>
              </a:rPr>
              <a:t>Repeatedly </a:t>
            </a:r>
            <a:r>
              <a:rPr lang="en-US" sz="2200" dirty="0" smtClean="0">
                <a:solidFill>
                  <a:srgbClr val="0000CC"/>
                </a:solidFill>
                <a:latin typeface="Trebuchet MS" pitchFamily="34" charset="0"/>
              </a:rPr>
              <a:t>exchanging</a:t>
            </a:r>
            <a:r>
              <a:rPr lang="en-US" sz="2200" dirty="0" smtClean="0">
                <a:latin typeface="Trebuchet MS" pitchFamily="34" charset="0"/>
              </a:rPr>
              <a:t> an element with </a:t>
            </a:r>
            <a:r>
              <a:rPr lang="en-US" sz="2200" dirty="0">
                <a:latin typeface="Trebuchet MS" pitchFamily="34" charset="0"/>
              </a:rPr>
              <a:t>its </a:t>
            </a:r>
            <a:r>
              <a:rPr lang="en-US" sz="2200" dirty="0">
                <a:solidFill>
                  <a:srgbClr val="0000CC"/>
                </a:solidFill>
                <a:latin typeface="Trebuchet MS" pitchFamily="34" charset="0"/>
              </a:rPr>
              <a:t>smaller</a:t>
            </a:r>
            <a:r>
              <a:rPr lang="en-US" sz="2200" dirty="0">
                <a:latin typeface="Trebuchet MS" pitchFamily="34" charset="0"/>
              </a:rPr>
              <a:t> child </a:t>
            </a:r>
            <a:endParaRPr lang="en-US" sz="2200" dirty="0" smtClean="0">
              <a:latin typeface="Trebuchet MS" pitchFamily="34" charset="0"/>
            </a:endParaRPr>
          </a:p>
          <a:p>
            <a:pPr algn="ctr"/>
            <a:r>
              <a:rPr lang="en-US" sz="2200" dirty="0" smtClean="0">
                <a:solidFill>
                  <a:srgbClr val="FF0000"/>
                </a:solidFill>
                <a:latin typeface="Trebuchet MS" pitchFamily="34" charset="0"/>
              </a:rPr>
              <a:t>until</a:t>
            </a:r>
            <a:r>
              <a:rPr lang="en-US" sz="2200" dirty="0" smtClean="0">
                <a:latin typeface="Trebuchet MS" pitchFamily="34" charset="0"/>
              </a:rPr>
              <a:t> </a:t>
            </a:r>
            <a:r>
              <a:rPr lang="en-US" sz="2200" dirty="0">
                <a:latin typeface="Trebuchet MS" pitchFamily="34" charset="0"/>
              </a:rPr>
              <a:t>the </a:t>
            </a:r>
            <a:r>
              <a:rPr lang="en-US" sz="2200" dirty="0">
                <a:solidFill>
                  <a:srgbClr val="0000CC"/>
                </a:solidFill>
                <a:latin typeface="Trebuchet MS" pitchFamily="34" charset="0"/>
              </a:rPr>
              <a:t>heap property</a:t>
            </a:r>
            <a:r>
              <a:rPr lang="en-US" sz="2200" dirty="0">
                <a:latin typeface="Trebuchet MS" pitchFamily="34" charset="0"/>
              </a:rPr>
              <a:t> is </a:t>
            </a:r>
            <a:r>
              <a:rPr lang="en-US" sz="2200" dirty="0">
                <a:solidFill>
                  <a:srgbClr val="0000CC"/>
                </a:solidFill>
                <a:latin typeface="Trebuchet MS" pitchFamily="34" charset="0"/>
              </a:rPr>
              <a:t>achieved</a:t>
            </a:r>
            <a:endParaRPr lang="en-US" sz="2200" dirty="0">
              <a:solidFill>
                <a:srgbClr val="0000CC"/>
              </a:solidFill>
              <a:latin typeface="Trebuchet MS" pitchFamily="34" charset="0"/>
              <a:cs typeface="Courier New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37084" y="4905164"/>
            <a:ext cx="2030760" cy="369332"/>
          </a:xfrm>
          <a:prstGeom prst="rect">
            <a:avLst/>
          </a:prstGeom>
          <a:solidFill>
            <a:srgbClr val="FF0000"/>
          </a:solidFill>
          <a:ln w="317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i="1" dirty="0" err="1" smtClean="0">
                <a:solidFill>
                  <a:schemeClr val="bg1"/>
                </a:solidFill>
                <a:latin typeface="Book Antiqua" pitchFamily="18" charset="0"/>
              </a:rPr>
              <a:t>Heapify</a:t>
            </a:r>
            <a:endParaRPr lang="en-US" b="1" i="1" dirty="0" smtClean="0">
              <a:solidFill>
                <a:schemeClr val="bg1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405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79920" y="47092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8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Constructing a Heap using </a:t>
            </a:r>
            <a:r>
              <a:rPr lang="en-US" altLang="ja-JP" sz="3600" b="1" dirty="0" err="1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heapify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402468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3159830" y="345414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4715822" y="1581940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868762" y="1581940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23" idx="1"/>
          </p:cNvCxnSpPr>
          <p:nvPr/>
        </p:nvCxnSpPr>
        <p:spPr>
          <a:xfrm flipH="1" flipV="1">
            <a:off x="2794478" y="259080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1680630" y="249289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22" idx="1"/>
          </p:cNvCxnSpPr>
          <p:nvPr/>
        </p:nvCxnSpPr>
        <p:spPr>
          <a:xfrm flipH="1" flipV="1">
            <a:off x="1605596" y="3454149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921110" y="345414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4546658" y="141277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2580730" y="23848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1436432" y="32849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1" name="Oval 20"/>
          <p:cNvSpPr>
            <a:spLocks noChangeArrowheads="1"/>
          </p:cNvSpPr>
          <p:nvPr/>
        </p:nvSpPr>
        <p:spPr bwMode="auto">
          <a:xfrm>
            <a:off x="751946" y="40987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2" name="Oval 21"/>
          <p:cNvSpPr>
            <a:spLocks noChangeArrowheads="1"/>
          </p:cNvSpPr>
          <p:nvPr/>
        </p:nvSpPr>
        <p:spPr bwMode="auto">
          <a:xfrm>
            <a:off x="2170394" y="411307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3" name="Oval 22"/>
          <p:cNvSpPr>
            <a:spLocks noChangeArrowheads="1"/>
          </p:cNvSpPr>
          <p:nvPr/>
        </p:nvSpPr>
        <p:spPr bwMode="auto">
          <a:xfrm>
            <a:off x="3682562" y="326327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18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24" name="Straight Connector 23"/>
          <p:cNvCxnSpPr>
            <a:stCxn id="28" idx="1"/>
          </p:cNvCxnSpPr>
          <p:nvPr/>
        </p:nvCxnSpPr>
        <p:spPr>
          <a:xfrm flipH="1" flipV="1">
            <a:off x="6970942" y="267710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5857094" y="257919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>
            <a:spLocks noChangeArrowheads="1"/>
          </p:cNvSpPr>
          <p:nvPr/>
        </p:nvSpPr>
        <p:spPr bwMode="auto">
          <a:xfrm>
            <a:off x="6757194" y="24711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8</a:t>
            </a:r>
          </a:p>
        </p:txBody>
      </p:sp>
      <p:sp>
        <p:nvSpPr>
          <p:cNvPr id="27" name="Oval 26"/>
          <p:cNvSpPr>
            <a:spLocks noChangeArrowheads="1"/>
          </p:cNvSpPr>
          <p:nvPr/>
        </p:nvSpPr>
        <p:spPr bwMode="auto">
          <a:xfrm>
            <a:off x="5612896" y="33712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6</a:t>
            </a:r>
          </a:p>
        </p:txBody>
      </p:sp>
      <p:sp>
        <p:nvSpPr>
          <p:cNvPr id="28" name="Oval 27"/>
          <p:cNvSpPr>
            <a:spLocks noChangeArrowheads="1"/>
          </p:cNvSpPr>
          <p:nvPr/>
        </p:nvSpPr>
        <p:spPr bwMode="auto">
          <a:xfrm>
            <a:off x="7859026" y="334957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44551"/>
              </p:ext>
            </p:extLst>
          </p:nvPr>
        </p:nvGraphicFramePr>
        <p:xfrm>
          <a:off x="683573" y="5711656"/>
          <a:ext cx="784886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1"/>
                <a:gridCol w="419346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smtClean="0">
                          <a:latin typeface="Book Antiqua" pitchFamily="18" charset="0"/>
                        </a:rPr>
                        <a:t>i</a:t>
                      </a:r>
                      <a:endParaRPr lang="en-US" sz="17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Book Antiqua" pitchFamily="18" charset="0"/>
                        </a:rPr>
                        <a:t>key</a:t>
                      </a:r>
                      <a:endParaRPr lang="en-US" sz="15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3" name="Oval 32"/>
          <p:cNvSpPr>
            <a:spLocks noChangeArrowheads="1"/>
          </p:cNvSpPr>
          <p:nvPr/>
        </p:nvSpPr>
        <p:spPr bwMode="auto">
          <a:xfrm>
            <a:off x="2990666" y="40987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871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79920" y="47092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8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Constructing a Heap using </a:t>
            </a:r>
            <a:r>
              <a:rPr lang="en-US" altLang="ja-JP" sz="3600" b="1" dirty="0" err="1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heapify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402468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3159830" y="345414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4715822" y="1581940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868762" y="1581940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23" idx="1"/>
          </p:cNvCxnSpPr>
          <p:nvPr/>
        </p:nvCxnSpPr>
        <p:spPr>
          <a:xfrm flipH="1" flipV="1">
            <a:off x="2794478" y="259080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1680630" y="249289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22" idx="1"/>
          </p:cNvCxnSpPr>
          <p:nvPr/>
        </p:nvCxnSpPr>
        <p:spPr>
          <a:xfrm flipH="1" flipV="1">
            <a:off x="1605596" y="3454149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921110" y="345414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4546658" y="141277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2580730" y="23848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1436432" y="32849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1" name="Oval 20"/>
          <p:cNvSpPr>
            <a:spLocks noChangeArrowheads="1"/>
          </p:cNvSpPr>
          <p:nvPr/>
        </p:nvSpPr>
        <p:spPr bwMode="auto">
          <a:xfrm>
            <a:off x="751946" y="40987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2" name="Oval 21"/>
          <p:cNvSpPr>
            <a:spLocks noChangeArrowheads="1"/>
          </p:cNvSpPr>
          <p:nvPr/>
        </p:nvSpPr>
        <p:spPr bwMode="auto">
          <a:xfrm>
            <a:off x="2170394" y="411307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3" name="Oval 22"/>
          <p:cNvSpPr>
            <a:spLocks noChangeArrowheads="1"/>
          </p:cNvSpPr>
          <p:nvPr/>
        </p:nvSpPr>
        <p:spPr bwMode="auto">
          <a:xfrm>
            <a:off x="3682562" y="326327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18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24" name="Straight Connector 23"/>
          <p:cNvCxnSpPr>
            <a:stCxn id="28" idx="1"/>
          </p:cNvCxnSpPr>
          <p:nvPr/>
        </p:nvCxnSpPr>
        <p:spPr>
          <a:xfrm flipH="1" flipV="1">
            <a:off x="6970942" y="267710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5857094" y="257919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>
            <a:spLocks noChangeArrowheads="1"/>
          </p:cNvSpPr>
          <p:nvPr/>
        </p:nvSpPr>
        <p:spPr bwMode="auto">
          <a:xfrm>
            <a:off x="6757194" y="24711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8</a:t>
            </a:r>
          </a:p>
        </p:txBody>
      </p:sp>
      <p:sp>
        <p:nvSpPr>
          <p:cNvPr id="27" name="Oval 26"/>
          <p:cNvSpPr>
            <a:spLocks noChangeArrowheads="1"/>
          </p:cNvSpPr>
          <p:nvPr/>
        </p:nvSpPr>
        <p:spPr bwMode="auto">
          <a:xfrm>
            <a:off x="5612896" y="33712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6</a:t>
            </a:r>
          </a:p>
        </p:txBody>
      </p:sp>
      <p:sp>
        <p:nvSpPr>
          <p:cNvPr id="28" name="Oval 27"/>
          <p:cNvSpPr>
            <a:spLocks noChangeArrowheads="1"/>
          </p:cNvSpPr>
          <p:nvPr/>
        </p:nvSpPr>
        <p:spPr bwMode="auto">
          <a:xfrm>
            <a:off x="7859026" y="334957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/>
          </p:nvPr>
        </p:nvGraphicFramePr>
        <p:xfrm>
          <a:off x="683573" y="5711656"/>
          <a:ext cx="784886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1"/>
                <a:gridCol w="419346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smtClean="0">
                          <a:latin typeface="Book Antiqua" pitchFamily="18" charset="0"/>
                        </a:rPr>
                        <a:t>i</a:t>
                      </a:r>
                      <a:endParaRPr lang="en-US" sz="17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Book Antiqua" pitchFamily="18" charset="0"/>
                        </a:rPr>
                        <a:t>key</a:t>
                      </a:r>
                      <a:endParaRPr lang="en-US" sz="15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3" name="Oval 32"/>
          <p:cNvSpPr>
            <a:spLocks noChangeArrowheads="1"/>
          </p:cNvSpPr>
          <p:nvPr/>
        </p:nvSpPr>
        <p:spPr bwMode="auto">
          <a:xfrm>
            <a:off x="2990666" y="40987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0" name="AutoShape 34"/>
          <p:cNvSpPr>
            <a:spLocks noChangeArrowheads="1"/>
          </p:cNvSpPr>
          <p:nvPr/>
        </p:nvSpPr>
        <p:spPr bwMode="auto">
          <a:xfrm rot="5400000">
            <a:off x="2910096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FF000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35" name="AutoShape 34"/>
          <p:cNvSpPr>
            <a:spLocks noChangeArrowheads="1"/>
          </p:cNvSpPr>
          <p:nvPr/>
        </p:nvSpPr>
        <p:spPr bwMode="auto">
          <a:xfrm rot="5400000">
            <a:off x="5214352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00B05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36" name="Freeform 35"/>
          <p:cNvSpPr/>
          <p:nvPr/>
        </p:nvSpPr>
        <p:spPr>
          <a:xfrm rot="7738702">
            <a:off x="3267766" y="3901250"/>
            <a:ext cx="1204880" cy="367062"/>
          </a:xfrm>
          <a:custGeom>
            <a:avLst/>
            <a:gdLst>
              <a:gd name="connsiteX0" fmla="*/ 0 w 1109472"/>
              <a:gd name="connsiteY0" fmla="*/ 329202 h 341394"/>
              <a:gd name="connsiteX1" fmla="*/ 560832 w 1109472"/>
              <a:gd name="connsiteY1" fmla="*/ 18 h 341394"/>
              <a:gd name="connsiteX2" fmla="*/ 1109472 w 1109472"/>
              <a:gd name="connsiteY2" fmla="*/ 341394 h 34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9472" h="341394">
                <a:moveTo>
                  <a:pt x="0" y="329202"/>
                </a:moveTo>
                <a:cubicBezTo>
                  <a:pt x="187960" y="163594"/>
                  <a:pt x="375920" y="-2014"/>
                  <a:pt x="560832" y="18"/>
                </a:cubicBezTo>
                <a:cubicBezTo>
                  <a:pt x="745744" y="2050"/>
                  <a:pt x="927608" y="171722"/>
                  <a:pt x="1109472" y="341394"/>
                </a:cubicBezTo>
              </a:path>
            </a:pathLst>
          </a:custGeom>
          <a:ln w="3810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06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2.22222E-6 L 0.0757 -0.1217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50" y="-592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2.96296E-6 L -0.0757 0.1217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19" y="60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3" grpId="0" animBg="1"/>
      <p:bldP spid="3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79920" y="47092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8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Constructing a Heap using </a:t>
            </a:r>
            <a:r>
              <a:rPr lang="en-US" altLang="ja-JP" sz="3600" b="1" dirty="0" err="1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heapify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402468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3159830" y="345414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4715822" y="1581940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868762" y="1581940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23" idx="1"/>
          </p:cNvCxnSpPr>
          <p:nvPr/>
        </p:nvCxnSpPr>
        <p:spPr>
          <a:xfrm flipH="1" flipV="1">
            <a:off x="2794478" y="259080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1680630" y="249289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22" idx="1"/>
          </p:cNvCxnSpPr>
          <p:nvPr/>
        </p:nvCxnSpPr>
        <p:spPr>
          <a:xfrm flipH="1" flipV="1">
            <a:off x="1605596" y="3454149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921110" y="345414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4546658" y="141277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2580730" y="23848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1436432" y="32849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1" name="Oval 20"/>
          <p:cNvSpPr>
            <a:spLocks noChangeArrowheads="1"/>
          </p:cNvSpPr>
          <p:nvPr/>
        </p:nvSpPr>
        <p:spPr bwMode="auto">
          <a:xfrm>
            <a:off x="751946" y="40987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2" name="Oval 21"/>
          <p:cNvSpPr>
            <a:spLocks noChangeArrowheads="1"/>
          </p:cNvSpPr>
          <p:nvPr/>
        </p:nvSpPr>
        <p:spPr bwMode="auto">
          <a:xfrm>
            <a:off x="2170394" y="411307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3" name="Oval 22"/>
          <p:cNvSpPr>
            <a:spLocks noChangeArrowheads="1"/>
          </p:cNvSpPr>
          <p:nvPr/>
        </p:nvSpPr>
        <p:spPr bwMode="auto">
          <a:xfrm>
            <a:off x="3682562" y="326327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24" name="Straight Connector 23"/>
          <p:cNvCxnSpPr>
            <a:stCxn id="28" idx="1"/>
          </p:cNvCxnSpPr>
          <p:nvPr/>
        </p:nvCxnSpPr>
        <p:spPr>
          <a:xfrm flipH="1" flipV="1">
            <a:off x="6970942" y="267710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5857094" y="257919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>
            <a:spLocks noChangeArrowheads="1"/>
          </p:cNvSpPr>
          <p:nvPr/>
        </p:nvSpPr>
        <p:spPr bwMode="auto">
          <a:xfrm>
            <a:off x="6757194" y="24711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8</a:t>
            </a:r>
          </a:p>
        </p:txBody>
      </p:sp>
      <p:sp>
        <p:nvSpPr>
          <p:cNvPr id="27" name="Oval 26"/>
          <p:cNvSpPr>
            <a:spLocks noChangeArrowheads="1"/>
          </p:cNvSpPr>
          <p:nvPr/>
        </p:nvSpPr>
        <p:spPr bwMode="auto">
          <a:xfrm>
            <a:off x="5612896" y="33712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6</a:t>
            </a:r>
          </a:p>
        </p:txBody>
      </p:sp>
      <p:sp>
        <p:nvSpPr>
          <p:cNvPr id="28" name="Oval 27"/>
          <p:cNvSpPr>
            <a:spLocks noChangeArrowheads="1"/>
          </p:cNvSpPr>
          <p:nvPr/>
        </p:nvSpPr>
        <p:spPr bwMode="auto">
          <a:xfrm>
            <a:off x="7859026" y="334957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012959"/>
              </p:ext>
            </p:extLst>
          </p:nvPr>
        </p:nvGraphicFramePr>
        <p:xfrm>
          <a:off x="683573" y="5711656"/>
          <a:ext cx="784886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1"/>
                <a:gridCol w="419346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smtClean="0">
                          <a:latin typeface="Book Antiqua" pitchFamily="18" charset="0"/>
                        </a:rPr>
                        <a:t>i</a:t>
                      </a:r>
                      <a:endParaRPr lang="en-US" sz="17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Book Antiqua" pitchFamily="18" charset="0"/>
                        </a:rPr>
                        <a:t>key</a:t>
                      </a:r>
                      <a:endParaRPr lang="en-US" sz="15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18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3" name="Oval 32"/>
          <p:cNvSpPr>
            <a:spLocks noChangeArrowheads="1"/>
          </p:cNvSpPr>
          <p:nvPr/>
        </p:nvSpPr>
        <p:spPr bwMode="auto">
          <a:xfrm>
            <a:off x="2990666" y="40987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18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0" name="AutoShape 34"/>
          <p:cNvSpPr>
            <a:spLocks noChangeArrowheads="1"/>
          </p:cNvSpPr>
          <p:nvPr/>
        </p:nvSpPr>
        <p:spPr bwMode="auto">
          <a:xfrm rot="5400000">
            <a:off x="2910096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FF000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35" name="AutoShape 34"/>
          <p:cNvSpPr>
            <a:spLocks noChangeArrowheads="1"/>
          </p:cNvSpPr>
          <p:nvPr/>
        </p:nvSpPr>
        <p:spPr bwMode="auto">
          <a:xfrm rot="5400000">
            <a:off x="5214352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00B05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36" name="Freeform 35"/>
          <p:cNvSpPr/>
          <p:nvPr/>
        </p:nvSpPr>
        <p:spPr>
          <a:xfrm rot="7738702">
            <a:off x="3267766" y="3901250"/>
            <a:ext cx="1204880" cy="367062"/>
          </a:xfrm>
          <a:custGeom>
            <a:avLst/>
            <a:gdLst>
              <a:gd name="connsiteX0" fmla="*/ 0 w 1109472"/>
              <a:gd name="connsiteY0" fmla="*/ 329202 h 341394"/>
              <a:gd name="connsiteX1" fmla="*/ 560832 w 1109472"/>
              <a:gd name="connsiteY1" fmla="*/ 18 h 341394"/>
              <a:gd name="connsiteX2" fmla="*/ 1109472 w 1109472"/>
              <a:gd name="connsiteY2" fmla="*/ 341394 h 34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9472" h="341394">
                <a:moveTo>
                  <a:pt x="0" y="329202"/>
                </a:moveTo>
                <a:cubicBezTo>
                  <a:pt x="187960" y="163594"/>
                  <a:pt x="375920" y="-2014"/>
                  <a:pt x="560832" y="18"/>
                </a:cubicBezTo>
                <a:cubicBezTo>
                  <a:pt x="745744" y="2050"/>
                  <a:pt x="927608" y="171722"/>
                  <a:pt x="1109472" y="341394"/>
                </a:cubicBezTo>
              </a:path>
            </a:pathLst>
          </a:custGeom>
          <a:ln w="3810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446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79920" y="47092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8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Constructing a Heap using </a:t>
            </a:r>
            <a:r>
              <a:rPr lang="en-US" altLang="ja-JP" sz="3600" b="1" dirty="0" err="1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heapify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402468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3159830" y="345414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4715822" y="1581940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868762" y="1581940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23" idx="1"/>
          </p:cNvCxnSpPr>
          <p:nvPr/>
        </p:nvCxnSpPr>
        <p:spPr>
          <a:xfrm flipH="1" flipV="1">
            <a:off x="2794478" y="259080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1680630" y="249289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22" idx="1"/>
          </p:cNvCxnSpPr>
          <p:nvPr/>
        </p:nvCxnSpPr>
        <p:spPr>
          <a:xfrm flipH="1" flipV="1">
            <a:off x="1605596" y="3454149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921110" y="345414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4546658" y="141277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2580730" y="23848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1436432" y="32849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1" name="Oval 20"/>
          <p:cNvSpPr>
            <a:spLocks noChangeArrowheads="1"/>
          </p:cNvSpPr>
          <p:nvPr/>
        </p:nvSpPr>
        <p:spPr bwMode="auto">
          <a:xfrm>
            <a:off x="751946" y="40987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2" name="Oval 21"/>
          <p:cNvSpPr>
            <a:spLocks noChangeArrowheads="1"/>
          </p:cNvSpPr>
          <p:nvPr/>
        </p:nvSpPr>
        <p:spPr bwMode="auto">
          <a:xfrm>
            <a:off x="2170394" y="411307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3" name="Oval 22"/>
          <p:cNvSpPr>
            <a:spLocks noChangeArrowheads="1"/>
          </p:cNvSpPr>
          <p:nvPr/>
        </p:nvSpPr>
        <p:spPr bwMode="auto">
          <a:xfrm>
            <a:off x="3682562" y="326327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24" name="Straight Connector 23"/>
          <p:cNvCxnSpPr>
            <a:stCxn id="28" idx="1"/>
          </p:cNvCxnSpPr>
          <p:nvPr/>
        </p:nvCxnSpPr>
        <p:spPr>
          <a:xfrm flipH="1" flipV="1">
            <a:off x="6970942" y="267710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5857094" y="257919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>
            <a:spLocks noChangeArrowheads="1"/>
          </p:cNvSpPr>
          <p:nvPr/>
        </p:nvSpPr>
        <p:spPr bwMode="auto">
          <a:xfrm>
            <a:off x="6757194" y="24711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8</a:t>
            </a:r>
          </a:p>
        </p:txBody>
      </p:sp>
      <p:sp>
        <p:nvSpPr>
          <p:cNvPr id="27" name="Oval 26"/>
          <p:cNvSpPr>
            <a:spLocks noChangeArrowheads="1"/>
          </p:cNvSpPr>
          <p:nvPr/>
        </p:nvSpPr>
        <p:spPr bwMode="auto">
          <a:xfrm>
            <a:off x="5612896" y="33712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6</a:t>
            </a:r>
          </a:p>
        </p:txBody>
      </p:sp>
      <p:sp>
        <p:nvSpPr>
          <p:cNvPr id="28" name="Oval 27"/>
          <p:cNvSpPr>
            <a:spLocks noChangeArrowheads="1"/>
          </p:cNvSpPr>
          <p:nvPr/>
        </p:nvSpPr>
        <p:spPr bwMode="auto">
          <a:xfrm>
            <a:off x="7859026" y="334957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/>
          </p:nvPr>
        </p:nvGraphicFramePr>
        <p:xfrm>
          <a:off x="683573" y="5711656"/>
          <a:ext cx="784886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1"/>
                <a:gridCol w="419346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smtClean="0">
                          <a:latin typeface="Book Antiqua" pitchFamily="18" charset="0"/>
                        </a:rPr>
                        <a:t>i</a:t>
                      </a:r>
                      <a:endParaRPr lang="en-US" sz="17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Book Antiqua" pitchFamily="18" charset="0"/>
                        </a:rPr>
                        <a:t>key</a:t>
                      </a:r>
                      <a:endParaRPr lang="en-US" sz="15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3" name="Oval 32"/>
          <p:cNvSpPr>
            <a:spLocks noChangeArrowheads="1"/>
          </p:cNvSpPr>
          <p:nvPr/>
        </p:nvSpPr>
        <p:spPr bwMode="auto">
          <a:xfrm>
            <a:off x="2990666" y="40987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18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0" name="AutoShape 34"/>
          <p:cNvSpPr>
            <a:spLocks noChangeArrowheads="1"/>
          </p:cNvSpPr>
          <p:nvPr/>
        </p:nvSpPr>
        <p:spPr bwMode="auto">
          <a:xfrm rot="5400000">
            <a:off x="2478048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FF000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35" name="AutoShape 34"/>
          <p:cNvSpPr>
            <a:spLocks noChangeArrowheads="1"/>
          </p:cNvSpPr>
          <p:nvPr/>
        </p:nvSpPr>
        <p:spPr bwMode="auto">
          <a:xfrm rot="5400000">
            <a:off x="4281108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00B05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36" name="Freeform 35"/>
          <p:cNvSpPr/>
          <p:nvPr/>
        </p:nvSpPr>
        <p:spPr>
          <a:xfrm rot="3164861">
            <a:off x="1842084" y="3371155"/>
            <a:ext cx="1066637" cy="468127"/>
          </a:xfrm>
          <a:custGeom>
            <a:avLst/>
            <a:gdLst>
              <a:gd name="connsiteX0" fmla="*/ 0 w 1109472"/>
              <a:gd name="connsiteY0" fmla="*/ 329202 h 341394"/>
              <a:gd name="connsiteX1" fmla="*/ 560832 w 1109472"/>
              <a:gd name="connsiteY1" fmla="*/ 18 h 341394"/>
              <a:gd name="connsiteX2" fmla="*/ 1109472 w 1109472"/>
              <a:gd name="connsiteY2" fmla="*/ 341394 h 34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9472" h="341394">
                <a:moveTo>
                  <a:pt x="0" y="329202"/>
                </a:moveTo>
                <a:cubicBezTo>
                  <a:pt x="187960" y="163594"/>
                  <a:pt x="375920" y="-2014"/>
                  <a:pt x="560832" y="18"/>
                </a:cubicBezTo>
                <a:cubicBezTo>
                  <a:pt x="745744" y="2050"/>
                  <a:pt x="927608" y="171722"/>
                  <a:pt x="1109472" y="341394"/>
                </a:cubicBezTo>
              </a:path>
            </a:pathLst>
          </a:custGeom>
          <a:ln w="3810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utoShape 34"/>
          <p:cNvSpPr>
            <a:spLocks noChangeArrowheads="1"/>
          </p:cNvSpPr>
          <p:nvPr/>
        </p:nvSpPr>
        <p:spPr bwMode="auto">
          <a:xfrm rot="5400000">
            <a:off x="4746300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00B05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01525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4.44444E-6 L -0.08021 -0.12084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10" y="-6042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22222E-6 L 0.08021 0.12083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10" y="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36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79920" y="47092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8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Constructing a Heap using </a:t>
            </a:r>
            <a:r>
              <a:rPr lang="en-US" altLang="ja-JP" sz="3600" b="1" dirty="0" err="1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heapify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402468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3159830" y="345414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4715822" y="1581940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868762" y="1581940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23" idx="1"/>
          </p:cNvCxnSpPr>
          <p:nvPr/>
        </p:nvCxnSpPr>
        <p:spPr>
          <a:xfrm flipH="1" flipV="1">
            <a:off x="2794478" y="259080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1680630" y="249289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22" idx="1"/>
          </p:cNvCxnSpPr>
          <p:nvPr/>
        </p:nvCxnSpPr>
        <p:spPr>
          <a:xfrm flipH="1" flipV="1">
            <a:off x="1605596" y="3454149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921110" y="345414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4546658" y="141277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2580730" y="23848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1436432" y="32849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1" name="Oval 20"/>
          <p:cNvSpPr>
            <a:spLocks noChangeArrowheads="1"/>
          </p:cNvSpPr>
          <p:nvPr/>
        </p:nvSpPr>
        <p:spPr bwMode="auto">
          <a:xfrm>
            <a:off x="751946" y="40987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2" name="Oval 21"/>
          <p:cNvSpPr>
            <a:spLocks noChangeArrowheads="1"/>
          </p:cNvSpPr>
          <p:nvPr/>
        </p:nvSpPr>
        <p:spPr bwMode="auto">
          <a:xfrm>
            <a:off x="2170394" y="411307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3" name="Oval 22"/>
          <p:cNvSpPr>
            <a:spLocks noChangeArrowheads="1"/>
          </p:cNvSpPr>
          <p:nvPr/>
        </p:nvSpPr>
        <p:spPr bwMode="auto">
          <a:xfrm>
            <a:off x="3682562" y="326327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24" name="Straight Connector 23"/>
          <p:cNvCxnSpPr>
            <a:stCxn id="28" idx="1"/>
          </p:cNvCxnSpPr>
          <p:nvPr/>
        </p:nvCxnSpPr>
        <p:spPr>
          <a:xfrm flipH="1" flipV="1">
            <a:off x="6970942" y="267710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5857094" y="257919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>
            <a:spLocks noChangeArrowheads="1"/>
          </p:cNvSpPr>
          <p:nvPr/>
        </p:nvSpPr>
        <p:spPr bwMode="auto">
          <a:xfrm>
            <a:off x="6757194" y="24711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8</a:t>
            </a:r>
          </a:p>
        </p:txBody>
      </p:sp>
      <p:sp>
        <p:nvSpPr>
          <p:cNvPr id="27" name="Oval 26"/>
          <p:cNvSpPr>
            <a:spLocks noChangeArrowheads="1"/>
          </p:cNvSpPr>
          <p:nvPr/>
        </p:nvSpPr>
        <p:spPr bwMode="auto">
          <a:xfrm>
            <a:off x="5612896" y="33712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6</a:t>
            </a:r>
          </a:p>
        </p:txBody>
      </p:sp>
      <p:sp>
        <p:nvSpPr>
          <p:cNvPr id="28" name="Oval 27"/>
          <p:cNvSpPr>
            <a:spLocks noChangeArrowheads="1"/>
          </p:cNvSpPr>
          <p:nvPr/>
        </p:nvSpPr>
        <p:spPr bwMode="auto">
          <a:xfrm>
            <a:off x="7859026" y="334957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372868"/>
              </p:ext>
            </p:extLst>
          </p:nvPr>
        </p:nvGraphicFramePr>
        <p:xfrm>
          <a:off x="683573" y="5711656"/>
          <a:ext cx="784886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1"/>
                <a:gridCol w="419346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smtClean="0">
                          <a:latin typeface="Book Antiqua" pitchFamily="18" charset="0"/>
                        </a:rPr>
                        <a:t>i</a:t>
                      </a:r>
                      <a:endParaRPr lang="en-US" sz="17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Book Antiqua" pitchFamily="18" charset="0"/>
                        </a:rPr>
                        <a:t>key</a:t>
                      </a:r>
                      <a:endParaRPr lang="en-US" sz="15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12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17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3" name="Oval 32"/>
          <p:cNvSpPr>
            <a:spLocks noChangeArrowheads="1"/>
          </p:cNvSpPr>
          <p:nvPr/>
        </p:nvSpPr>
        <p:spPr bwMode="auto">
          <a:xfrm>
            <a:off x="2990666" y="40987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18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0" name="AutoShape 34"/>
          <p:cNvSpPr>
            <a:spLocks noChangeArrowheads="1"/>
          </p:cNvSpPr>
          <p:nvPr/>
        </p:nvSpPr>
        <p:spPr bwMode="auto">
          <a:xfrm rot="5400000">
            <a:off x="2478048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FF000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35" name="AutoShape 34"/>
          <p:cNvSpPr>
            <a:spLocks noChangeArrowheads="1"/>
          </p:cNvSpPr>
          <p:nvPr/>
        </p:nvSpPr>
        <p:spPr bwMode="auto">
          <a:xfrm rot="5400000">
            <a:off x="4281108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00B05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36" name="Freeform 35"/>
          <p:cNvSpPr/>
          <p:nvPr/>
        </p:nvSpPr>
        <p:spPr>
          <a:xfrm rot="3164861">
            <a:off x="1842084" y="3371155"/>
            <a:ext cx="1066637" cy="468127"/>
          </a:xfrm>
          <a:custGeom>
            <a:avLst/>
            <a:gdLst>
              <a:gd name="connsiteX0" fmla="*/ 0 w 1109472"/>
              <a:gd name="connsiteY0" fmla="*/ 329202 h 341394"/>
              <a:gd name="connsiteX1" fmla="*/ 560832 w 1109472"/>
              <a:gd name="connsiteY1" fmla="*/ 18 h 341394"/>
              <a:gd name="connsiteX2" fmla="*/ 1109472 w 1109472"/>
              <a:gd name="connsiteY2" fmla="*/ 341394 h 34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9472" h="341394">
                <a:moveTo>
                  <a:pt x="0" y="329202"/>
                </a:moveTo>
                <a:cubicBezTo>
                  <a:pt x="187960" y="163594"/>
                  <a:pt x="375920" y="-2014"/>
                  <a:pt x="560832" y="18"/>
                </a:cubicBezTo>
                <a:cubicBezTo>
                  <a:pt x="745744" y="2050"/>
                  <a:pt x="927608" y="171722"/>
                  <a:pt x="1109472" y="341394"/>
                </a:cubicBezTo>
              </a:path>
            </a:pathLst>
          </a:custGeom>
          <a:ln w="3810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utoShape 34"/>
          <p:cNvSpPr>
            <a:spLocks noChangeArrowheads="1"/>
          </p:cNvSpPr>
          <p:nvPr/>
        </p:nvSpPr>
        <p:spPr bwMode="auto">
          <a:xfrm rot="5400000">
            <a:off x="4746300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00B05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132201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79920" y="47092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8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Constructing a Heap using </a:t>
            </a:r>
            <a:r>
              <a:rPr lang="en-US" altLang="ja-JP" sz="3600" b="1" dirty="0" err="1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heapify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402468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3159830" y="345414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4715822" y="1581940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868762" y="1581940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23" idx="1"/>
          </p:cNvCxnSpPr>
          <p:nvPr/>
        </p:nvCxnSpPr>
        <p:spPr>
          <a:xfrm flipH="1" flipV="1">
            <a:off x="2794478" y="259080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1680630" y="249289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22" idx="1"/>
          </p:cNvCxnSpPr>
          <p:nvPr/>
        </p:nvCxnSpPr>
        <p:spPr>
          <a:xfrm flipH="1" flipV="1">
            <a:off x="1605596" y="3454149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921110" y="345414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4546658" y="141277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2580730" y="23848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1436432" y="32849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1" name="Oval 20"/>
          <p:cNvSpPr>
            <a:spLocks noChangeArrowheads="1"/>
          </p:cNvSpPr>
          <p:nvPr/>
        </p:nvSpPr>
        <p:spPr bwMode="auto">
          <a:xfrm>
            <a:off x="751946" y="40987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2" name="Oval 21"/>
          <p:cNvSpPr>
            <a:spLocks noChangeArrowheads="1"/>
          </p:cNvSpPr>
          <p:nvPr/>
        </p:nvSpPr>
        <p:spPr bwMode="auto">
          <a:xfrm>
            <a:off x="2170394" y="411307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3" name="Oval 22"/>
          <p:cNvSpPr>
            <a:spLocks noChangeArrowheads="1"/>
          </p:cNvSpPr>
          <p:nvPr/>
        </p:nvSpPr>
        <p:spPr bwMode="auto">
          <a:xfrm>
            <a:off x="3682562" y="326327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24" name="Straight Connector 23"/>
          <p:cNvCxnSpPr>
            <a:stCxn id="28" idx="1"/>
          </p:cNvCxnSpPr>
          <p:nvPr/>
        </p:nvCxnSpPr>
        <p:spPr>
          <a:xfrm flipH="1" flipV="1">
            <a:off x="6970942" y="267710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5857094" y="257919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>
            <a:spLocks noChangeArrowheads="1"/>
          </p:cNvSpPr>
          <p:nvPr/>
        </p:nvSpPr>
        <p:spPr bwMode="auto">
          <a:xfrm>
            <a:off x="6757194" y="24711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8</a:t>
            </a:r>
          </a:p>
        </p:txBody>
      </p:sp>
      <p:sp>
        <p:nvSpPr>
          <p:cNvPr id="27" name="Oval 26"/>
          <p:cNvSpPr>
            <a:spLocks noChangeArrowheads="1"/>
          </p:cNvSpPr>
          <p:nvPr/>
        </p:nvSpPr>
        <p:spPr bwMode="auto">
          <a:xfrm>
            <a:off x="5612896" y="33712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6</a:t>
            </a:r>
          </a:p>
        </p:txBody>
      </p:sp>
      <p:sp>
        <p:nvSpPr>
          <p:cNvPr id="28" name="Oval 27"/>
          <p:cNvSpPr>
            <a:spLocks noChangeArrowheads="1"/>
          </p:cNvSpPr>
          <p:nvPr/>
        </p:nvSpPr>
        <p:spPr bwMode="auto">
          <a:xfrm>
            <a:off x="7859026" y="334957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/>
          </p:nvPr>
        </p:nvGraphicFramePr>
        <p:xfrm>
          <a:off x="683573" y="5711656"/>
          <a:ext cx="784886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1"/>
                <a:gridCol w="419346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smtClean="0">
                          <a:latin typeface="Book Antiqua" pitchFamily="18" charset="0"/>
                        </a:rPr>
                        <a:t>i</a:t>
                      </a:r>
                      <a:endParaRPr lang="en-US" sz="17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Book Antiqua" pitchFamily="18" charset="0"/>
                        </a:rPr>
                        <a:t>key</a:t>
                      </a:r>
                      <a:endParaRPr lang="en-US" sz="15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3" name="Oval 32"/>
          <p:cNvSpPr>
            <a:spLocks noChangeArrowheads="1"/>
          </p:cNvSpPr>
          <p:nvPr/>
        </p:nvSpPr>
        <p:spPr bwMode="auto">
          <a:xfrm>
            <a:off x="2990666" y="40987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18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0" name="AutoShape 34"/>
          <p:cNvSpPr>
            <a:spLocks noChangeArrowheads="1"/>
          </p:cNvSpPr>
          <p:nvPr/>
        </p:nvSpPr>
        <p:spPr bwMode="auto">
          <a:xfrm rot="5400000">
            <a:off x="2009996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FF000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35" name="AutoShape 34"/>
          <p:cNvSpPr>
            <a:spLocks noChangeArrowheads="1"/>
          </p:cNvSpPr>
          <p:nvPr/>
        </p:nvSpPr>
        <p:spPr bwMode="auto">
          <a:xfrm rot="5400000">
            <a:off x="3381008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00B05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36" name="Freeform 35"/>
          <p:cNvSpPr/>
          <p:nvPr/>
        </p:nvSpPr>
        <p:spPr>
          <a:xfrm rot="8429482">
            <a:off x="5934294" y="3232027"/>
            <a:ext cx="1383097" cy="468127"/>
          </a:xfrm>
          <a:custGeom>
            <a:avLst/>
            <a:gdLst>
              <a:gd name="connsiteX0" fmla="*/ 0 w 1109472"/>
              <a:gd name="connsiteY0" fmla="*/ 329202 h 341394"/>
              <a:gd name="connsiteX1" fmla="*/ 560832 w 1109472"/>
              <a:gd name="connsiteY1" fmla="*/ 18 h 341394"/>
              <a:gd name="connsiteX2" fmla="*/ 1109472 w 1109472"/>
              <a:gd name="connsiteY2" fmla="*/ 341394 h 34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9472" h="341394">
                <a:moveTo>
                  <a:pt x="0" y="329202"/>
                </a:moveTo>
                <a:cubicBezTo>
                  <a:pt x="187960" y="163594"/>
                  <a:pt x="375920" y="-2014"/>
                  <a:pt x="560832" y="18"/>
                </a:cubicBezTo>
                <a:cubicBezTo>
                  <a:pt x="745744" y="2050"/>
                  <a:pt x="927608" y="171722"/>
                  <a:pt x="1109472" y="341394"/>
                </a:cubicBezTo>
              </a:path>
            </a:pathLst>
          </a:custGeom>
          <a:ln w="3810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utoShape 34"/>
          <p:cNvSpPr>
            <a:spLocks noChangeArrowheads="1"/>
          </p:cNvSpPr>
          <p:nvPr/>
        </p:nvSpPr>
        <p:spPr bwMode="auto">
          <a:xfrm rot="5400000">
            <a:off x="3846200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00B05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23560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7037E-6 L 0.12518 -0.13125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50" y="-6528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3.7037E-6 L -0.12518 0.13125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02" y="6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3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79920" y="47092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8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Constructing a Heap using </a:t>
            </a:r>
            <a:r>
              <a:rPr lang="en-US" altLang="ja-JP" sz="3600" b="1" dirty="0" err="1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heapify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402468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3159830" y="345414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4715822" y="1581940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868762" y="1581940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23" idx="1"/>
          </p:cNvCxnSpPr>
          <p:nvPr/>
        </p:nvCxnSpPr>
        <p:spPr>
          <a:xfrm flipH="1" flipV="1">
            <a:off x="2794478" y="259080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1680630" y="249289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22" idx="1"/>
          </p:cNvCxnSpPr>
          <p:nvPr/>
        </p:nvCxnSpPr>
        <p:spPr>
          <a:xfrm flipH="1" flipV="1">
            <a:off x="1605596" y="3454149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921110" y="345414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4546658" y="141277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2580730" y="23848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1436432" y="32849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1" name="Oval 20"/>
          <p:cNvSpPr>
            <a:spLocks noChangeArrowheads="1"/>
          </p:cNvSpPr>
          <p:nvPr/>
        </p:nvSpPr>
        <p:spPr bwMode="auto">
          <a:xfrm>
            <a:off x="751946" y="40987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2" name="Oval 21"/>
          <p:cNvSpPr>
            <a:spLocks noChangeArrowheads="1"/>
          </p:cNvSpPr>
          <p:nvPr/>
        </p:nvSpPr>
        <p:spPr bwMode="auto">
          <a:xfrm>
            <a:off x="2170394" y="411307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3" name="Oval 22"/>
          <p:cNvSpPr>
            <a:spLocks noChangeArrowheads="1"/>
          </p:cNvSpPr>
          <p:nvPr/>
        </p:nvSpPr>
        <p:spPr bwMode="auto">
          <a:xfrm>
            <a:off x="3682562" y="326327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24" name="Straight Connector 23"/>
          <p:cNvCxnSpPr>
            <a:stCxn id="28" idx="1"/>
          </p:cNvCxnSpPr>
          <p:nvPr/>
        </p:nvCxnSpPr>
        <p:spPr>
          <a:xfrm flipH="1" flipV="1">
            <a:off x="6970942" y="267710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5857094" y="257919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>
            <a:spLocks noChangeArrowheads="1"/>
          </p:cNvSpPr>
          <p:nvPr/>
        </p:nvSpPr>
        <p:spPr bwMode="auto">
          <a:xfrm>
            <a:off x="6757194" y="24711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6</a:t>
            </a:r>
          </a:p>
        </p:txBody>
      </p:sp>
      <p:sp>
        <p:nvSpPr>
          <p:cNvPr id="27" name="Oval 26"/>
          <p:cNvSpPr>
            <a:spLocks noChangeArrowheads="1"/>
          </p:cNvSpPr>
          <p:nvPr/>
        </p:nvSpPr>
        <p:spPr bwMode="auto">
          <a:xfrm>
            <a:off x="5612896" y="33712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8</a:t>
            </a:r>
          </a:p>
        </p:txBody>
      </p:sp>
      <p:sp>
        <p:nvSpPr>
          <p:cNvPr id="28" name="Oval 27"/>
          <p:cNvSpPr>
            <a:spLocks noChangeArrowheads="1"/>
          </p:cNvSpPr>
          <p:nvPr/>
        </p:nvSpPr>
        <p:spPr bwMode="auto">
          <a:xfrm>
            <a:off x="7859026" y="334957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867774"/>
              </p:ext>
            </p:extLst>
          </p:nvPr>
        </p:nvGraphicFramePr>
        <p:xfrm>
          <a:off x="683573" y="5711656"/>
          <a:ext cx="784886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1"/>
                <a:gridCol w="419346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smtClean="0">
                          <a:latin typeface="Book Antiqua" pitchFamily="18" charset="0"/>
                        </a:rPr>
                        <a:t>i</a:t>
                      </a:r>
                      <a:endParaRPr lang="en-US" sz="17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Book Antiqua" pitchFamily="18" charset="0"/>
                        </a:rPr>
                        <a:t>key</a:t>
                      </a:r>
                      <a:endParaRPr lang="en-US" sz="15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3" name="Oval 32"/>
          <p:cNvSpPr>
            <a:spLocks noChangeArrowheads="1"/>
          </p:cNvSpPr>
          <p:nvPr/>
        </p:nvSpPr>
        <p:spPr bwMode="auto">
          <a:xfrm>
            <a:off x="2990666" y="40987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18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0" name="AutoShape 34"/>
          <p:cNvSpPr>
            <a:spLocks noChangeArrowheads="1"/>
          </p:cNvSpPr>
          <p:nvPr/>
        </p:nvSpPr>
        <p:spPr bwMode="auto">
          <a:xfrm rot="5400000">
            <a:off x="2009996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FF000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35" name="AutoShape 34"/>
          <p:cNvSpPr>
            <a:spLocks noChangeArrowheads="1"/>
          </p:cNvSpPr>
          <p:nvPr/>
        </p:nvSpPr>
        <p:spPr bwMode="auto">
          <a:xfrm rot="5400000">
            <a:off x="3381008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00B05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36" name="Freeform 35"/>
          <p:cNvSpPr/>
          <p:nvPr/>
        </p:nvSpPr>
        <p:spPr>
          <a:xfrm rot="8429482">
            <a:off x="5934294" y="3232027"/>
            <a:ext cx="1383097" cy="468127"/>
          </a:xfrm>
          <a:custGeom>
            <a:avLst/>
            <a:gdLst>
              <a:gd name="connsiteX0" fmla="*/ 0 w 1109472"/>
              <a:gd name="connsiteY0" fmla="*/ 329202 h 341394"/>
              <a:gd name="connsiteX1" fmla="*/ 560832 w 1109472"/>
              <a:gd name="connsiteY1" fmla="*/ 18 h 341394"/>
              <a:gd name="connsiteX2" fmla="*/ 1109472 w 1109472"/>
              <a:gd name="connsiteY2" fmla="*/ 341394 h 34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9472" h="341394">
                <a:moveTo>
                  <a:pt x="0" y="329202"/>
                </a:moveTo>
                <a:cubicBezTo>
                  <a:pt x="187960" y="163594"/>
                  <a:pt x="375920" y="-2014"/>
                  <a:pt x="560832" y="18"/>
                </a:cubicBezTo>
                <a:cubicBezTo>
                  <a:pt x="745744" y="2050"/>
                  <a:pt x="927608" y="171722"/>
                  <a:pt x="1109472" y="341394"/>
                </a:cubicBezTo>
              </a:path>
            </a:pathLst>
          </a:custGeom>
          <a:ln w="3810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utoShape 34"/>
          <p:cNvSpPr>
            <a:spLocks noChangeArrowheads="1"/>
          </p:cNvSpPr>
          <p:nvPr/>
        </p:nvSpPr>
        <p:spPr bwMode="auto">
          <a:xfrm rot="5400000">
            <a:off x="3846200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00B05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221181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79920" y="47092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8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Constructing a Heap using </a:t>
            </a:r>
            <a:r>
              <a:rPr lang="en-US" altLang="ja-JP" sz="3600" b="1" dirty="0" err="1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heapify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402468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3159830" y="345414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4715822" y="1581940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868762" y="1581940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23" idx="1"/>
          </p:cNvCxnSpPr>
          <p:nvPr/>
        </p:nvCxnSpPr>
        <p:spPr>
          <a:xfrm flipH="1" flipV="1">
            <a:off x="2794478" y="259080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1680630" y="249289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22" idx="1"/>
          </p:cNvCxnSpPr>
          <p:nvPr/>
        </p:nvCxnSpPr>
        <p:spPr>
          <a:xfrm flipH="1" flipV="1">
            <a:off x="1605596" y="3454149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921110" y="345414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4546658" y="141277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2580730" y="23848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1436432" y="32849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1" name="Oval 20"/>
          <p:cNvSpPr>
            <a:spLocks noChangeArrowheads="1"/>
          </p:cNvSpPr>
          <p:nvPr/>
        </p:nvSpPr>
        <p:spPr bwMode="auto">
          <a:xfrm>
            <a:off x="751946" y="40987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2" name="Oval 21"/>
          <p:cNvSpPr>
            <a:spLocks noChangeArrowheads="1"/>
          </p:cNvSpPr>
          <p:nvPr/>
        </p:nvSpPr>
        <p:spPr bwMode="auto">
          <a:xfrm>
            <a:off x="2170394" y="411307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3" name="Oval 22"/>
          <p:cNvSpPr>
            <a:spLocks noChangeArrowheads="1"/>
          </p:cNvSpPr>
          <p:nvPr/>
        </p:nvSpPr>
        <p:spPr bwMode="auto">
          <a:xfrm>
            <a:off x="3682562" y="326327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24" name="Straight Connector 23"/>
          <p:cNvCxnSpPr>
            <a:stCxn id="28" idx="1"/>
          </p:cNvCxnSpPr>
          <p:nvPr/>
        </p:nvCxnSpPr>
        <p:spPr>
          <a:xfrm flipH="1" flipV="1">
            <a:off x="6970942" y="267710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5857094" y="257919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>
            <a:spLocks noChangeArrowheads="1"/>
          </p:cNvSpPr>
          <p:nvPr/>
        </p:nvSpPr>
        <p:spPr bwMode="auto">
          <a:xfrm>
            <a:off x="6757194" y="24711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6</a:t>
            </a:r>
          </a:p>
        </p:txBody>
      </p:sp>
      <p:sp>
        <p:nvSpPr>
          <p:cNvPr id="27" name="Oval 26"/>
          <p:cNvSpPr>
            <a:spLocks noChangeArrowheads="1"/>
          </p:cNvSpPr>
          <p:nvPr/>
        </p:nvSpPr>
        <p:spPr bwMode="auto">
          <a:xfrm>
            <a:off x="5612896" y="33712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8</a:t>
            </a:r>
          </a:p>
        </p:txBody>
      </p:sp>
      <p:sp>
        <p:nvSpPr>
          <p:cNvPr id="28" name="Oval 27"/>
          <p:cNvSpPr>
            <a:spLocks noChangeArrowheads="1"/>
          </p:cNvSpPr>
          <p:nvPr/>
        </p:nvSpPr>
        <p:spPr bwMode="auto">
          <a:xfrm>
            <a:off x="7859026" y="334957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/>
          </p:nvPr>
        </p:nvGraphicFramePr>
        <p:xfrm>
          <a:off x="683573" y="5711656"/>
          <a:ext cx="784886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1"/>
                <a:gridCol w="419346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smtClean="0">
                          <a:latin typeface="Book Antiqua" pitchFamily="18" charset="0"/>
                        </a:rPr>
                        <a:t>i</a:t>
                      </a:r>
                      <a:endParaRPr lang="en-US" sz="17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Book Antiqua" pitchFamily="18" charset="0"/>
                        </a:rPr>
                        <a:t>key</a:t>
                      </a:r>
                      <a:endParaRPr lang="en-US" sz="15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3" name="Oval 32"/>
          <p:cNvSpPr>
            <a:spLocks noChangeArrowheads="1"/>
          </p:cNvSpPr>
          <p:nvPr/>
        </p:nvSpPr>
        <p:spPr bwMode="auto">
          <a:xfrm>
            <a:off x="2990666" y="40987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18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0" name="AutoShape 34"/>
          <p:cNvSpPr>
            <a:spLocks noChangeArrowheads="1"/>
          </p:cNvSpPr>
          <p:nvPr/>
        </p:nvSpPr>
        <p:spPr bwMode="auto">
          <a:xfrm rot="5400000">
            <a:off x="1541944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FF000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35" name="AutoShape 34"/>
          <p:cNvSpPr>
            <a:spLocks noChangeArrowheads="1"/>
          </p:cNvSpPr>
          <p:nvPr/>
        </p:nvSpPr>
        <p:spPr bwMode="auto">
          <a:xfrm rot="5400000">
            <a:off x="2480908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00B05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36" name="Freeform 35"/>
          <p:cNvSpPr/>
          <p:nvPr/>
        </p:nvSpPr>
        <p:spPr>
          <a:xfrm rot="12955932">
            <a:off x="2378099" y="3123177"/>
            <a:ext cx="1231563" cy="468127"/>
          </a:xfrm>
          <a:custGeom>
            <a:avLst/>
            <a:gdLst>
              <a:gd name="connsiteX0" fmla="*/ 0 w 1109472"/>
              <a:gd name="connsiteY0" fmla="*/ 329202 h 341394"/>
              <a:gd name="connsiteX1" fmla="*/ 560832 w 1109472"/>
              <a:gd name="connsiteY1" fmla="*/ 18 h 341394"/>
              <a:gd name="connsiteX2" fmla="*/ 1109472 w 1109472"/>
              <a:gd name="connsiteY2" fmla="*/ 341394 h 34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9472" h="341394">
                <a:moveTo>
                  <a:pt x="0" y="329202"/>
                </a:moveTo>
                <a:cubicBezTo>
                  <a:pt x="187960" y="163594"/>
                  <a:pt x="375920" y="-2014"/>
                  <a:pt x="560832" y="18"/>
                </a:cubicBezTo>
                <a:cubicBezTo>
                  <a:pt x="745744" y="2050"/>
                  <a:pt x="927608" y="171722"/>
                  <a:pt x="1109472" y="341394"/>
                </a:cubicBezTo>
              </a:path>
            </a:pathLst>
          </a:custGeom>
          <a:ln w="3810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utoShape 34"/>
          <p:cNvSpPr>
            <a:spLocks noChangeArrowheads="1"/>
          </p:cNvSpPr>
          <p:nvPr/>
        </p:nvSpPr>
        <p:spPr bwMode="auto">
          <a:xfrm rot="5400000">
            <a:off x="2946100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00B05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854721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2.96296E-6 L -0.12048 -0.12824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51" y="-8773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2.22222E-6 L 0.12049 0.12824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24" y="65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3" grpId="0" animBg="1"/>
      <p:bldP spid="3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79920" y="47092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8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Constructing a Heap using </a:t>
            </a:r>
            <a:r>
              <a:rPr lang="en-US" altLang="ja-JP" sz="3600" b="1" dirty="0" err="1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heapify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402468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3159830" y="345414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4715822" y="1581940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868762" y="1581940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23" idx="1"/>
          </p:cNvCxnSpPr>
          <p:nvPr/>
        </p:nvCxnSpPr>
        <p:spPr>
          <a:xfrm flipH="1" flipV="1">
            <a:off x="2794478" y="259080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1680630" y="249289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22" idx="1"/>
          </p:cNvCxnSpPr>
          <p:nvPr/>
        </p:nvCxnSpPr>
        <p:spPr>
          <a:xfrm flipH="1" flipV="1">
            <a:off x="1605596" y="3454149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921110" y="345414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4546658" y="141277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2580730" y="23848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1436432" y="32849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1" name="Oval 20"/>
          <p:cNvSpPr>
            <a:spLocks noChangeArrowheads="1"/>
          </p:cNvSpPr>
          <p:nvPr/>
        </p:nvSpPr>
        <p:spPr bwMode="auto">
          <a:xfrm>
            <a:off x="751946" y="40987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2" name="Oval 21"/>
          <p:cNvSpPr>
            <a:spLocks noChangeArrowheads="1"/>
          </p:cNvSpPr>
          <p:nvPr/>
        </p:nvSpPr>
        <p:spPr bwMode="auto">
          <a:xfrm>
            <a:off x="2170394" y="411307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3" name="Oval 22"/>
          <p:cNvSpPr>
            <a:spLocks noChangeArrowheads="1"/>
          </p:cNvSpPr>
          <p:nvPr/>
        </p:nvSpPr>
        <p:spPr bwMode="auto">
          <a:xfrm>
            <a:off x="3682562" y="326327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24" name="Straight Connector 23"/>
          <p:cNvCxnSpPr>
            <a:stCxn id="28" idx="1"/>
          </p:cNvCxnSpPr>
          <p:nvPr/>
        </p:nvCxnSpPr>
        <p:spPr>
          <a:xfrm flipH="1" flipV="1">
            <a:off x="6970942" y="267710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5857094" y="257919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>
            <a:spLocks noChangeArrowheads="1"/>
          </p:cNvSpPr>
          <p:nvPr/>
        </p:nvSpPr>
        <p:spPr bwMode="auto">
          <a:xfrm>
            <a:off x="6757194" y="24711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6</a:t>
            </a:r>
          </a:p>
        </p:txBody>
      </p:sp>
      <p:sp>
        <p:nvSpPr>
          <p:cNvPr id="27" name="Oval 26"/>
          <p:cNvSpPr>
            <a:spLocks noChangeArrowheads="1"/>
          </p:cNvSpPr>
          <p:nvPr/>
        </p:nvSpPr>
        <p:spPr bwMode="auto">
          <a:xfrm>
            <a:off x="5612896" y="33712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8</a:t>
            </a:r>
          </a:p>
        </p:txBody>
      </p:sp>
      <p:sp>
        <p:nvSpPr>
          <p:cNvPr id="28" name="Oval 27"/>
          <p:cNvSpPr>
            <a:spLocks noChangeArrowheads="1"/>
          </p:cNvSpPr>
          <p:nvPr/>
        </p:nvSpPr>
        <p:spPr bwMode="auto">
          <a:xfrm>
            <a:off x="7859026" y="334957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874371"/>
              </p:ext>
            </p:extLst>
          </p:nvPr>
        </p:nvGraphicFramePr>
        <p:xfrm>
          <a:off x="683573" y="5711656"/>
          <a:ext cx="784886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1"/>
                <a:gridCol w="419346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smtClean="0">
                          <a:latin typeface="Book Antiqua" pitchFamily="18" charset="0"/>
                        </a:rPr>
                        <a:t>i</a:t>
                      </a:r>
                      <a:endParaRPr lang="en-US" sz="17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Book Antiqua" pitchFamily="18" charset="0"/>
                        </a:rPr>
                        <a:t>key</a:t>
                      </a:r>
                      <a:endParaRPr lang="en-US" sz="15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19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3" name="Oval 32"/>
          <p:cNvSpPr>
            <a:spLocks noChangeArrowheads="1"/>
          </p:cNvSpPr>
          <p:nvPr/>
        </p:nvSpPr>
        <p:spPr bwMode="auto">
          <a:xfrm>
            <a:off x="2990666" y="40987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18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0" name="AutoShape 34"/>
          <p:cNvSpPr>
            <a:spLocks noChangeArrowheads="1"/>
          </p:cNvSpPr>
          <p:nvPr/>
        </p:nvSpPr>
        <p:spPr bwMode="auto">
          <a:xfrm rot="5400000">
            <a:off x="1544804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FF000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35" name="AutoShape 34"/>
          <p:cNvSpPr>
            <a:spLocks noChangeArrowheads="1"/>
          </p:cNvSpPr>
          <p:nvPr/>
        </p:nvSpPr>
        <p:spPr bwMode="auto">
          <a:xfrm rot="5400000">
            <a:off x="2480908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00B05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36" name="Freeform 35"/>
          <p:cNvSpPr/>
          <p:nvPr/>
        </p:nvSpPr>
        <p:spPr>
          <a:xfrm rot="12955932">
            <a:off x="2378099" y="3123177"/>
            <a:ext cx="1231563" cy="468127"/>
          </a:xfrm>
          <a:custGeom>
            <a:avLst/>
            <a:gdLst>
              <a:gd name="connsiteX0" fmla="*/ 0 w 1109472"/>
              <a:gd name="connsiteY0" fmla="*/ 329202 h 341394"/>
              <a:gd name="connsiteX1" fmla="*/ 560832 w 1109472"/>
              <a:gd name="connsiteY1" fmla="*/ 18 h 341394"/>
              <a:gd name="connsiteX2" fmla="*/ 1109472 w 1109472"/>
              <a:gd name="connsiteY2" fmla="*/ 341394 h 34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9472" h="341394">
                <a:moveTo>
                  <a:pt x="0" y="329202"/>
                </a:moveTo>
                <a:cubicBezTo>
                  <a:pt x="187960" y="163594"/>
                  <a:pt x="375920" y="-2014"/>
                  <a:pt x="560832" y="18"/>
                </a:cubicBezTo>
                <a:cubicBezTo>
                  <a:pt x="745744" y="2050"/>
                  <a:pt x="927608" y="171722"/>
                  <a:pt x="1109472" y="341394"/>
                </a:cubicBezTo>
              </a:path>
            </a:pathLst>
          </a:custGeom>
          <a:ln w="3810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utoShape 34"/>
          <p:cNvSpPr>
            <a:spLocks noChangeArrowheads="1"/>
          </p:cNvSpPr>
          <p:nvPr/>
        </p:nvSpPr>
        <p:spPr bwMode="auto">
          <a:xfrm rot="5400000">
            <a:off x="2946100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00B05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548482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79920" y="47092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8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Constructing a Heap using </a:t>
            </a:r>
            <a:r>
              <a:rPr lang="en-US" altLang="ja-JP" sz="3600" b="1" dirty="0" err="1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heapify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402468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3159830" y="345414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4715822" y="1581940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868762" y="1581940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23" idx="1"/>
          </p:cNvCxnSpPr>
          <p:nvPr/>
        </p:nvCxnSpPr>
        <p:spPr>
          <a:xfrm flipH="1" flipV="1">
            <a:off x="2794478" y="259080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1680630" y="249289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22" idx="1"/>
          </p:cNvCxnSpPr>
          <p:nvPr/>
        </p:nvCxnSpPr>
        <p:spPr>
          <a:xfrm flipH="1" flipV="1">
            <a:off x="1605596" y="3454149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921110" y="345414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4546658" y="141277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2580730" y="23848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1436432" y="32849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1" name="Oval 20"/>
          <p:cNvSpPr>
            <a:spLocks noChangeArrowheads="1"/>
          </p:cNvSpPr>
          <p:nvPr/>
        </p:nvSpPr>
        <p:spPr bwMode="auto">
          <a:xfrm>
            <a:off x="751946" y="40987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2" name="Oval 21"/>
          <p:cNvSpPr>
            <a:spLocks noChangeArrowheads="1"/>
          </p:cNvSpPr>
          <p:nvPr/>
        </p:nvSpPr>
        <p:spPr bwMode="auto">
          <a:xfrm>
            <a:off x="2170394" y="411307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3" name="Oval 22"/>
          <p:cNvSpPr>
            <a:spLocks noChangeArrowheads="1"/>
          </p:cNvSpPr>
          <p:nvPr/>
        </p:nvSpPr>
        <p:spPr bwMode="auto">
          <a:xfrm>
            <a:off x="3682562" y="326327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24" name="Straight Connector 23"/>
          <p:cNvCxnSpPr>
            <a:stCxn id="28" idx="1"/>
          </p:cNvCxnSpPr>
          <p:nvPr/>
        </p:nvCxnSpPr>
        <p:spPr>
          <a:xfrm flipH="1" flipV="1">
            <a:off x="6970942" y="267710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5857094" y="257919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>
            <a:spLocks noChangeArrowheads="1"/>
          </p:cNvSpPr>
          <p:nvPr/>
        </p:nvSpPr>
        <p:spPr bwMode="auto">
          <a:xfrm>
            <a:off x="6757194" y="24711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6</a:t>
            </a:r>
          </a:p>
        </p:txBody>
      </p:sp>
      <p:sp>
        <p:nvSpPr>
          <p:cNvPr id="27" name="Oval 26"/>
          <p:cNvSpPr>
            <a:spLocks noChangeArrowheads="1"/>
          </p:cNvSpPr>
          <p:nvPr/>
        </p:nvSpPr>
        <p:spPr bwMode="auto">
          <a:xfrm>
            <a:off x="5612896" y="33712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8</a:t>
            </a:r>
          </a:p>
        </p:txBody>
      </p:sp>
      <p:sp>
        <p:nvSpPr>
          <p:cNvPr id="28" name="Oval 27"/>
          <p:cNvSpPr>
            <a:spLocks noChangeArrowheads="1"/>
          </p:cNvSpPr>
          <p:nvPr/>
        </p:nvSpPr>
        <p:spPr bwMode="auto">
          <a:xfrm>
            <a:off x="7859026" y="334957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/>
          </p:nvPr>
        </p:nvGraphicFramePr>
        <p:xfrm>
          <a:off x="683573" y="5711656"/>
          <a:ext cx="784886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1"/>
                <a:gridCol w="419346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smtClean="0">
                          <a:latin typeface="Book Antiqua" pitchFamily="18" charset="0"/>
                        </a:rPr>
                        <a:t>i</a:t>
                      </a:r>
                      <a:endParaRPr lang="en-US" sz="17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Book Antiqua" pitchFamily="18" charset="0"/>
                        </a:rPr>
                        <a:t>key</a:t>
                      </a:r>
                      <a:endParaRPr lang="en-US" sz="15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3" name="Oval 32"/>
          <p:cNvSpPr>
            <a:spLocks noChangeArrowheads="1"/>
          </p:cNvSpPr>
          <p:nvPr/>
        </p:nvSpPr>
        <p:spPr bwMode="auto">
          <a:xfrm>
            <a:off x="2990666" y="40987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18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0" name="AutoShape 34"/>
          <p:cNvSpPr>
            <a:spLocks noChangeArrowheads="1"/>
          </p:cNvSpPr>
          <p:nvPr/>
        </p:nvSpPr>
        <p:spPr bwMode="auto">
          <a:xfrm rot="5400000">
            <a:off x="2912956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FF000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31" name="AutoShape 34"/>
          <p:cNvSpPr>
            <a:spLocks noChangeArrowheads="1"/>
          </p:cNvSpPr>
          <p:nvPr/>
        </p:nvSpPr>
        <p:spPr bwMode="auto">
          <a:xfrm rot="5400000">
            <a:off x="5253216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00B05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32" name="Freeform 31"/>
          <p:cNvSpPr/>
          <p:nvPr/>
        </p:nvSpPr>
        <p:spPr>
          <a:xfrm rot="7738702">
            <a:off x="3267766" y="3901250"/>
            <a:ext cx="1204880" cy="367062"/>
          </a:xfrm>
          <a:custGeom>
            <a:avLst/>
            <a:gdLst>
              <a:gd name="connsiteX0" fmla="*/ 0 w 1109472"/>
              <a:gd name="connsiteY0" fmla="*/ 329202 h 341394"/>
              <a:gd name="connsiteX1" fmla="*/ 560832 w 1109472"/>
              <a:gd name="connsiteY1" fmla="*/ 18 h 341394"/>
              <a:gd name="connsiteX2" fmla="*/ 1109472 w 1109472"/>
              <a:gd name="connsiteY2" fmla="*/ 341394 h 34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9472" h="341394">
                <a:moveTo>
                  <a:pt x="0" y="329202"/>
                </a:moveTo>
                <a:cubicBezTo>
                  <a:pt x="187960" y="163594"/>
                  <a:pt x="375920" y="-2014"/>
                  <a:pt x="560832" y="18"/>
                </a:cubicBezTo>
                <a:cubicBezTo>
                  <a:pt x="745744" y="2050"/>
                  <a:pt x="927608" y="171722"/>
                  <a:pt x="1109472" y="341394"/>
                </a:cubicBezTo>
              </a:path>
            </a:pathLst>
          </a:custGeom>
          <a:ln w="3810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811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2.22222E-6 L 0.07569 -0.1217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85" y="-6134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2.96296E-6 L -0.0757 0.12176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19" y="60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3" grpId="0" animBg="1"/>
      <p:bldP spid="3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79920" y="47092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8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Constructing a Heap using </a:t>
            </a:r>
            <a:r>
              <a:rPr lang="en-US" altLang="ja-JP" sz="3600" b="1" dirty="0" err="1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heapify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402468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3159830" y="345414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4715822" y="1581940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868762" y="1581940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23" idx="1"/>
          </p:cNvCxnSpPr>
          <p:nvPr/>
        </p:nvCxnSpPr>
        <p:spPr>
          <a:xfrm flipH="1" flipV="1">
            <a:off x="2794478" y="259080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1680630" y="249289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22" idx="1"/>
          </p:cNvCxnSpPr>
          <p:nvPr/>
        </p:nvCxnSpPr>
        <p:spPr>
          <a:xfrm flipH="1" flipV="1">
            <a:off x="1605596" y="3454149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921110" y="345414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4546658" y="141277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2580730" y="23848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1436432" y="32849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1" name="Oval 20"/>
          <p:cNvSpPr>
            <a:spLocks noChangeArrowheads="1"/>
          </p:cNvSpPr>
          <p:nvPr/>
        </p:nvSpPr>
        <p:spPr bwMode="auto">
          <a:xfrm>
            <a:off x="751946" y="40987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2" name="Oval 21"/>
          <p:cNvSpPr>
            <a:spLocks noChangeArrowheads="1"/>
          </p:cNvSpPr>
          <p:nvPr/>
        </p:nvSpPr>
        <p:spPr bwMode="auto">
          <a:xfrm>
            <a:off x="2170394" y="411307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3" name="Oval 22"/>
          <p:cNvSpPr>
            <a:spLocks noChangeArrowheads="1"/>
          </p:cNvSpPr>
          <p:nvPr/>
        </p:nvSpPr>
        <p:spPr bwMode="auto">
          <a:xfrm>
            <a:off x="3682562" y="326327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18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24" name="Straight Connector 23"/>
          <p:cNvCxnSpPr>
            <a:stCxn id="28" idx="1"/>
          </p:cNvCxnSpPr>
          <p:nvPr/>
        </p:nvCxnSpPr>
        <p:spPr>
          <a:xfrm flipH="1" flipV="1">
            <a:off x="6970942" y="267710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5857094" y="257919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>
            <a:spLocks noChangeArrowheads="1"/>
          </p:cNvSpPr>
          <p:nvPr/>
        </p:nvSpPr>
        <p:spPr bwMode="auto">
          <a:xfrm>
            <a:off x="6757194" y="24711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6</a:t>
            </a:r>
          </a:p>
        </p:txBody>
      </p:sp>
      <p:sp>
        <p:nvSpPr>
          <p:cNvPr id="27" name="Oval 26"/>
          <p:cNvSpPr>
            <a:spLocks noChangeArrowheads="1"/>
          </p:cNvSpPr>
          <p:nvPr/>
        </p:nvSpPr>
        <p:spPr bwMode="auto">
          <a:xfrm>
            <a:off x="5612896" y="33712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8</a:t>
            </a:r>
          </a:p>
        </p:txBody>
      </p:sp>
      <p:sp>
        <p:nvSpPr>
          <p:cNvPr id="28" name="Oval 27"/>
          <p:cNvSpPr>
            <a:spLocks noChangeArrowheads="1"/>
          </p:cNvSpPr>
          <p:nvPr/>
        </p:nvSpPr>
        <p:spPr bwMode="auto">
          <a:xfrm>
            <a:off x="7859026" y="334957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127922"/>
              </p:ext>
            </p:extLst>
          </p:nvPr>
        </p:nvGraphicFramePr>
        <p:xfrm>
          <a:off x="683573" y="5711656"/>
          <a:ext cx="784886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1"/>
                <a:gridCol w="419346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smtClean="0">
                          <a:latin typeface="Book Antiqua" pitchFamily="18" charset="0"/>
                        </a:rPr>
                        <a:t>i</a:t>
                      </a:r>
                      <a:endParaRPr lang="en-US" sz="17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Book Antiqua" pitchFamily="18" charset="0"/>
                        </a:rPr>
                        <a:t>key</a:t>
                      </a:r>
                      <a:endParaRPr lang="en-US" sz="15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18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19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3" name="Oval 32"/>
          <p:cNvSpPr>
            <a:spLocks noChangeArrowheads="1"/>
          </p:cNvSpPr>
          <p:nvPr/>
        </p:nvSpPr>
        <p:spPr bwMode="auto">
          <a:xfrm>
            <a:off x="2990666" y="40987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0" name="AutoShape 34"/>
          <p:cNvSpPr>
            <a:spLocks noChangeArrowheads="1"/>
          </p:cNvSpPr>
          <p:nvPr/>
        </p:nvSpPr>
        <p:spPr bwMode="auto">
          <a:xfrm rot="5400000">
            <a:off x="2912956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FF000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31" name="AutoShape 34"/>
          <p:cNvSpPr>
            <a:spLocks noChangeArrowheads="1"/>
          </p:cNvSpPr>
          <p:nvPr/>
        </p:nvSpPr>
        <p:spPr bwMode="auto">
          <a:xfrm rot="5400000">
            <a:off x="5253216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00B05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32" name="Freeform 31"/>
          <p:cNvSpPr/>
          <p:nvPr/>
        </p:nvSpPr>
        <p:spPr>
          <a:xfrm rot="7738702">
            <a:off x="3267766" y="3901250"/>
            <a:ext cx="1204880" cy="367062"/>
          </a:xfrm>
          <a:custGeom>
            <a:avLst/>
            <a:gdLst>
              <a:gd name="connsiteX0" fmla="*/ 0 w 1109472"/>
              <a:gd name="connsiteY0" fmla="*/ 329202 h 341394"/>
              <a:gd name="connsiteX1" fmla="*/ 560832 w 1109472"/>
              <a:gd name="connsiteY1" fmla="*/ 18 h 341394"/>
              <a:gd name="connsiteX2" fmla="*/ 1109472 w 1109472"/>
              <a:gd name="connsiteY2" fmla="*/ 341394 h 34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9472" h="341394">
                <a:moveTo>
                  <a:pt x="0" y="329202"/>
                </a:moveTo>
                <a:cubicBezTo>
                  <a:pt x="187960" y="163594"/>
                  <a:pt x="375920" y="-2014"/>
                  <a:pt x="560832" y="18"/>
                </a:cubicBezTo>
                <a:cubicBezTo>
                  <a:pt x="745744" y="2050"/>
                  <a:pt x="927608" y="171722"/>
                  <a:pt x="1109472" y="341394"/>
                </a:cubicBezTo>
              </a:path>
            </a:pathLst>
          </a:custGeom>
          <a:ln w="3810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740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/>
          <p:cNvCxnSpPr>
            <a:stCxn id="28" idx="1"/>
          </p:cNvCxnSpPr>
          <p:nvPr/>
        </p:nvCxnSpPr>
        <p:spPr>
          <a:xfrm flipH="1" flipV="1">
            <a:off x="6970942" y="267710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5857094" y="257919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79920" y="47092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8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Constructing a Heap using </a:t>
            </a:r>
            <a:r>
              <a:rPr lang="en-US" altLang="ja-JP" sz="3600" b="1" dirty="0" err="1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heapify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402468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3159830" y="345414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4715822" y="1581940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868762" y="1581940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23" idx="1"/>
          </p:cNvCxnSpPr>
          <p:nvPr/>
        </p:nvCxnSpPr>
        <p:spPr>
          <a:xfrm flipH="1" flipV="1">
            <a:off x="2794478" y="259080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1680630" y="249289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22" idx="1"/>
          </p:cNvCxnSpPr>
          <p:nvPr/>
        </p:nvCxnSpPr>
        <p:spPr>
          <a:xfrm flipH="1" flipV="1">
            <a:off x="1605596" y="3454149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921110" y="345414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4546658" y="141277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2580730" y="23848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1436432" y="32849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1" name="Oval 20"/>
          <p:cNvSpPr>
            <a:spLocks noChangeArrowheads="1"/>
          </p:cNvSpPr>
          <p:nvPr/>
        </p:nvSpPr>
        <p:spPr bwMode="auto">
          <a:xfrm>
            <a:off x="751946" y="40987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2" name="Oval 21"/>
          <p:cNvSpPr>
            <a:spLocks noChangeArrowheads="1"/>
          </p:cNvSpPr>
          <p:nvPr/>
        </p:nvSpPr>
        <p:spPr bwMode="auto">
          <a:xfrm>
            <a:off x="2170394" y="411307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3" name="Oval 22"/>
          <p:cNvSpPr>
            <a:spLocks noChangeArrowheads="1"/>
          </p:cNvSpPr>
          <p:nvPr/>
        </p:nvSpPr>
        <p:spPr bwMode="auto">
          <a:xfrm>
            <a:off x="3682562" y="326327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18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6" name="Oval 25"/>
          <p:cNvSpPr>
            <a:spLocks noChangeArrowheads="1"/>
          </p:cNvSpPr>
          <p:nvPr/>
        </p:nvSpPr>
        <p:spPr bwMode="auto">
          <a:xfrm>
            <a:off x="6757194" y="24711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6</a:t>
            </a:r>
          </a:p>
        </p:txBody>
      </p:sp>
      <p:sp>
        <p:nvSpPr>
          <p:cNvPr id="27" name="Oval 26"/>
          <p:cNvSpPr>
            <a:spLocks noChangeArrowheads="1"/>
          </p:cNvSpPr>
          <p:nvPr/>
        </p:nvSpPr>
        <p:spPr bwMode="auto">
          <a:xfrm>
            <a:off x="5612896" y="33712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8</a:t>
            </a:r>
          </a:p>
        </p:txBody>
      </p:sp>
      <p:sp>
        <p:nvSpPr>
          <p:cNvPr id="28" name="Oval 27"/>
          <p:cNvSpPr>
            <a:spLocks noChangeArrowheads="1"/>
          </p:cNvSpPr>
          <p:nvPr/>
        </p:nvSpPr>
        <p:spPr bwMode="auto">
          <a:xfrm>
            <a:off x="7859026" y="334957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344910"/>
              </p:ext>
            </p:extLst>
          </p:nvPr>
        </p:nvGraphicFramePr>
        <p:xfrm>
          <a:off x="683573" y="5711656"/>
          <a:ext cx="784886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1"/>
                <a:gridCol w="419346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smtClean="0">
                          <a:latin typeface="Book Antiqua" pitchFamily="18" charset="0"/>
                        </a:rPr>
                        <a:t>i</a:t>
                      </a:r>
                      <a:endParaRPr lang="en-US" sz="17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Book Antiqua" pitchFamily="18" charset="0"/>
                        </a:rPr>
                        <a:t>key</a:t>
                      </a:r>
                      <a:endParaRPr lang="en-US" sz="15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3" name="Oval 32"/>
          <p:cNvSpPr>
            <a:spLocks noChangeArrowheads="1"/>
          </p:cNvSpPr>
          <p:nvPr/>
        </p:nvSpPr>
        <p:spPr bwMode="auto">
          <a:xfrm>
            <a:off x="2990666" y="40987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0" name="AutoShape 34"/>
          <p:cNvSpPr>
            <a:spLocks noChangeArrowheads="1"/>
          </p:cNvSpPr>
          <p:nvPr/>
        </p:nvSpPr>
        <p:spPr bwMode="auto">
          <a:xfrm rot="5400000">
            <a:off x="1109896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FF000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35" name="AutoShape 34"/>
          <p:cNvSpPr>
            <a:spLocks noChangeArrowheads="1"/>
          </p:cNvSpPr>
          <p:nvPr/>
        </p:nvSpPr>
        <p:spPr bwMode="auto">
          <a:xfrm rot="5400000">
            <a:off x="1544804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00B05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36" name="Freeform 35"/>
          <p:cNvSpPr/>
          <p:nvPr/>
        </p:nvSpPr>
        <p:spPr>
          <a:xfrm rot="12422808">
            <a:off x="4459693" y="2220142"/>
            <a:ext cx="2083458" cy="482201"/>
          </a:xfrm>
          <a:custGeom>
            <a:avLst/>
            <a:gdLst>
              <a:gd name="connsiteX0" fmla="*/ 0 w 1109472"/>
              <a:gd name="connsiteY0" fmla="*/ 329202 h 341394"/>
              <a:gd name="connsiteX1" fmla="*/ 560832 w 1109472"/>
              <a:gd name="connsiteY1" fmla="*/ 18 h 341394"/>
              <a:gd name="connsiteX2" fmla="*/ 1109472 w 1109472"/>
              <a:gd name="connsiteY2" fmla="*/ 341394 h 34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9472" h="341394">
                <a:moveTo>
                  <a:pt x="0" y="329202"/>
                </a:moveTo>
                <a:cubicBezTo>
                  <a:pt x="187960" y="163594"/>
                  <a:pt x="375920" y="-2014"/>
                  <a:pt x="560832" y="18"/>
                </a:cubicBezTo>
                <a:cubicBezTo>
                  <a:pt x="745744" y="2050"/>
                  <a:pt x="927608" y="171722"/>
                  <a:pt x="1109472" y="341394"/>
                </a:cubicBezTo>
              </a:path>
            </a:pathLst>
          </a:custGeom>
          <a:ln w="3810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utoShape 34"/>
          <p:cNvSpPr>
            <a:spLocks noChangeArrowheads="1"/>
          </p:cNvSpPr>
          <p:nvPr/>
        </p:nvSpPr>
        <p:spPr bwMode="auto">
          <a:xfrm rot="5400000">
            <a:off x="2009996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00B05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250225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3.7037E-6 L -0.24184 -0.15439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083" y="-7731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4.44444E-6 L 0.24185 0.1544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83" y="7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6" grpId="0" animBg="1"/>
      <p:bldP spid="3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/>
          <p:cNvCxnSpPr>
            <a:stCxn id="28" idx="1"/>
          </p:cNvCxnSpPr>
          <p:nvPr/>
        </p:nvCxnSpPr>
        <p:spPr>
          <a:xfrm flipH="1" flipV="1">
            <a:off x="6970942" y="267710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5857094" y="257919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79920" y="47092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8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Constructing a Heap using </a:t>
            </a:r>
            <a:r>
              <a:rPr lang="en-US" altLang="ja-JP" sz="3600" b="1" dirty="0" err="1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heapify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402468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3159830" y="345414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4715822" y="1581940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868762" y="1581940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23" idx="1"/>
          </p:cNvCxnSpPr>
          <p:nvPr/>
        </p:nvCxnSpPr>
        <p:spPr>
          <a:xfrm flipH="1" flipV="1">
            <a:off x="2794478" y="259080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1680630" y="249289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22" idx="1"/>
          </p:cNvCxnSpPr>
          <p:nvPr/>
        </p:nvCxnSpPr>
        <p:spPr>
          <a:xfrm flipH="1" flipV="1">
            <a:off x="1605596" y="3454149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921110" y="345414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4546658" y="141277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6</a:t>
            </a: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2580730" y="23848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1436432" y="32849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1" name="Oval 20"/>
          <p:cNvSpPr>
            <a:spLocks noChangeArrowheads="1"/>
          </p:cNvSpPr>
          <p:nvPr/>
        </p:nvSpPr>
        <p:spPr bwMode="auto">
          <a:xfrm>
            <a:off x="751946" y="40987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2" name="Oval 21"/>
          <p:cNvSpPr>
            <a:spLocks noChangeArrowheads="1"/>
          </p:cNvSpPr>
          <p:nvPr/>
        </p:nvSpPr>
        <p:spPr bwMode="auto">
          <a:xfrm>
            <a:off x="2170394" y="411307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3" name="Oval 22"/>
          <p:cNvSpPr>
            <a:spLocks noChangeArrowheads="1"/>
          </p:cNvSpPr>
          <p:nvPr/>
        </p:nvSpPr>
        <p:spPr bwMode="auto">
          <a:xfrm>
            <a:off x="3682562" y="326327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18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6" name="Oval 25"/>
          <p:cNvSpPr>
            <a:spLocks noChangeArrowheads="1"/>
          </p:cNvSpPr>
          <p:nvPr/>
        </p:nvSpPr>
        <p:spPr bwMode="auto">
          <a:xfrm>
            <a:off x="6757194" y="24711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7" name="Oval 26"/>
          <p:cNvSpPr>
            <a:spLocks noChangeArrowheads="1"/>
          </p:cNvSpPr>
          <p:nvPr/>
        </p:nvSpPr>
        <p:spPr bwMode="auto">
          <a:xfrm>
            <a:off x="5612896" y="33712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8</a:t>
            </a:r>
          </a:p>
        </p:txBody>
      </p:sp>
      <p:sp>
        <p:nvSpPr>
          <p:cNvPr id="28" name="Oval 27"/>
          <p:cNvSpPr>
            <a:spLocks noChangeArrowheads="1"/>
          </p:cNvSpPr>
          <p:nvPr/>
        </p:nvSpPr>
        <p:spPr bwMode="auto">
          <a:xfrm>
            <a:off x="7859026" y="334957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034345"/>
              </p:ext>
            </p:extLst>
          </p:nvPr>
        </p:nvGraphicFramePr>
        <p:xfrm>
          <a:off x="683573" y="5711656"/>
          <a:ext cx="784886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1"/>
                <a:gridCol w="419346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smtClean="0">
                          <a:latin typeface="Book Antiqua" pitchFamily="18" charset="0"/>
                        </a:rPr>
                        <a:t>i</a:t>
                      </a:r>
                      <a:endParaRPr lang="en-US" sz="17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Book Antiqua" pitchFamily="18" charset="0"/>
                        </a:rPr>
                        <a:t>key</a:t>
                      </a:r>
                      <a:endParaRPr lang="en-US" sz="15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3" name="Oval 32"/>
          <p:cNvSpPr>
            <a:spLocks noChangeArrowheads="1"/>
          </p:cNvSpPr>
          <p:nvPr/>
        </p:nvSpPr>
        <p:spPr bwMode="auto">
          <a:xfrm>
            <a:off x="2990666" y="40987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0" name="AutoShape 34"/>
          <p:cNvSpPr>
            <a:spLocks noChangeArrowheads="1"/>
          </p:cNvSpPr>
          <p:nvPr/>
        </p:nvSpPr>
        <p:spPr bwMode="auto">
          <a:xfrm rot="5400000">
            <a:off x="1112756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FF000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35" name="AutoShape 34"/>
          <p:cNvSpPr>
            <a:spLocks noChangeArrowheads="1"/>
          </p:cNvSpPr>
          <p:nvPr/>
        </p:nvSpPr>
        <p:spPr bwMode="auto">
          <a:xfrm rot="5400000">
            <a:off x="1544804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00B05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31" name="AutoShape 34"/>
          <p:cNvSpPr>
            <a:spLocks noChangeArrowheads="1"/>
          </p:cNvSpPr>
          <p:nvPr/>
        </p:nvSpPr>
        <p:spPr bwMode="auto">
          <a:xfrm rot="5400000">
            <a:off x="2009996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00B05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32" name="Freeform 31"/>
          <p:cNvSpPr/>
          <p:nvPr/>
        </p:nvSpPr>
        <p:spPr>
          <a:xfrm rot="12422808">
            <a:off x="4459693" y="2220142"/>
            <a:ext cx="2083458" cy="482201"/>
          </a:xfrm>
          <a:custGeom>
            <a:avLst/>
            <a:gdLst>
              <a:gd name="connsiteX0" fmla="*/ 0 w 1109472"/>
              <a:gd name="connsiteY0" fmla="*/ 329202 h 341394"/>
              <a:gd name="connsiteX1" fmla="*/ 560832 w 1109472"/>
              <a:gd name="connsiteY1" fmla="*/ 18 h 341394"/>
              <a:gd name="connsiteX2" fmla="*/ 1109472 w 1109472"/>
              <a:gd name="connsiteY2" fmla="*/ 341394 h 34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9472" h="341394">
                <a:moveTo>
                  <a:pt x="0" y="329202"/>
                </a:moveTo>
                <a:cubicBezTo>
                  <a:pt x="187960" y="163594"/>
                  <a:pt x="375920" y="-2014"/>
                  <a:pt x="560832" y="18"/>
                </a:cubicBezTo>
                <a:cubicBezTo>
                  <a:pt x="745744" y="2050"/>
                  <a:pt x="927608" y="171722"/>
                  <a:pt x="1109472" y="341394"/>
                </a:cubicBezTo>
              </a:path>
            </a:pathLst>
          </a:custGeom>
          <a:ln w="3810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95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/>
          <p:cNvCxnSpPr>
            <a:stCxn id="28" idx="1"/>
          </p:cNvCxnSpPr>
          <p:nvPr/>
        </p:nvCxnSpPr>
        <p:spPr>
          <a:xfrm flipH="1" flipV="1">
            <a:off x="6970942" y="267710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5857094" y="257919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79920" y="47092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8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Constructing a Heap using </a:t>
            </a:r>
            <a:r>
              <a:rPr lang="en-US" altLang="ja-JP" sz="3600" b="1" dirty="0" err="1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heapify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402468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3159830" y="345414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4715822" y="1581940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868762" y="1581940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23" idx="1"/>
          </p:cNvCxnSpPr>
          <p:nvPr/>
        </p:nvCxnSpPr>
        <p:spPr>
          <a:xfrm flipH="1" flipV="1">
            <a:off x="2794478" y="259080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1680630" y="249289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22" idx="1"/>
          </p:cNvCxnSpPr>
          <p:nvPr/>
        </p:nvCxnSpPr>
        <p:spPr>
          <a:xfrm flipH="1" flipV="1">
            <a:off x="1605596" y="3454149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921110" y="345414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4546658" y="141277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6</a:t>
            </a: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2580730" y="23848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1436432" y="32849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1" name="Oval 20"/>
          <p:cNvSpPr>
            <a:spLocks noChangeArrowheads="1"/>
          </p:cNvSpPr>
          <p:nvPr/>
        </p:nvSpPr>
        <p:spPr bwMode="auto">
          <a:xfrm>
            <a:off x="751946" y="40987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2" name="Oval 21"/>
          <p:cNvSpPr>
            <a:spLocks noChangeArrowheads="1"/>
          </p:cNvSpPr>
          <p:nvPr/>
        </p:nvSpPr>
        <p:spPr bwMode="auto">
          <a:xfrm>
            <a:off x="2170394" y="411307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3" name="Oval 22"/>
          <p:cNvSpPr>
            <a:spLocks noChangeArrowheads="1"/>
          </p:cNvSpPr>
          <p:nvPr/>
        </p:nvSpPr>
        <p:spPr bwMode="auto">
          <a:xfrm>
            <a:off x="3682562" y="326327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18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6" name="Oval 25"/>
          <p:cNvSpPr>
            <a:spLocks noChangeArrowheads="1"/>
          </p:cNvSpPr>
          <p:nvPr/>
        </p:nvSpPr>
        <p:spPr bwMode="auto">
          <a:xfrm>
            <a:off x="6757194" y="24711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7" name="Oval 26"/>
          <p:cNvSpPr>
            <a:spLocks noChangeArrowheads="1"/>
          </p:cNvSpPr>
          <p:nvPr/>
        </p:nvSpPr>
        <p:spPr bwMode="auto">
          <a:xfrm>
            <a:off x="5612896" y="33712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8</a:t>
            </a:r>
          </a:p>
        </p:txBody>
      </p:sp>
      <p:sp>
        <p:nvSpPr>
          <p:cNvPr id="28" name="Oval 27"/>
          <p:cNvSpPr>
            <a:spLocks noChangeArrowheads="1"/>
          </p:cNvSpPr>
          <p:nvPr/>
        </p:nvSpPr>
        <p:spPr bwMode="auto">
          <a:xfrm>
            <a:off x="7859026" y="334957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786147"/>
              </p:ext>
            </p:extLst>
          </p:nvPr>
        </p:nvGraphicFramePr>
        <p:xfrm>
          <a:off x="683573" y="5711656"/>
          <a:ext cx="784886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1"/>
                <a:gridCol w="419346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smtClean="0">
                          <a:latin typeface="Book Antiqua" pitchFamily="18" charset="0"/>
                        </a:rPr>
                        <a:t>i</a:t>
                      </a:r>
                      <a:endParaRPr lang="en-US" sz="17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Book Antiqua" pitchFamily="18" charset="0"/>
                        </a:rPr>
                        <a:t>key</a:t>
                      </a:r>
                      <a:endParaRPr lang="en-US" sz="15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3" name="Oval 32"/>
          <p:cNvSpPr>
            <a:spLocks noChangeArrowheads="1"/>
          </p:cNvSpPr>
          <p:nvPr/>
        </p:nvSpPr>
        <p:spPr bwMode="auto">
          <a:xfrm>
            <a:off x="2990666" y="40987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0" name="AutoShape 34"/>
          <p:cNvSpPr>
            <a:spLocks noChangeArrowheads="1"/>
          </p:cNvSpPr>
          <p:nvPr/>
        </p:nvSpPr>
        <p:spPr bwMode="auto">
          <a:xfrm rot="5400000">
            <a:off x="2012856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FF000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35" name="AutoShape 34"/>
          <p:cNvSpPr>
            <a:spLocks noChangeArrowheads="1"/>
          </p:cNvSpPr>
          <p:nvPr/>
        </p:nvSpPr>
        <p:spPr bwMode="auto">
          <a:xfrm rot="5400000">
            <a:off x="3381008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00B05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36" name="Freeform 35"/>
          <p:cNvSpPr/>
          <p:nvPr/>
        </p:nvSpPr>
        <p:spPr>
          <a:xfrm rot="18969323">
            <a:off x="5355782" y="2602894"/>
            <a:ext cx="1319625" cy="382455"/>
          </a:xfrm>
          <a:custGeom>
            <a:avLst/>
            <a:gdLst>
              <a:gd name="connsiteX0" fmla="*/ 0 w 1109472"/>
              <a:gd name="connsiteY0" fmla="*/ 329202 h 341394"/>
              <a:gd name="connsiteX1" fmla="*/ 560832 w 1109472"/>
              <a:gd name="connsiteY1" fmla="*/ 18 h 341394"/>
              <a:gd name="connsiteX2" fmla="*/ 1109472 w 1109472"/>
              <a:gd name="connsiteY2" fmla="*/ 341394 h 34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9472" h="341394">
                <a:moveTo>
                  <a:pt x="0" y="329202"/>
                </a:moveTo>
                <a:cubicBezTo>
                  <a:pt x="187960" y="163594"/>
                  <a:pt x="375920" y="-2014"/>
                  <a:pt x="560832" y="18"/>
                </a:cubicBezTo>
                <a:cubicBezTo>
                  <a:pt x="745744" y="2050"/>
                  <a:pt x="927608" y="171722"/>
                  <a:pt x="1109472" y="341394"/>
                </a:cubicBezTo>
              </a:path>
            </a:pathLst>
          </a:custGeom>
          <a:ln w="3810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utoShape 34"/>
          <p:cNvSpPr>
            <a:spLocks noChangeArrowheads="1"/>
          </p:cNvSpPr>
          <p:nvPr/>
        </p:nvSpPr>
        <p:spPr bwMode="auto">
          <a:xfrm rot="5400000">
            <a:off x="3846200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00B05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470249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7037E-6 L 0.12518 -0.13125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50" y="-6435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3.7037E-6 L -0.12517 0.13125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5" y="64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3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/>
          <p:cNvCxnSpPr>
            <a:stCxn id="28" idx="1"/>
          </p:cNvCxnSpPr>
          <p:nvPr/>
        </p:nvCxnSpPr>
        <p:spPr>
          <a:xfrm flipH="1" flipV="1">
            <a:off x="6970942" y="267710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5857094" y="257919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79920" y="47092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8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Constructing a Heap using </a:t>
            </a:r>
            <a:r>
              <a:rPr lang="en-US" altLang="ja-JP" sz="3600" b="1" dirty="0" err="1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heapify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402468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3159830" y="345414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4715822" y="1581940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868762" y="1581940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23" idx="1"/>
          </p:cNvCxnSpPr>
          <p:nvPr/>
        </p:nvCxnSpPr>
        <p:spPr>
          <a:xfrm flipH="1" flipV="1">
            <a:off x="2794478" y="259080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1680630" y="249289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22" idx="1"/>
          </p:cNvCxnSpPr>
          <p:nvPr/>
        </p:nvCxnSpPr>
        <p:spPr>
          <a:xfrm flipH="1" flipV="1">
            <a:off x="1605596" y="3454149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921110" y="345414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4546658" y="141277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6</a:t>
            </a: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2580730" y="23848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1436432" y="32849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1" name="Oval 20"/>
          <p:cNvSpPr>
            <a:spLocks noChangeArrowheads="1"/>
          </p:cNvSpPr>
          <p:nvPr/>
        </p:nvSpPr>
        <p:spPr bwMode="auto">
          <a:xfrm>
            <a:off x="751946" y="40987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2" name="Oval 21"/>
          <p:cNvSpPr>
            <a:spLocks noChangeArrowheads="1"/>
          </p:cNvSpPr>
          <p:nvPr/>
        </p:nvSpPr>
        <p:spPr bwMode="auto">
          <a:xfrm>
            <a:off x="2170394" y="411307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3" name="Oval 22"/>
          <p:cNvSpPr>
            <a:spLocks noChangeArrowheads="1"/>
          </p:cNvSpPr>
          <p:nvPr/>
        </p:nvSpPr>
        <p:spPr bwMode="auto">
          <a:xfrm>
            <a:off x="3682562" y="326327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18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6" name="Oval 25"/>
          <p:cNvSpPr>
            <a:spLocks noChangeArrowheads="1"/>
          </p:cNvSpPr>
          <p:nvPr/>
        </p:nvSpPr>
        <p:spPr bwMode="auto">
          <a:xfrm>
            <a:off x="6757194" y="24711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8</a:t>
            </a:r>
          </a:p>
        </p:txBody>
      </p:sp>
      <p:sp>
        <p:nvSpPr>
          <p:cNvPr id="27" name="Oval 26"/>
          <p:cNvSpPr>
            <a:spLocks noChangeArrowheads="1"/>
          </p:cNvSpPr>
          <p:nvPr/>
        </p:nvSpPr>
        <p:spPr bwMode="auto">
          <a:xfrm>
            <a:off x="5612896" y="33712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8" name="Oval 27"/>
          <p:cNvSpPr>
            <a:spLocks noChangeArrowheads="1"/>
          </p:cNvSpPr>
          <p:nvPr/>
        </p:nvSpPr>
        <p:spPr bwMode="auto">
          <a:xfrm>
            <a:off x="7859026" y="334957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29841"/>
              </p:ext>
            </p:extLst>
          </p:nvPr>
        </p:nvGraphicFramePr>
        <p:xfrm>
          <a:off x="683573" y="5711656"/>
          <a:ext cx="784886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1"/>
                <a:gridCol w="419346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smtClean="0">
                          <a:latin typeface="Book Antiqua" pitchFamily="18" charset="0"/>
                        </a:rPr>
                        <a:t>i</a:t>
                      </a:r>
                      <a:endParaRPr lang="en-US" sz="17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Book Antiqua" pitchFamily="18" charset="0"/>
                        </a:rPr>
                        <a:t>key</a:t>
                      </a:r>
                      <a:endParaRPr lang="en-US" sz="15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3" name="Oval 32"/>
          <p:cNvSpPr>
            <a:spLocks noChangeArrowheads="1"/>
          </p:cNvSpPr>
          <p:nvPr/>
        </p:nvSpPr>
        <p:spPr bwMode="auto">
          <a:xfrm>
            <a:off x="2990666" y="40987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0" name="AutoShape 34"/>
          <p:cNvSpPr>
            <a:spLocks noChangeArrowheads="1"/>
          </p:cNvSpPr>
          <p:nvPr/>
        </p:nvSpPr>
        <p:spPr bwMode="auto">
          <a:xfrm rot="5400000">
            <a:off x="2012856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FF000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35" name="AutoShape 34"/>
          <p:cNvSpPr>
            <a:spLocks noChangeArrowheads="1"/>
          </p:cNvSpPr>
          <p:nvPr/>
        </p:nvSpPr>
        <p:spPr bwMode="auto">
          <a:xfrm rot="5400000">
            <a:off x="3381008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00B05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36" name="Freeform 35"/>
          <p:cNvSpPr/>
          <p:nvPr/>
        </p:nvSpPr>
        <p:spPr>
          <a:xfrm rot="18969323">
            <a:off x="5355782" y="2602894"/>
            <a:ext cx="1319625" cy="382455"/>
          </a:xfrm>
          <a:custGeom>
            <a:avLst/>
            <a:gdLst>
              <a:gd name="connsiteX0" fmla="*/ 0 w 1109472"/>
              <a:gd name="connsiteY0" fmla="*/ 329202 h 341394"/>
              <a:gd name="connsiteX1" fmla="*/ 560832 w 1109472"/>
              <a:gd name="connsiteY1" fmla="*/ 18 h 341394"/>
              <a:gd name="connsiteX2" fmla="*/ 1109472 w 1109472"/>
              <a:gd name="connsiteY2" fmla="*/ 341394 h 34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9472" h="341394">
                <a:moveTo>
                  <a:pt x="0" y="329202"/>
                </a:moveTo>
                <a:cubicBezTo>
                  <a:pt x="187960" y="163594"/>
                  <a:pt x="375920" y="-2014"/>
                  <a:pt x="560832" y="18"/>
                </a:cubicBezTo>
                <a:cubicBezTo>
                  <a:pt x="745744" y="2050"/>
                  <a:pt x="927608" y="171722"/>
                  <a:pt x="1109472" y="341394"/>
                </a:cubicBezTo>
              </a:path>
            </a:pathLst>
          </a:custGeom>
          <a:ln w="3810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utoShape 34"/>
          <p:cNvSpPr>
            <a:spLocks noChangeArrowheads="1"/>
          </p:cNvSpPr>
          <p:nvPr/>
        </p:nvSpPr>
        <p:spPr bwMode="auto">
          <a:xfrm rot="5400000">
            <a:off x="3846200" y="5232060"/>
            <a:ext cx="54864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00B05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598246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/>
          <p:cNvCxnSpPr>
            <a:stCxn id="28" idx="1"/>
          </p:cNvCxnSpPr>
          <p:nvPr/>
        </p:nvCxnSpPr>
        <p:spPr>
          <a:xfrm flipH="1" flipV="1">
            <a:off x="6970942" y="267710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5857094" y="257919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79920" y="47092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8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Constructing a Heap using </a:t>
            </a:r>
            <a:r>
              <a:rPr lang="en-US" altLang="ja-JP" sz="3600" b="1" dirty="0" err="1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heapify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402468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3159830" y="345414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4715822" y="1581940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868762" y="1581940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23" idx="1"/>
          </p:cNvCxnSpPr>
          <p:nvPr/>
        </p:nvCxnSpPr>
        <p:spPr>
          <a:xfrm flipH="1" flipV="1">
            <a:off x="2794478" y="2590802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1680630" y="2492896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22" idx="1"/>
          </p:cNvCxnSpPr>
          <p:nvPr/>
        </p:nvCxnSpPr>
        <p:spPr>
          <a:xfrm flipH="1" flipV="1">
            <a:off x="1605596" y="3454149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921110" y="3454149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4546658" y="141277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6</a:t>
            </a: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2580730" y="23848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1436432" y="32849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1" name="Oval 20"/>
          <p:cNvSpPr>
            <a:spLocks noChangeArrowheads="1"/>
          </p:cNvSpPr>
          <p:nvPr/>
        </p:nvSpPr>
        <p:spPr bwMode="auto">
          <a:xfrm>
            <a:off x="751946" y="40987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2" name="Oval 21"/>
          <p:cNvSpPr>
            <a:spLocks noChangeArrowheads="1"/>
          </p:cNvSpPr>
          <p:nvPr/>
        </p:nvSpPr>
        <p:spPr bwMode="auto">
          <a:xfrm>
            <a:off x="2170394" y="411307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3" name="Oval 22"/>
          <p:cNvSpPr>
            <a:spLocks noChangeArrowheads="1"/>
          </p:cNvSpPr>
          <p:nvPr/>
        </p:nvSpPr>
        <p:spPr bwMode="auto">
          <a:xfrm>
            <a:off x="3682562" y="326327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18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6" name="Oval 25"/>
          <p:cNvSpPr>
            <a:spLocks noChangeArrowheads="1"/>
          </p:cNvSpPr>
          <p:nvPr/>
        </p:nvSpPr>
        <p:spPr bwMode="auto">
          <a:xfrm>
            <a:off x="6757194" y="24711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8</a:t>
            </a:r>
          </a:p>
        </p:txBody>
      </p:sp>
      <p:sp>
        <p:nvSpPr>
          <p:cNvPr id="27" name="Oval 26"/>
          <p:cNvSpPr>
            <a:spLocks noChangeArrowheads="1"/>
          </p:cNvSpPr>
          <p:nvPr/>
        </p:nvSpPr>
        <p:spPr bwMode="auto">
          <a:xfrm>
            <a:off x="5612896" y="33712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28" name="Oval 27"/>
          <p:cNvSpPr>
            <a:spLocks noChangeArrowheads="1"/>
          </p:cNvSpPr>
          <p:nvPr/>
        </p:nvSpPr>
        <p:spPr bwMode="auto">
          <a:xfrm>
            <a:off x="7859026" y="334957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/>
          </p:nvPr>
        </p:nvGraphicFramePr>
        <p:xfrm>
          <a:off x="683573" y="5711656"/>
          <a:ext cx="784886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1"/>
                <a:gridCol w="419346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smtClean="0">
                          <a:latin typeface="Book Antiqua" pitchFamily="18" charset="0"/>
                        </a:rPr>
                        <a:t>i</a:t>
                      </a:r>
                      <a:endParaRPr lang="en-US" sz="17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Book Antiqua" pitchFamily="18" charset="0"/>
                        </a:rPr>
                        <a:t>key</a:t>
                      </a:r>
                      <a:endParaRPr lang="en-US" sz="15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3" name="Oval 32"/>
          <p:cNvSpPr>
            <a:spLocks noChangeArrowheads="1"/>
          </p:cNvSpPr>
          <p:nvPr/>
        </p:nvSpPr>
        <p:spPr bwMode="auto">
          <a:xfrm>
            <a:off x="2990666" y="4098784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09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7571" y="8620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Build Heap: </a:t>
            </a:r>
            <a:r>
              <a:rPr lang="en-US" altLang="ja-JP" sz="3600" b="1" dirty="0" err="1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Heapify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02060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367644" y="980728"/>
            <a:ext cx="525658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BUILD-MIN-HEAP(A, n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b="1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⌊n / 2⌋ down to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MIN-HEAPIFY(A,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n)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67644" y="2168860"/>
            <a:ext cx="5976664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MIN-HEAPIFY(A, </a:t>
            </a:r>
            <a:r>
              <a:rPr lang="en-US" sz="17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7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n</a:t>
            </a:r>
            <a:r>
              <a:rPr lang="en-US" sz="1700" b="1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700" b="1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left  = 2 * 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right = 2 * 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+ 1</a:t>
            </a:r>
          </a:p>
          <a:p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smallest = 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if left ≤ n and A[left] &lt; A[smallest</a:t>
            </a: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smallest = left</a:t>
            </a:r>
          </a:p>
          <a:p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if right ≤ n and A[right] &lt; A[smallest</a:t>
            </a: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smallest = right</a:t>
            </a:r>
          </a:p>
          <a:p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if smallest ≠ </a:t>
            </a:r>
            <a:r>
              <a:rPr lang="en-US" sz="17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swap A[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] and A[smallest]</a:t>
            </a:r>
          </a:p>
          <a:p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MIN-HEAPIFY(A, smallest, n)</a:t>
            </a:r>
          </a:p>
        </p:txBody>
      </p:sp>
    </p:spTree>
    <p:extLst>
      <p:ext uri="{BB962C8B-B14F-4D97-AF65-F5344CB8AC3E}">
        <p14:creationId xmlns:p14="http://schemas.microsoft.com/office/powerpoint/2010/main" val="2782866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7571" y="8620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Min Heap: Running time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02060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21758"/>
              </p:ext>
            </p:extLst>
          </p:nvPr>
        </p:nvGraphicFramePr>
        <p:xfrm>
          <a:off x="2015716" y="1949244"/>
          <a:ext cx="4920208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0104"/>
                <a:gridCol w="246010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Book Antiqua" pitchFamily="18" charset="0"/>
                        </a:rPr>
                        <a:t>Operation</a:t>
                      </a:r>
                      <a:endParaRPr lang="en-US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Book Antiqua" pitchFamily="18" charset="0"/>
                        </a:rPr>
                        <a:t>Running</a:t>
                      </a:r>
                      <a:r>
                        <a:rPr lang="en-US" baseline="0" dirty="0" smtClean="0">
                          <a:latin typeface="Book Antiqua" pitchFamily="18" charset="0"/>
                        </a:rPr>
                        <a:t> time</a:t>
                      </a:r>
                      <a:endParaRPr lang="en-US" dirty="0">
                        <a:latin typeface="Book Antiqua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Book Antiqua" pitchFamily="18" charset="0"/>
                        </a:rPr>
                        <a:t>Insert</a:t>
                      </a:r>
                      <a:endParaRPr lang="en-US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Book Antiqua" pitchFamily="18" charset="0"/>
                        </a:rPr>
                        <a:t>O(</a:t>
                      </a:r>
                      <a:r>
                        <a:rPr lang="en-US" dirty="0" err="1" smtClean="0">
                          <a:latin typeface="Book Antiqua" pitchFamily="18" charset="0"/>
                        </a:rPr>
                        <a:t>logn</a:t>
                      </a:r>
                      <a:r>
                        <a:rPr lang="en-US" dirty="0" smtClean="0">
                          <a:latin typeface="Book Antiqua" pitchFamily="18" charset="0"/>
                        </a:rPr>
                        <a:t>)</a:t>
                      </a:r>
                      <a:endParaRPr lang="en-US" dirty="0">
                        <a:latin typeface="Book Antiqua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Book Antiqua" pitchFamily="18" charset="0"/>
                        </a:rPr>
                        <a:t>Decrease</a:t>
                      </a:r>
                      <a:r>
                        <a:rPr lang="en-US" baseline="0" dirty="0" smtClean="0">
                          <a:latin typeface="Book Antiqua" pitchFamily="18" charset="0"/>
                        </a:rPr>
                        <a:t> key</a:t>
                      </a:r>
                      <a:endParaRPr lang="en-US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Book Antiqua" pitchFamily="18" charset="0"/>
                        </a:rPr>
                        <a:t>O(</a:t>
                      </a:r>
                      <a:r>
                        <a:rPr lang="en-US" dirty="0" err="1" smtClean="0">
                          <a:latin typeface="Book Antiqua" pitchFamily="18" charset="0"/>
                        </a:rPr>
                        <a:t>logn</a:t>
                      </a:r>
                      <a:r>
                        <a:rPr lang="en-US" dirty="0" smtClean="0">
                          <a:latin typeface="Book Antiqua" pitchFamily="18" charset="0"/>
                        </a:rPr>
                        <a:t>)</a:t>
                      </a:r>
                      <a:endParaRPr lang="en-US" dirty="0">
                        <a:latin typeface="Book Antiqua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Book Antiqua" pitchFamily="18" charset="0"/>
                        </a:rPr>
                        <a:t>Extract min</a:t>
                      </a:r>
                      <a:endParaRPr lang="en-US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Book Antiqua" pitchFamily="18" charset="0"/>
                        </a:rPr>
                        <a:t>O(</a:t>
                      </a:r>
                      <a:r>
                        <a:rPr lang="en-US" dirty="0" err="1" smtClean="0">
                          <a:latin typeface="Book Antiqua" pitchFamily="18" charset="0"/>
                        </a:rPr>
                        <a:t>logn</a:t>
                      </a:r>
                      <a:r>
                        <a:rPr lang="en-US" dirty="0" smtClean="0">
                          <a:latin typeface="Book Antiqua" pitchFamily="18" charset="0"/>
                        </a:rPr>
                        <a:t>)</a:t>
                      </a:r>
                      <a:endParaRPr lang="en-US" dirty="0">
                        <a:latin typeface="Book Antiqua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Book Antiqua" pitchFamily="18" charset="0"/>
                        </a:rPr>
                        <a:t>Delete</a:t>
                      </a:r>
                      <a:endParaRPr lang="en-US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Book Antiqua" pitchFamily="18" charset="0"/>
                        </a:rPr>
                        <a:t>O(</a:t>
                      </a:r>
                      <a:r>
                        <a:rPr lang="en-US" dirty="0" err="1" smtClean="0">
                          <a:latin typeface="Book Antiqua" pitchFamily="18" charset="0"/>
                        </a:rPr>
                        <a:t>logn</a:t>
                      </a:r>
                      <a:r>
                        <a:rPr lang="en-US" dirty="0" smtClean="0">
                          <a:latin typeface="Book Antiqua" pitchFamily="18" charset="0"/>
                        </a:rPr>
                        <a:t>)</a:t>
                      </a:r>
                      <a:endParaRPr lang="en-US" dirty="0">
                        <a:latin typeface="Book Antiqua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Book Antiqua" pitchFamily="18" charset="0"/>
                        </a:rPr>
                        <a:t>Find min</a:t>
                      </a:r>
                      <a:endParaRPr lang="en-US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Book Antiqua" pitchFamily="18" charset="0"/>
                        </a:rPr>
                        <a:t>O(1)</a:t>
                      </a:r>
                      <a:endParaRPr lang="en-US" dirty="0">
                        <a:latin typeface="Book Antiqua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Book Antiqua" pitchFamily="18" charset="0"/>
                        </a:rPr>
                        <a:t>Build heap</a:t>
                      </a:r>
                      <a:endParaRPr lang="en-US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Book Antiqua" pitchFamily="18" charset="0"/>
                        </a:rPr>
                        <a:t>O(n)</a:t>
                      </a:r>
                      <a:endParaRPr lang="en-US" dirty="0">
                        <a:latin typeface="Book Antiqua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9540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7571" y="8620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Heapsort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02060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75556" y="908720"/>
            <a:ext cx="8316924" cy="1369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chemeClr val="accent1"/>
              </a:buClr>
              <a:buSzPct val="90000"/>
              <a:buFont typeface="Wingdings 3" pitchFamily="18" charset="2"/>
              <a:buChar char="}"/>
            </a:pPr>
            <a:r>
              <a:rPr lang="en-US" sz="2600" b="1" dirty="0">
                <a:solidFill>
                  <a:srgbClr val="000099"/>
                </a:solidFill>
                <a:latin typeface="Garamond" pitchFamily="18" charset="0"/>
              </a:rPr>
              <a:t> </a:t>
            </a:r>
            <a:r>
              <a:rPr lang="en-US" sz="2600" dirty="0" smtClean="0">
                <a:latin typeface="Garamond" pitchFamily="18" charset="0"/>
              </a:rPr>
              <a:t>Repeatedly perform</a:t>
            </a:r>
            <a:r>
              <a:rPr lang="en-US" sz="2600" dirty="0" smtClean="0">
                <a:solidFill>
                  <a:srgbClr val="0000CC"/>
                </a:solidFill>
                <a:latin typeface="Garamond" pitchFamily="18" charset="0"/>
              </a:rPr>
              <a:t> </a:t>
            </a:r>
            <a:r>
              <a:rPr lang="en-US" sz="2600" dirty="0" smtClean="0">
                <a:latin typeface="Garamond" pitchFamily="18" charset="0"/>
              </a:rPr>
              <a:t>n </a:t>
            </a:r>
            <a:r>
              <a:rPr lang="en-US" sz="2600" b="1" i="1" u="sng" dirty="0" smtClean="0">
                <a:latin typeface="Garamond" pitchFamily="18" charset="0"/>
              </a:rPr>
              <a:t>extract-min-like</a:t>
            </a:r>
            <a:r>
              <a:rPr lang="en-US" sz="2600" dirty="0" smtClean="0">
                <a:latin typeface="Garamond" pitchFamily="18" charset="0"/>
              </a:rPr>
              <a:t> operations. This can be done in-place</a:t>
            </a:r>
          </a:p>
          <a:p>
            <a:pPr lvl="1">
              <a:spcBef>
                <a:spcPts val="600"/>
              </a:spcBef>
              <a:buClr>
                <a:schemeClr val="accent1"/>
              </a:buClr>
              <a:buSzPct val="90000"/>
              <a:buFont typeface="Wingdings 3" pitchFamily="18" charset="2"/>
              <a:buChar char="}"/>
            </a:pPr>
            <a:r>
              <a:rPr lang="en-US" sz="2600" dirty="0">
                <a:solidFill>
                  <a:srgbClr val="000099"/>
                </a:solidFill>
                <a:latin typeface="Garamond" pitchFamily="18" charset="0"/>
              </a:rPr>
              <a:t> </a:t>
            </a:r>
            <a:r>
              <a:rPr lang="en-US" sz="2600" dirty="0" smtClean="0">
                <a:latin typeface="Garamond" pitchFamily="18" charset="0"/>
              </a:rPr>
              <a:t>Running time: O(</a:t>
            </a:r>
            <a:r>
              <a:rPr lang="en-US" sz="2600" dirty="0" err="1" smtClean="0">
                <a:latin typeface="Garamond" pitchFamily="18" charset="0"/>
              </a:rPr>
              <a:t>nlogn</a:t>
            </a:r>
            <a:r>
              <a:rPr lang="en-US" sz="2600" dirty="0" smtClean="0">
                <a:latin typeface="Garamond" pitchFamily="18" charset="0"/>
              </a:rPr>
              <a:t>)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428440"/>
              </p:ext>
            </p:extLst>
          </p:nvPr>
        </p:nvGraphicFramePr>
        <p:xfrm>
          <a:off x="2251709" y="2907241"/>
          <a:ext cx="5078679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1"/>
                <a:gridCol w="419346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</a:tblGrid>
              <a:tr h="356413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smtClean="0">
                          <a:latin typeface="Book Antiqua" pitchFamily="18" charset="0"/>
                        </a:rPr>
                        <a:t>i</a:t>
                      </a:r>
                      <a:endParaRPr lang="en-US" sz="17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</a:tr>
              <a:tr h="361363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Book Antiqua" pitchFamily="18" charset="0"/>
                        </a:rPr>
                        <a:t>key</a:t>
                      </a:r>
                      <a:endParaRPr lang="en-US" sz="15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AutoShape 34"/>
          <p:cNvSpPr>
            <a:spLocks noChangeArrowheads="1"/>
          </p:cNvSpPr>
          <p:nvPr/>
        </p:nvSpPr>
        <p:spPr bwMode="auto">
          <a:xfrm rot="5400000">
            <a:off x="4621716" y="3898781"/>
            <a:ext cx="365760" cy="182880"/>
          </a:xfrm>
          <a:prstGeom prst="rightArrow">
            <a:avLst>
              <a:gd name="adj1" fmla="val 50185"/>
              <a:gd name="adj2" fmla="val 97561"/>
            </a:avLst>
          </a:prstGeom>
          <a:solidFill>
            <a:srgbClr val="00B050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eaVert" wrap="square" anchor="ctr">
            <a:spAutoFit/>
          </a:bodyPr>
          <a:lstStyle/>
          <a:p>
            <a:pPr eaLnBrk="1" hangingPunct="1">
              <a:defRPr/>
            </a:pPr>
            <a:endParaRPr lang="en-US" sz="180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106298"/>
              </p:ext>
            </p:extLst>
          </p:nvPr>
        </p:nvGraphicFramePr>
        <p:xfrm>
          <a:off x="2265629" y="4395986"/>
          <a:ext cx="5078679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1"/>
                <a:gridCol w="419346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  <a:gridCol w="461698"/>
              </a:tblGrid>
              <a:tr h="344535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smtClean="0">
                          <a:latin typeface="Book Antiqua" pitchFamily="18" charset="0"/>
                        </a:rPr>
                        <a:t>i</a:t>
                      </a:r>
                      <a:endParaRPr lang="en-US" sz="17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</a:tr>
              <a:tr h="34453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Book Antiqua" pitchFamily="18" charset="0"/>
                        </a:rPr>
                        <a:t>key</a:t>
                      </a:r>
                      <a:endParaRPr lang="en-US" sz="150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2123728" y="4341681"/>
            <a:ext cx="4824536" cy="815511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30" tIns="45715" rIns="91430" bIns="45715" anchor="ctr"/>
          <a:lstStyle/>
          <a:p>
            <a:pPr lvl="0" algn="ctr"/>
            <a:endParaRPr lang="en-US" sz="2800" dirty="0">
              <a:solidFill>
                <a:srgbClr val="000099"/>
              </a:solidFill>
              <a:latin typeface="Book Antiqua" pitchFamily="18" charset="0"/>
            </a:endParaRPr>
          </a:p>
        </p:txBody>
      </p:sp>
      <p:grpSp>
        <p:nvGrpSpPr>
          <p:cNvPr id="11" name="Group 16"/>
          <p:cNvGrpSpPr>
            <a:grpSpLocks/>
          </p:cNvGrpSpPr>
          <p:nvPr/>
        </p:nvGrpSpPr>
        <p:grpSpPr bwMode="auto">
          <a:xfrm>
            <a:off x="5225067" y="5513607"/>
            <a:ext cx="1883064" cy="692996"/>
            <a:chOff x="2561" y="1904"/>
            <a:chExt cx="1686" cy="782"/>
          </a:xfrm>
        </p:grpSpPr>
        <p:sp>
          <p:nvSpPr>
            <p:cNvPr id="12" name="AutoShape 9"/>
            <p:cNvSpPr>
              <a:spLocks noChangeArrowheads="1"/>
            </p:cNvSpPr>
            <p:nvPr/>
          </p:nvSpPr>
          <p:spPr bwMode="auto">
            <a:xfrm>
              <a:off x="2561" y="1904"/>
              <a:ext cx="1686" cy="782"/>
            </a:xfrm>
            <a:prstGeom prst="wedgeEllipseCallout">
              <a:avLst>
                <a:gd name="adj1" fmla="val -164644"/>
                <a:gd name="adj2" fmla="val -84677"/>
              </a:avLst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lIns="82479" tIns="41239" rIns="82479" bIns="41239"/>
            <a:lstStyle/>
            <a:p>
              <a:pPr algn="ctr" defTabSz="825500"/>
              <a:endParaRPr kumimoji="1" lang="en-US" sz="1600">
                <a:ea typeface="ＭＳ Ｐゴシック" pitchFamily="34" charset="-128"/>
              </a:endParaRP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2653" y="2111"/>
              <a:ext cx="1546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2479" tIns="41239" rIns="82479" bIns="41239">
              <a:spAutoFit/>
            </a:bodyPr>
            <a:lstStyle/>
            <a:p>
              <a:pPr algn="ctr" defTabSz="825500">
                <a:spcBef>
                  <a:spcPct val="50000"/>
                </a:spcBef>
              </a:pPr>
              <a:r>
                <a:rPr kumimoji="1" lang="en-US" altLang="ja-JP" dirty="0" err="1" smtClean="0">
                  <a:solidFill>
                    <a:schemeClr val="bg1"/>
                  </a:solidFill>
                  <a:latin typeface="Book Antiqua" pitchFamily="18" charset="0"/>
                </a:rPr>
                <a:t>Heapify</a:t>
              </a:r>
              <a:endParaRPr kumimoji="1" lang="en-US" altLang="ja-JP" dirty="0">
                <a:solidFill>
                  <a:schemeClr val="bg1"/>
                </a:solidFill>
                <a:latin typeface="Book Antiqua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2638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32118</TotalTime>
  <Words>1711</Words>
  <Application>Microsoft Office PowerPoint</Application>
  <PresentationFormat>On-screen Show (4:3)</PresentationFormat>
  <Paragraphs>1030</Paragraphs>
  <Slides>42</Slides>
  <Notes>41</Notes>
  <HiddenSlides>1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5" baseType="lpstr">
      <vt:lpstr>ＭＳ Ｐゴシック</vt:lpstr>
      <vt:lpstr>Arial</vt:lpstr>
      <vt:lpstr>Book Antiqua</vt:lpstr>
      <vt:lpstr>Bookman Old Style</vt:lpstr>
      <vt:lpstr>Calibri</vt:lpstr>
      <vt:lpstr>Courier New</vt:lpstr>
      <vt:lpstr>Garamond</vt:lpstr>
      <vt:lpstr>Georgia</vt:lpstr>
      <vt:lpstr>Trebuchet MS</vt:lpstr>
      <vt:lpstr>Verdana</vt:lpstr>
      <vt:lpstr>Wingdings 2</vt:lpstr>
      <vt:lpstr>Wingdings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Bayzid</dc:creator>
  <cp:lastModifiedBy>bayzid</cp:lastModifiedBy>
  <cp:revision>1692</cp:revision>
  <dcterms:created xsi:type="dcterms:W3CDTF">2010-11-23T03:59:37Z</dcterms:created>
  <dcterms:modified xsi:type="dcterms:W3CDTF">2025-12-21T13:32:42Z</dcterms:modified>
</cp:coreProperties>
</file>